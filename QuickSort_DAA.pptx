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Greet the class. Quick sort is the algorithm behind the default sort of many languages. Today: how it works, why it works, where it breaks, and how real libraries fix that. Shreyash and I split the talk: Ammey slides 1-10 (idea, partition, code, recursion), Shreyash slides 11-19 (the bug, analysis, real world).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Five parts. I take the first two and the code; Shreyash takes the bug, the analysis and the real-world 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Hook. C++ std::sort is introsort (a quick sort hybrid). Go's sort package has used pdqsort since Go 1.19. Rust's sort_unstable and Java's Arrays.sort on primitives (dual-pivot quick sort) are in the same family. Merge sort has a better worst case, so the question is real. We answer it on slide 17. History: Tony Hoare, 1959, visiting student at Moscow State University, working on machine translation (Wikipedia: Quicksort).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Both are divide and conquer: divide, conquer, combine. In merge sort, dividing is trivial and the merge is the work. In quick sort it is the opposite: the partition is the work, and once both parts are sorted nothing is left to do. This is exactly the point in the uni notes: no separate merging step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Pick a pivot v. Rearrange so everything before it is &lt;= v and everything after it is &gt;= v. Then v is exactly where it will be in the final sorted array, so it never moves again. We recurse on the two sides. Notation matches the code later: low, high and j (the pivot's final index).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This is the course version, condensed (braces removed, same logic). pivot = A[low]. i walks right until it finds something bigger than the pivot; j walks left until it finds something not bigger. If i is still left of j, swap them and continue. When they cross, j points at the last element that belongs on the left, so swapping A[low] and A[j] puts the pivot in its final place. The notes say 'exact boundary checks depend on the implementation' - we come back to that on slide 11.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Walk the rows top to bottom. Row 1: pivot is 65 (coral). i stops at 70, j stops at 45, swap. Repeat with 75/50, 80/55, 85/60. In the last row i has moved to index 5 and j to index 4, they crossed, so we swap the pivot with A[4]. Result: 60 45 50 55 | 65 | 85 80 75 70. Everything left of 65 is &lt;= 65, everything right is &gt;= 65. This matches the arrangement in the uni notes.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Same run as the previous slide, written out. Each 'swap' row is one pass of the outer while loop. The last row is the exit: i (index 5) is greater than j (index 4), so we break and swap A[0] with A[j]. The function returns j = 4. Total work: i and j together cross each element about once, so partition is linear, Theta(n).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The whole algorithm is five lines. Partition returns j. We sort A[low..j-1] and A[j+1..high]; j itself is already correct. Base case: low &gt;= high means zero or one element, already sorted. Point at the callout: there is no combine step. That is the key difference from merge sort, straight from the notes.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Same input as before. Level 0: the whole array, pivot 65 (coral = first element = pivot of that call). After partition the left part is [60 45 50 55] and the right part is [85 80 75 70]. Those two are level 1; their pivots are 60 and 85. Partitioning them gives [55 45 50] and [70 80 75] at level 2. Dashed boxes are empty parts: the pivot was the largest element, so nothing lands on its right. Every call fixes one pivot for good. Handover to Shreyash: this tree's height decides the running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The notes say exact boundary checks depend on the implementation. Here is why that matters. Take the right part from our own example, [85 80 75 70], sitting at indices 5 to 8 of the array. The pivot 85 is the largest, so 'while A[i] &lt;= pivot' is true for every element. i goes 6, 7, 8, 9 and reads A[9], which is outside the array. In C or C++ that is undefined behaviour; in Java or Python it throws. The fix is one condition: i &lt;= high. After the fix i stops at 9, j walks left to the pivot at index 5, and the final swap moves 85 to index 8 -&gt; [70 80 75 85]. If asked: the left part [60 45 50 55] does not crash only because the parent's pivot 65 happens to sit right after it and stops i. j needs no check, because it always stops at the pivot at A[low].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If the pivot always lands in the middle, each call splits n into two halves and does n work to partition. T(n) = 2T(n/2) + n, which is the same recurrence as merge sort, so by the Master theorem (a=2, b=2, f(n)=n) it is Theta(n log n). Picture: each level of the tree does n work in total, and there are log n levels (log base 2). Best case is also reached by many 'nearly balanced' splits.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If the pivot is always the smallest or largest element, one part has n-1 elements and the other is empty. T(n) = T(n-1) + n = n + (n-1) + ... + 1 = n(n-1)/2, which is Theta(n^2). The recursion is also n levels deep, so the stack can grow to O(n). Important and surprising: with the first element as pivot, an ALREADY SORTED (or reverse sorted) array triggers exactly this. Concrete number: 5,000 sorted values need 12,497,500 comparisons (5000*4999/2), while n log2 n is about 61,000. Source for the sorted-input measurement: mycplus.com quicksort article; formula n(n-1)/2 from the MPI-INF randomised algorithms notes.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For a random pivot (or random input order) the expected number of comparisons is 2 n ln n, which is about 1.39 n log2 n because 2 ln 2 = 1.386. Sources: arXiv 1608.04906 ('Quicksort is optimal for many equal keys') and the IIT Delhi randomised quicksort notes (at most 2 n ln n). The information-theoretic lower bound for comparison sorting is about n log2 n, so quick sort is only ~39% above it. Average case is NOT 'pivot is the median' - that is the best case. Even a constant 9:1 split gives O(n log n) (depth log base 10/9 of 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The analysis shows everything depends on the pivot, so the fix is a better pivot. First element: simple, what our notes use, but sorted input is its worst case. Random: expected 1.39 n log n whatever the input. Median of three (first, middle, last): about 1.19 n log n on average (figure quoted on Wikipedia and discussed on CS StackExchange). Ninther: median of three medians, used on large arrays by some libraries to get a closer-to-even split cheaply.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Read across the quick sort row: same best and average as the others, worse worst case, tiny extra memory, not stable. Extra space for quick sort is the recursion stack, O(log n) if we always recurse into the smaller part first (otherwise O(n) in the worst case). Merge sort needs an O(n) auxiliary array for arrays, but is stable. Heap sort is in place with a guaranteed n log n but is slower in practice because of poor cache behaviour.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Answer to the opening question. Introsort (C++ std::sort): quick sort, switches to heap sort when recursion depth exceeds about 2 log n, and insertion sort for ranges smaller than about 16. Pattern-defeating quick sort (pdqsort): Go's sort package since Go 1.19; Rust's sort_unstable used it and now uses a successor (ipnsort). It detects bad pivots and sorted patterns. Dual-pivot quick sort: Java's Arrays.sort for primitive arrays since Java 7. Why quick sort wins: in place, sequential memory access (cache friendly), small constant factor, and the worst case is engineered away. Python's list.sort uses Timsort instead, which is stable.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or Ammey] Recap in one breath: partition does the work and fixes a pivot; no combine step; n log n typically, n squared on bad pivots; good pivots plus hybrids make it the practical default.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for questions. Likely questions: (1) Why is quick sort not stable? See backup B2. (2) Lomuto vs Hoare? See backup B1. (3) How do we avoid the worst case? Slide 15 and 17. (4) Space complexity? O(log n) stack if we recurse into the smaller part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Lomuto: single left-to-right scan, pivot is usually the last element, simple but swaps more. Hoare: two pointers from both ends, about 3 times fewer swaps on average (Wikipedia: Quicksort). Our notes use a Hoare-style two-pointer scan but finish by swapping the pivot into A[j], so j is the pivot's final index; with the &lt;= test it also degrades to n squared when all keys are equal.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Input [3a, 3b, 1] where 3a and 3b are equal keys (a came first). Pivot is 3a. With the bounds check, i runs to index 3 (past the end), j stops at index 2 (value 1). Since i &gt; j we swap A[0] and A[2]: result [1, 3b, 3a]. The two equal keys have changed order. Swaps across long distances are what break stability. It matters when sorting records by one field after another. Use merge sort (or a library stable sort) when stability is needed.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822960" y="1828800"/>
            <a:ext cx="7863840" cy="1280160"/>
          </a:xfrm>
        </p:spPr>
        <p:txBody>
          <a:bodyPr wrap="square" lIns="0" tIns="0" rIns="0" bIns="0" anchor="ctr">
            <a:noAutofit/>
          </a:bodyPr>
          <a:lstStyle/>
          <a:p>
            <a:pPr algn="l">
              <a:lnSpc>
                <a:spcPct val="100000"/>
              </a:lnSpc>
              <a:spcBef>
                <a:spcPts val="0"/>
              </a:spcBef>
              <a:spcAft>
                <a:spcPts val="0"/>
              </a:spcAft>
            </a:pPr>
            <a:r>
              <a:rPr sz="7200" b="1" i="0">
                <a:solidFill>
                  <a:srgbClr val="22304A"/>
                </a:solidFill>
                <a:latin typeface="Georgia"/>
              </a:rPr>
              <a:t>Quick Sort</a:t>
            </a:r>
          </a:p>
        </p:txBody>
      </p:sp>
      <p:sp>
        <p:nvSpPr>
          <p:cNvPr id="3" name="Freeform 2"/>
          <p:cNvSpPr/>
          <p:nvPr/>
        </p:nvSpPr>
        <p:spPr>
          <a:xfrm>
            <a:off x="8991295" y="0"/>
            <a:ext cx="3200400" cy="3200400"/>
          </a:xfrm>
          <a:custGeom>
            <a:avLst/>
            <a:gdLst/>
            <a:ahLst/>
            <a:cxnLst/>
            <a:rect l="l" t="t" r="r" b="b"/>
            <a:pathLst>
              <a:path w="3200400" h="3200400">
                <a:moveTo>
                  <a:pt x="0" y="0"/>
                </a:moveTo>
                <a:lnTo>
                  <a:pt x="761" y="69816"/>
                </a:lnTo>
                <a:lnTo>
                  <a:pt x="3046" y="139599"/>
                </a:lnTo>
                <a:lnTo>
                  <a:pt x="6852" y="209316"/>
                </a:lnTo>
                <a:lnTo>
                  <a:pt x="12178" y="278933"/>
                </a:lnTo>
                <a:lnTo>
                  <a:pt x="19022" y="348417"/>
                </a:lnTo>
                <a:lnTo>
                  <a:pt x="27380" y="417736"/>
                </a:lnTo>
                <a:lnTo>
                  <a:pt x="37248" y="486855"/>
                </a:lnTo>
                <a:lnTo>
                  <a:pt x="48621" y="555743"/>
                </a:lnTo>
                <a:lnTo>
                  <a:pt x="61494" y="624367"/>
                </a:lnTo>
                <a:lnTo>
                  <a:pt x="75862" y="692693"/>
                </a:lnTo>
                <a:lnTo>
                  <a:pt x="91717" y="760689"/>
                </a:lnTo>
                <a:lnTo>
                  <a:pt x="109051" y="828324"/>
                </a:lnTo>
                <a:lnTo>
                  <a:pt x="127856" y="895564"/>
                </a:lnTo>
                <a:lnTo>
                  <a:pt x="148124" y="962378"/>
                </a:lnTo>
                <a:lnTo>
                  <a:pt x="169845" y="1028734"/>
                </a:lnTo>
                <a:lnTo>
                  <a:pt x="193007" y="1094601"/>
                </a:lnTo>
                <a:lnTo>
                  <a:pt x="217602" y="1159946"/>
                </a:lnTo>
                <a:lnTo>
                  <a:pt x="243616" y="1224740"/>
                </a:lnTo>
                <a:lnTo>
                  <a:pt x="271037" y="1288950"/>
                </a:lnTo>
                <a:lnTo>
                  <a:pt x="299852" y="1352547"/>
                </a:lnTo>
                <a:lnTo>
                  <a:pt x="330048" y="1415500"/>
                </a:lnTo>
                <a:lnTo>
                  <a:pt x="361610" y="1477780"/>
                </a:lnTo>
                <a:lnTo>
                  <a:pt x="394523" y="1539356"/>
                </a:lnTo>
                <a:lnTo>
                  <a:pt x="428772" y="1600199"/>
                </a:lnTo>
                <a:lnTo>
                  <a:pt x="464340" y="1660281"/>
                </a:lnTo>
                <a:lnTo>
                  <a:pt x="501210" y="1719573"/>
                </a:lnTo>
                <a:lnTo>
                  <a:pt x="539364" y="1778046"/>
                </a:lnTo>
                <a:lnTo>
                  <a:pt x="578785" y="1835674"/>
                </a:lnTo>
                <a:lnTo>
                  <a:pt x="619454" y="1892427"/>
                </a:lnTo>
                <a:lnTo>
                  <a:pt x="661352" y="1948280"/>
                </a:lnTo>
                <a:lnTo>
                  <a:pt x="704457" y="2003205"/>
                </a:lnTo>
                <a:lnTo>
                  <a:pt x="748751" y="2057177"/>
                </a:lnTo>
                <a:lnTo>
                  <a:pt x="794212" y="2110170"/>
                </a:lnTo>
                <a:lnTo>
                  <a:pt x="840817" y="2162158"/>
                </a:lnTo>
                <a:lnTo>
                  <a:pt x="888546" y="2213118"/>
                </a:lnTo>
                <a:lnTo>
                  <a:pt x="937375" y="2263024"/>
                </a:lnTo>
                <a:lnTo>
                  <a:pt x="987281" y="2311853"/>
                </a:lnTo>
                <a:lnTo>
                  <a:pt x="1038241" y="2359582"/>
                </a:lnTo>
                <a:lnTo>
                  <a:pt x="1090229" y="2406188"/>
                </a:lnTo>
                <a:lnTo>
                  <a:pt x="1143222" y="2451648"/>
                </a:lnTo>
                <a:lnTo>
                  <a:pt x="1197194" y="2495942"/>
                </a:lnTo>
                <a:lnTo>
                  <a:pt x="1252120" y="2539048"/>
                </a:lnTo>
                <a:lnTo>
                  <a:pt x="1307972" y="2580945"/>
                </a:lnTo>
                <a:lnTo>
                  <a:pt x="1364726" y="2621614"/>
                </a:lnTo>
                <a:lnTo>
                  <a:pt x="1422353" y="2661035"/>
                </a:lnTo>
                <a:lnTo>
                  <a:pt x="1480826" y="2699189"/>
                </a:lnTo>
                <a:lnTo>
                  <a:pt x="1540118" y="2736059"/>
                </a:lnTo>
                <a:lnTo>
                  <a:pt x="1600200" y="2771627"/>
                </a:lnTo>
                <a:lnTo>
                  <a:pt x="1661043" y="2805876"/>
                </a:lnTo>
                <a:lnTo>
                  <a:pt x="1722619" y="2838789"/>
                </a:lnTo>
                <a:lnTo>
                  <a:pt x="1784899" y="2870351"/>
                </a:lnTo>
                <a:lnTo>
                  <a:pt x="1847852" y="2900547"/>
                </a:lnTo>
                <a:lnTo>
                  <a:pt x="1911449" y="2929362"/>
                </a:lnTo>
                <a:lnTo>
                  <a:pt x="1975660" y="2956784"/>
                </a:lnTo>
                <a:lnTo>
                  <a:pt x="2040453" y="2982797"/>
                </a:lnTo>
                <a:lnTo>
                  <a:pt x="2105798" y="3007392"/>
                </a:lnTo>
                <a:lnTo>
                  <a:pt x="2171665" y="3030555"/>
                </a:lnTo>
                <a:lnTo>
                  <a:pt x="2238021" y="3052275"/>
                </a:lnTo>
                <a:lnTo>
                  <a:pt x="2304835" y="3072543"/>
                </a:lnTo>
                <a:lnTo>
                  <a:pt x="2372075" y="3091349"/>
                </a:lnTo>
                <a:lnTo>
                  <a:pt x="2439710" y="3108683"/>
                </a:lnTo>
                <a:lnTo>
                  <a:pt x="2507706" y="3124537"/>
                </a:lnTo>
                <a:lnTo>
                  <a:pt x="2576033" y="3138905"/>
                </a:lnTo>
                <a:lnTo>
                  <a:pt x="2644656" y="3151778"/>
                </a:lnTo>
                <a:lnTo>
                  <a:pt x="2713544" y="3163152"/>
                </a:lnTo>
                <a:lnTo>
                  <a:pt x="2782664" y="3173020"/>
                </a:lnTo>
                <a:lnTo>
                  <a:pt x="2851982" y="3181377"/>
                </a:lnTo>
                <a:lnTo>
                  <a:pt x="2921466" y="3188221"/>
                </a:lnTo>
                <a:lnTo>
                  <a:pt x="2991084" y="3193547"/>
                </a:lnTo>
                <a:lnTo>
                  <a:pt x="3060800" y="3197353"/>
                </a:lnTo>
                <a:lnTo>
                  <a:pt x="3130583" y="3199638"/>
                </a:lnTo>
                <a:lnTo>
                  <a:pt x="3200400" y="3200400"/>
                </a:lnTo>
                <a:lnTo>
                  <a:pt x="3200400" y="0"/>
                </a:lnTo>
                <a:close/>
              </a:path>
            </a:pathLst>
          </a:custGeom>
          <a:solidFill>
            <a:srgbClr val="BCD8F1"/>
          </a:solidFill>
          <a:ln>
            <a:noFill/>
          </a:ln>
        </p:spPr>
        <p:txBody>
          <a:bodyPr rtlCol="0" anchor="ctr"/>
          <a:lstStyle/>
          <a:p>
            <a:pPr algn="ctr"/>
          </a:p>
        </p:txBody>
      </p:sp>
      <p:sp>
        <p:nvSpPr>
          <p:cNvPr id="4" name="Freeform 3"/>
          <p:cNvSpPr/>
          <p:nvPr/>
        </p:nvSpPr>
        <p:spPr>
          <a:xfrm>
            <a:off x="10088575" y="0"/>
            <a:ext cx="2103120" cy="2103120"/>
          </a:xfrm>
          <a:custGeom>
            <a:avLst/>
            <a:gdLst/>
            <a:ahLst/>
            <a:cxnLst/>
            <a:rect l="l" t="t" r="r" b="b"/>
            <a:pathLst>
              <a:path w="2103120" h="2103120">
                <a:moveTo>
                  <a:pt x="0" y="0"/>
                </a:moveTo>
                <a:lnTo>
                  <a:pt x="500" y="45879"/>
                </a:lnTo>
                <a:lnTo>
                  <a:pt x="2001" y="91736"/>
                </a:lnTo>
                <a:lnTo>
                  <a:pt x="4503" y="137550"/>
                </a:lnTo>
                <a:lnTo>
                  <a:pt x="8003" y="183298"/>
                </a:lnTo>
                <a:lnTo>
                  <a:pt x="12500" y="228960"/>
                </a:lnTo>
                <a:lnTo>
                  <a:pt x="17992" y="274512"/>
                </a:lnTo>
                <a:lnTo>
                  <a:pt x="24477" y="319933"/>
                </a:lnTo>
                <a:lnTo>
                  <a:pt x="31951" y="365202"/>
                </a:lnTo>
                <a:lnTo>
                  <a:pt x="40411" y="410298"/>
                </a:lnTo>
                <a:lnTo>
                  <a:pt x="49852" y="455198"/>
                </a:lnTo>
                <a:lnTo>
                  <a:pt x="60271" y="499881"/>
                </a:lnTo>
                <a:lnTo>
                  <a:pt x="71662" y="544327"/>
                </a:lnTo>
                <a:lnTo>
                  <a:pt x="84020" y="588513"/>
                </a:lnTo>
                <a:lnTo>
                  <a:pt x="97339" y="632420"/>
                </a:lnTo>
                <a:lnTo>
                  <a:pt x="111612" y="676025"/>
                </a:lnTo>
                <a:lnTo>
                  <a:pt x="126833" y="719309"/>
                </a:lnTo>
                <a:lnTo>
                  <a:pt x="142995" y="762250"/>
                </a:lnTo>
                <a:lnTo>
                  <a:pt x="160090" y="804829"/>
                </a:lnTo>
                <a:lnTo>
                  <a:pt x="178110" y="847024"/>
                </a:lnTo>
                <a:lnTo>
                  <a:pt x="197046" y="888816"/>
                </a:lnTo>
                <a:lnTo>
                  <a:pt x="216889" y="930186"/>
                </a:lnTo>
                <a:lnTo>
                  <a:pt x="237629" y="971112"/>
                </a:lnTo>
                <a:lnTo>
                  <a:pt x="259258" y="1011577"/>
                </a:lnTo>
                <a:lnTo>
                  <a:pt x="281764" y="1051559"/>
                </a:lnTo>
                <a:lnTo>
                  <a:pt x="305137" y="1091042"/>
                </a:lnTo>
                <a:lnTo>
                  <a:pt x="329366" y="1130005"/>
                </a:lnTo>
                <a:lnTo>
                  <a:pt x="354439" y="1168430"/>
                </a:lnTo>
                <a:lnTo>
                  <a:pt x="380345" y="1206300"/>
                </a:lnTo>
                <a:lnTo>
                  <a:pt x="407070" y="1243595"/>
                </a:lnTo>
                <a:lnTo>
                  <a:pt x="434602" y="1280298"/>
                </a:lnTo>
                <a:lnTo>
                  <a:pt x="462929" y="1316392"/>
                </a:lnTo>
                <a:lnTo>
                  <a:pt x="492036" y="1351859"/>
                </a:lnTo>
                <a:lnTo>
                  <a:pt x="521910" y="1386683"/>
                </a:lnTo>
                <a:lnTo>
                  <a:pt x="552537" y="1420847"/>
                </a:lnTo>
                <a:lnTo>
                  <a:pt x="583902" y="1454334"/>
                </a:lnTo>
                <a:lnTo>
                  <a:pt x="615989" y="1487130"/>
                </a:lnTo>
                <a:lnTo>
                  <a:pt x="648785" y="1519218"/>
                </a:lnTo>
                <a:lnTo>
                  <a:pt x="682272" y="1550582"/>
                </a:lnTo>
                <a:lnTo>
                  <a:pt x="716436" y="1581209"/>
                </a:lnTo>
                <a:lnTo>
                  <a:pt x="751260" y="1611083"/>
                </a:lnTo>
                <a:lnTo>
                  <a:pt x="786728" y="1640190"/>
                </a:lnTo>
                <a:lnTo>
                  <a:pt x="822821" y="1668517"/>
                </a:lnTo>
                <a:lnTo>
                  <a:pt x="859525" y="1696049"/>
                </a:lnTo>
                <a:lnTo>
                  <a:pt x="896820" y="1722775"/>
                </a:lnTo>
                <a:lnTo>
                  <a:pt x="934689" y="1748680"/>
                </a:lnTo>
                <a:lnTo>
                  <a:pt x="973114" y="1773753"/>
                </a:lnTo>
                <a:lnTo>
                  <a:pt x="1012077" y="1797982"/>
                </a:lnTo>
                <a:lnTo>
                  <a:pt x="1051560" y="1821355"/>
                </a:lnTo>
                <a:lnTo>
                  <a:pt x="1091543" y="1843861"/>
                </a:lnTo>
                <a:lnTo>
                  <a:pt x="1132007" y="1865490"/>
                </a:lnTo>
                <a:lnTo>
                  <a:pt x="1172934" y="1886231"/>
                </a:lnTo>
                <a:lnTo>
                  <a:pt x="1214303" y="1906074"/>
                </a:lnTo>
                <a:lnTo>
                  <a:pt x="1256095" y="1925009"/>
                </a:lnTo>
                <a:lnTo>
                  <a:pt x="1298291" y="1943029"/>
                </a:lnTo>
                <a:lnTo>
                  <a:pt x="1340869" y="1960124"/>
                </a:lnTo>
                <a:lnTo>
                  <a:pt x="1383810" y="1976286"/>
                </a:lnTo>
                <a:lnTo>
                  <a:pt x="1427094" y="1991507"/>
                </a:lnTo>
                <a:lnTo>
                  <a:pt x="1470699" y="2005781"/>
                </a:lnTo>
                <a:lnTo>
                  <a:pt x="1514606" y="2019100"/>
                </a:lnTo>
                <a:lnTo>
                  <a:pt x="1558792" y="2031457"/>
                </a:lnTo>
                <a:lnTo>
                  <a:pt x="1603238" y="2042848"/>
                </a:lnTo>
                <a:lnTo>
                  <a:pt x="1647921" y="2053267"/>
                </a:lnTo>
                <a:lnTo>
                  <a:pt x="1692821" y="2062709"/>
                </a:lnTo>
                <a:lnTo>
                  <a:pt x="1737917" y="2071168"/>
                </a:lnTo>
                <a:lnTo>
                  <a:pt x="1783186" y="2078642"/>
                </a:lnTo>
                <a:lnTo>
                  <a:pt x="1828607" y="2085127"/>
                </a:lnTo>
                <a:lnTo>
                  <a:pt x="1874160" y="2090619"/>
                </a:lnTo>
                <a:lnTo>
                  <a:pt x="1919821" y="2095116"/>
                </a:lnTo>
                <a:lnTo>
                  <a:pt x="1965569" y="2098617"/>
                </a:lnTo>
                <a:lnTo>
                  <a:pt x="2011383" y="2101118"/>
                </a:lnTo>
                <a:lnTo>
                  <a:pt x="2057240" y="2102619"/>
                </a:lnTo>
                <a:lnTo>
                  <a:pt x="2103120" y="2103120"/>
                </a:lnTo>
                <a:lnTo>
                  <a:pt x="2103120" y="0"/>
                </a:lnTo>
                <a:close/>
              </a:path>
            </a:pathLst>
          </a:custGeom>
          <a:solidFill>
            <a:srgbClr val="4F8FCB"/>
          </a:solidFill>
          <a:ln>
            <a:noFill/>
          </a:ln>
        </p:spPr>
        <p:txBody>
          <a:bodyPr rtlCol="0" anchor="ctr"/>
          <a:lstStyle/>
          <a:p>
            <a:pPr algn="ctr"/>
          </a:p>
        </p:txBody>
      </p:sp>
      <p:sp>
        <p:nvSpPr>
          <p:cNvPr id="5" name="Freeform 4"/>
          <p:cNvSpPr/>
          <p:nvPr/>
        </p:nvSpPr>
        <p:spPr>
          <a:xfrm>
            <a:off x="11277295" y="0"/>
            <a:ext cx="914400" cy="914400"/>
          </a:xfrm>
          <a:custGeom>
            <a:avLst/>
            <a:gdLst/>
            <a:ahLst/>
            <a:cxnLst/>
            <a:rect l="l" t="t" r="r" b="b"/>
            <a:pathLst>
              <a:path w="914400" h="914400">
                <a:moveTo>
                  <a:pt x="0" y="0"/>
                </a:moveTo>
                <a:lnTo>
                  <a:pt x="217" y="19947"/>
                </a:lnTo>
                <a:lnTo>
                  <a:pt x="870" y="39885"/>
                </a:lnTo>
                <a:lnTo>
                  <a:pt x="1958" y="59804"/>
                </a:lnTo>
                <a:lnTo>
                  <a:pt x="3479" y="79695"/>
                </a:lnTo>
                <a:lnTo>
                  <a:pt x="5435" y="99547"/>
                </a:lnTo>
                <a:lnTo>
                  <a:pt x="7823" y="119353"/>
                </a:lnTo>
                <a:lnTo>
                  <a:pt x="10642" y="139101"/>
                </a:lnTo>
                <a:lnTo>
                  <a:pt x="13891" y="158783"/>
                </a:lnTo>
                <a:lnTo>
                  <a:pt x="17570" y="178390"/>
                </a:lnTo>
                <a:lnTo>
                  <a:pt x="21675" y="197912"/>
                </a:lnTo>
                <a:lnTo>
                  <a:pt x="26205" y="217339"/>
                </a:lnTo>
                <a:lnTo>
                  <a:pt x="31157" y="236664"/>
                </a:lnTo>
                <a:lnTo>
                  <a:pt x="36530" y="255875"/>
                </a:lnTo>
                <a:lnTo>
                  <a:pt x="42321" y="274965"/>
                </a:lnTo>
                <a:lnTo>
                  <a:pt x="48527" y="293924"/>
                </a:lnTo>
                <a:lnTo>
                  <a:pt x="55145" y="312743"/>
                </a:lnTo>
                <a:lnTo>
                  <a:pt x="62172" y="331413"/>
                </a:lnTo>
                <a:lnTo>
                  <a:pt x="69604" y="349925"/>
                </a:lnTo>
                <a:lnTo>
                  <a:pt x="77439" y="368271"/>
                </a:lnTo>
                <a:lnTo>
                  <a:pt x="85672" y="386442"/>
                </a:lnTo>
                <a:lnTo>
                  <a:pt x="94299" y="404428"/>
                </a:lnTo>
                <a:lnTo>
                  <a:pt x="103317" y="422222"/>
                </a:lnTo>
                <a:lnTo>
                  <a:pt x="112721" y="439816"/>
                </a:lnTo>
                <a:lnTo>
                  <a:pt x="122506" y="457199"/>
                </a:lnTo>
                <a:lnTo>
                  <a:pt x="132668" y="474366"/>
                </a:lnTo>
                <a:lnTo>
                  <a:pt x="143203" y="491306"/>
                </a:lnTo>
                <a:lnTo>
                  <a:pt x="154104" y="508013"/>
                </a:lnTo>
                <a:lnTo>
                  <a:pt x="165367" y="524478"/>
                </a:lnTo>
                <a:lnTo>
                  <a:pt x="176987" y="540693"/>
                </a:lnTo>
                <a:lnTo>
                  <a:pt x="188957" y="556651"/>
                </a:lnTo>
                <a:lnTo>
                  <a:pt x="201273" y="572344"/>
                </a:lnTo>
                <a:lnTo>
                  <a:pt x="213929" y="587764"/>
                </a:lnTo>
                <a:lnTo>
                  <a:pt x="226917" y="602905"/>
                </a:lnTo>
                <a:lnTo>
                  <a:pt x="240233" y="617759"/>
                </a:lnTo>
                <a:lnTo>
                  <a:pt x="253870" y="632319"/>
                </a:lnTo>
                <a:lnTo>
                  <a:pt x="267821" y="646578"/>
                </a:lnTo>
                <a:lnTo>
                  <a:pt x="282080" y="660529"/>
                </a:lnTo>
                <a:lnTo>
                  <a:pt x="296640" y="674166"/>
                </a:lnTo>
                <a:lnTo>
                  <a:pt x="311494" y="687482"/>
                </a:lnTo>
                <a:lnTo>
                  <a:pt x="326635" y="700471"/>
                </a:lnTo>
                <a:lnTo>
                  <a:pt x="342055" y="713126"/>
                </a:lnTo>
                <a:lnTo>
                  <a:pt x="357748" y="725442"/>
                </a:lnTo>
                <a:lnTo>
                  <a:pt x="373706" y="737412"/>
                </a:lnTo>
                <a:lnTo>
                  <a:pt x="389921" y="749032"/>
                </a:lnTo>
                <a:lnTo>
                  <a:pt x="406386" y="760295"/>
                </a:lnTo>
                <a:lnTo>
                  <a:pt x="423093" y="771197"/>
                </a:lnTo>
                <a:lnTo>
                  <a:pt x="440033" y="781731"/>
                </a:lnTo>
                <a:lnTo>
                  <a:pt x="457200" y="791893"/>
                </a:lnTo>
                <a:lnTo>
                  <a:pt x="474584" y="801678"/>
                </a:lnTo>
                <a:lnTo>
                  <a:pt x="492177" y="811082"/>
                </a:lnTo>
                <a:lnTo>
                  <a:pt x="509971" y="820100"/>
                </a:lnTo>
                <a:lnTo>
                  <a:pt x="527958" y="828727"/>
                </a:lnTo>
                <a:lnTo>
                  <a:pt x="546128" y="836960"/>
                </a:lnTo>
                <a:lnTo>
                  <a:pt x="564474" y="844795"/>
                </a:lnTo>
                <a:lnTo>
                  <a:pt x="582986" y="852227"/>
                </a:lnTo>
                <a:lnTo>
                  <a:pt x="601656" y="859254"/>
                </a:lnTo>
                <a:lnTo>
                  <a:pt x="620475" y="865872"/>
                </a:lnTo>
                <a:lnTo>
                  <a:pt x="639434" y="872078"/>
                </a:lnTo>
                <a:lnTo>
                  <a:pt x="658524" y="877869"/>
                </a:lnTo>
                <a:lnTo>
                  <a:pt x="677736" y="883242"/>
                </a:lnTo>
                <a:lnTo>
                  <a:pt x="697060" y="888195"/>
                </a:lnTo>
                <a:lnTo>
                  <a:pt x="716487" y="892725"/>
                </a:lnTo>
                <a:lnTo>
                  <a:pt x="736009" y="896830"/>
                </a:lnTo>
                <a:lnTo>
                  <a:pt x="755616" y="900508"/>
                </a:lnTo>
                <a:lnTo>
                  <a:pt x="775298" y="903757"/>
                </a:lnTo>
                <a:lnTo>
                  <a:pt x="795047" y="906577"/>
                </a:lnTo>
                <a:lnTo>
                  <a:pt x="814852" y="908965"/>
                </a:lnTo>
                <a:lnTo>
                  <a:pt x="834704" y="910920"/>
                </a:lnTo>
                <a:lnTo>
                  <a:pt x="854595" y="912442"/>
                </a:lnTo>
                <a:lnTo>
                  <a:pt x="874514" y="913529"/>
                </a:lnTo>
                <a:lnTo>
                  <a:pt x="894452" y="914182"/>
                </a:lnTo>
                <a:lnTo>
                  <a:pt x="914400" y="914400"/>
                </a:lnTo>
                <a:lnTo>
                  <a:pt x="914400" y="0"/>
                </a:lnTo>
                <a:close/>
              </a:path>
            </a:pathLst>
          </a:custGeom>
          <a:solidFill>
            <a:srgbClr val="F3A08A"/>
          </a:solidFill>
          <a:ln>
            <a:noFill/>
          </a:ln>
        </p:spPr>
        <p:txBody>
          <a:bodyPr rtlCol="0" anchor="ctr"/>
          <a:lstStyle/>
          <a:p>
            <a:pPr algn="ctr"/>
          </a:p>
        </p:txBody>
      </p:sp>
      <p:sp>
        <p:nvSpPr>
          <p:cNvPr id="6" name="Freeform 5"/>
          <p:cNvSpPr/>
          <p:nvPr/>
        </p:nvSpPr>
        <p:spPr>
          <a:xfrm>
            <a:off x="0" y="5303520"/>
            <a:ext cx="1554480" cy="1554480"/>
          </a:xfrm>
          <a:custGeom>
            <a:avLst/>
            <a:gdLst/>
            <a:ahLst/>
            <a:cxnLst/>
            <a:rect l="l" t="t" r="r" b="b"/>
            <a:pathLst>
              <a:path w="1554480" h="1554480">
                <a:moveTo>
                  <a:pt x="1554480" y="1554480"/>
                </a:moveTo>
                <a:lnTo>
                  <a:pt x="1554110" y="1520569"/>
                </a:lnTo>
                <a:lnTo>
                  <a:pt x="1553000" y="1486674"/>
                </a:lnTo>
                <a:lnTo>
                  <a:pt x="1551151" y="1452812"/>
                </a:lnTo>
                <a:lnTo>
                  <a:pt x="1548564" y="1418998"/>
                </a:lnTo>
                <a:lnTo>
                  <a:pt x="1545240" y="1385248"/>
                </a:lnTo>
                <a:lnTo>
                  <a:pt x="1541181" y="1351579"/>
                </a:lnTo>
                <a:lnTo>
                  <a:pt x="1536388" y="1318007"/>
                </a:lnTo>
                <a:lnTo>
                  <a:pt x="1530863" y="1284547"/>
                </a:lnTo>
                <a:lnTo>
                  <a:pt x="1524611" y="1251215"/>
                </a:lnTo>
                <a:lnTo>
                  <a:pt x="1517632" y="1218028"/>
                </a:lnTo>
                <a:lnTo>
                  <a:pt x="1509931" y="1185002"/>
                </a:lnTo>
                <a:lnTo>
                  <a:pt x="1501512" y="1152150"/>
                </a:lnTo>
                <a:lnTo>
                  <a:pt x="1492378" y="1119491"/>
                </a:lnTo>
                <a:lnTo>
                  <a:pt x="1482533" y="1087038"/>
                </a:lnTo>
                <a:lnTo>
                  <a:pt x="1471983" y="1054808"/>
                </a:lnTo>
                <a:lnTo>
                  <a:pt x="1460733" y="1022816"/>
                </a:lnTo>
                <a:lnTo>
                  <a:pt x="1448787" y="991077"/>
                </a:lnTo>
                <a:lnTo>
                  <a:pt x="1436152" y="959606"/>
                </a:lnTo>
                <a:lnTo>
                  <a:pt x="1422833" y="928418"/>
                </a:lnTo>
                <a:lnTo>
                  <a:pt x="1408837" y="897528"/>
                </a:lnTo>
                <a:lnTo>
                  <a:pt x="1394170" y="866951"/>
                </a:lnTo>
                <a:lnTo>
                  <a:pt x="1378840" y="836701"/>
                </a:lnTo>
                <a:lnTo>
                  <a:pt x="1362854" y="806792"/>
                </a:lnTo>
                <a:lnTo>
                  <a:pt x="1346219" y="777240"/>
                </a:lnTo>
                <a:lnTo>
                  <a:pt x="1328943" y="748057"/>
                </a:lnTo>
                <a:lnTo>
                  <a:pt x="1311035" y="719258"/>
                </a:lnTo>
                <a:lnTo>
                  <a:pt x="1292502" y="690857"/>
                </a:lnTo>
                <a:lnTo>
                  <a:pt x="1273355" y="662866"/>
                </a:lnTo>
                <a:lnTo>
                  <a:pt x="1253602" y="635300"/>
                </a:lnTo>
                <a:lnTo>
                  <a:pt x="1233251" y="608172"/>
                </a:lnTo>
                <a:lnTo>
                  <a:pt x="1212314" y="581494"/>
                </a:lnTo>
                <a:lnTo>
                  <a:pt x="1190800" y="555279"/>
                </a:lnTo>
                <a:lnTo>
                  <a:pt x="1168719" y="529540"/>
                </a:lnTo>
                <a:lnTo>
                  <a:pt x="1146082" y="504288"/>
                </a:lnTo>
                <a:lnTo>
                  <a:pt x="1122900" y="479536"/>
                </a:lnTo>
                <a:lnTo>
                  <a:pt x="1099183" y="455296"/>
                </a:lnTo>
                <a:lnTo>
                  <a:pt x="1074943" y="431579"/>
                </a:lnTo>
                <a:lnTo>
                  <a:pt x="1050191" y="408397"/>
                </a:lnTo>
                <a:lnTo>
                  <a:pt x="1024939" y="385760"/>
                </a:lnTo>
                <a:lnTo>
                  <a:pt x="999200" y="363679"/>
                </a:lnTo>
                <a:lnTo>
                  <a:pt x="972985" y="342165"/>
                </a:lnTo>
                <a:lnTo>
                  <a:pt x="946307" y="321228"/>
                </a:lnTo>
                <a:lnTo>
                  <a:pt x="919179" y="300877"/>
                </a:lnTo>
                <a:lnTo>
                  <a:pt x="891613" y="281124"/>
                </a:lnTo>
                <a:lnTo>
                  <a:pt x="863622" y="261977"/>
                </a:lnTo>
                <a:lnTo>
                  <a:pt x="835221" y="243444"/>
                </a:lnTo>
                <a:lnTo>
                  <a:pt x="806422" y="225536"/>
                </a:lnTo>
                <a:lnTo>
                  <a:pt x="777240" y="208260"/>
                </a:lnTo>
                <a:lnTo>
                  <a:pt x="747687" y="191625"/>
                </a:lnTo>
                <a:lnTo>
                  <a:pt x="717778" y="175639"/>
                </a:lnTo>
                <a:lnTo>
                  <a:pt x="687528" y="160309"/>
                </a:lnTo>
                <a:lnTo>
                  <a:pt x="656951" y="145642"/>
                </a:lnTo>
                <a:lnTo>
                  <a:pt x="626061" y="131646"/>
                </a:lnTo>
                <a:lnTo>
                  <a:pt x="594873" y="118327"/>
                </a:lnTo>
                <a:lnTo>
                  <a:pt x="563402" y="105692"/>
                </a:lnTo>
                <a:lnTo>
                  <a:pt x="531663" y="93746"/>
                </a:lnTo>
                <a:lnTo>
                  <a:pt x="499671" y="82496"/>
                </a:lnTo>
                <a:lnTo>
                  <a:pt x="467441" y="71946"/>
                </a:lnTo>
                <a:lnTo>
                  <a:pt x="434988" y="62101"/>
                </a:lnTo>
                <a:lnTo>
                  <a:pt x="402329" y="52967"/>
                </a:lnTo>
                <a:lnTo>
                  <a:pt x="369477" y="44548"/>
                </a:lnTo>
                <a:lnTo>
                  <a:pt x="336451" y="36847"/>
                </a:lnTo>
                <a:lnTo>
                  <a:pt x="303264" y="29868"/>
                </a:lnTo>
                <a:lnTo>
                  <a:pt x="269932" y="23616"/>
                </a:lnTo>
                <a:lnTo>
                  <a:pt x="236472" y="18091"/>
                </a:lnTo>
                <a:lnTo>
                  <a:pt x="202900" y="13298"/>
                </a:lnTo>
                <a:lnTo>
                  <a:pt x="169231" y="9239"/>
                </a:lnTo>
                <a:lnTo>
                  <a:pt x="135481" y="5915"/>
                </a:lnTo>
                <a:lnTo>
                  <a:pt x="101667" y="3328"/>
                </a:lnTo>
                <a:lnTo>
                  <a:pt x="67805" y="1479"/>
                </a:lnTo>
                <a:lnTo>
                  <a:pt x="33910" y="369"/>
                </a:lnTo>
                <a:lnTo>
                  <a:pt x="0" y="0"/>
                </a:lnTo>
                <a:lnTo>
                  <a:pt x="0" y="1554480"/>
                </a:lnTo>
                <a:close/>
              </a:path>
            </a:pathLst>
          </a:custGeom>
          <a:solidFill>
            <a:srgbClr val="FBE3DB"/>
          </a:solidFill>
          <a:ln>
            <a:noFill/>
          </a:ln>
        </p:spPr>
        <p:txBody>
          <a:bodyPr rtlCol="0" anchor="ctr"/>
          <a:lstStyle/>
          <a:p>
            <a:pPr algn="ctr"/>
          </a:p>
        </p:txBody>
      </p:sp>
      <p:sp>
        <p:nvSpPr>
          <p:cNvPr id="7" name="Freeform 6"/>
          <p:cNvSpPr/>
          <p:nvPr/>
        </p:nvSpPr>
        <p:spPr>
          <a:xfrm>
            <a:off x="0" y="5943600"/>
            <a:ext cx="914400" cy="914400"/>
          </a:xfrm>
          <a:custGeom>
            <a:avLst/>
            <a:gdLst/>
            <a:ahLst/>
            <a:cxnLst/>
            <a:rect l="l" t="t" r="r" b="b"/>
            <a:pathLst>
              <a:path w="914400" h="914400">
                <a:moveTo>
                  <a:pt x="914400" y="914400"/>
                </a:moveTo>
                <a:lnTo>
                  <a:pt x="914182" y="894452"/>
                </a:lnTo>
                <a:lnTo>
                  <a:pt x="913529" y="874514"/>
                </a:lnTo>
                <a:lnTo>
                  <a:pt x="912442" y="854595"/>
                </a:lnTo>
                <a:lnTo>
                  <a:pt x="910920" y="834704"/>
                </a:lnTo>
                <a:lnTo>
                  <a:pt x="908965" y="814852"/>
                </a:lnTo>
                <a:lnTo>
                  <a:pt x="906577" y="795046"/>
                </a:lnTo>
                <a:lnTo>
                  <a:pt x="903757" y="775298"/>
                </a:lnTo>
                <a:lnTo>
                  <a:pt x="900508" y="755616"/>
                </a:lnTo>
                <a:lnTo>
                  <a:pt x="896830" y="736009"/>
                </a:lnTo>
                <a:lnTo>
                  <a:pt x="892725" y="716487"/>
                </a:lnTo>
                <a:lnTo>
                  <a:pt x="888195" y="697060"/>
                </a:lnTo>
                <a:lnTo>
                  <a:pt x="883242" y="677735"/>
                </a:lnTo>
                <a:lnTo>
                  <a:pt x="877869" y="658524"/>
                </a:lnTo>
                <a:lnTo>
                  <a:pt x="872078" y="639434"/>
                </a:lnTo>
                <a:lnTo>
                  <a:pt x="865872" y="620475"/>
                </a:lnTo>
                <a:lnTo>
                  <a:pt x="859254" y="601656"/>
                </a:lnTo>
                <a:lnTo>
                  <a:pt x="852227" y="582986"/>
                </a:lnTo>
                <a:lnTo>
                  <a:pt x="844795" y="564474"/>
                </a:lnTo>
                <a:lnTo>
                  <a:pt x="836960" y="546128"/>
                </a:lnTo>
                <a:lnTo>
                  <a:pt x="828727" y="527957"/>
                </a:lnTo>
                <a:lnTo>
                  <a:pt x="820100" y="509971"/>
                </a:lnTo>
                <a:lnTo>
                  <a:pt x="811082" y="492177"/>
                </a:lnTo>
                <a:lnTo>
                  <a:pt x="801678" y="474583"/>
                </a:lnTo>
                <a:lnTo>
                  <a:pt x="791893" y="457200"/>
                </a:lnTo>
                <a:lnTo>
                  <a:pt x="781731" y="440033"/>
                </a:lnTo>
                <a:lnTo>
                  <a:pt x="771197" y="423093"/>
                </a:lnTo>
                <a:lnTo>
                  <a:pt x="760295" y="406386"/>
                </a:lnTo>
                <a:lnTo>
                  <a:pt x="749032" y="389921"/>
                </a:lnTo>
                <a:lnTo>
                  <a:pt x="737412" y="373706"/>
                </a:lnTo>
                <a:lnTo>
                  <a:pt x="725442" y="357748"/>
                </a:lnTo>
                <a:lnTo>
                  <a:pt x="713126" y="342055"/>
                </a:lnTo>
                <a:lnTo>
                  <a:pt x="700471" y="326635"/>
                </a:lnTo>
                <a:lnTo>
                  <a:pt x="687482" y="311494"/>
                </a:lnTo>
                <a:lnTo>
                  <a:pt x="674166" y="296640"/>
                </a:lnTo>
                <a:lnTo>
                  <a:pt x="660529" y="282080"/>
                </a:lnTo>
                <a:lnTo>
                  <a:pt x="646578" y="267821"/>
                </a:lnTo>
                <a:lnTo>
                  <a:pt x="632319" y="253870"/>
                </a:lnTo>
                <a:lnTo>
                  <a:pt x="617759" y="240233"/>
                </a:lnTo>
                <a:lnTo>
                  <a:pt x="602905" y="226917"/>
                </a:lnTo>
                <a:lnTo>
                  <a:pt x="587764" y="213928"/>
                </a:lnTo>
                <a:lnTo>
                  <a:pt x="572344" y="201273"/>
                </a:lnTo>
                <a:lnTo>
                  <a:pt x="556651" y="188957"/>
                </a:lnTo>
                <a:lnTo>
                  <a:pt x="540693" y="176987"/>
                </a:lnTo>
                <a:lnTo>
                  <a:pt x="524478" y="165367"/>
                </a:lnTo>
                <a:lnTo>
                  <a:pt x="508013" y="154104"/>
                </a:lnTo>
                <a:lnTo>
                  <a:pt x="491306" y="143202"/>
                </a:lnTo>
                <a:lnTo>
                  <a:pt x="474366" y="132668"/>
                </a:lnTo>
                <a:lnTo>
                  <a:pt x="457200" y="122506"/>
                </a:lnTo>
                <a:lnTo>
                  <a:pt x="439816" y="112721"/>
                </a:lnTo>
                <a:lnTo>
                  <a:pt x="422222" y="103317"/>
                </a:lnTo>
                <a:lnTo>
                  <a:pt x="404428" y="94299"/>
                </a:lnTo>
                <a:lnTo>
                  <a:pt x="386442" y="85672"/>
                </a:lnTo>
                <a:lnTo>
                  <a:pt x="368271" y="77439"/>
                </a:lnTo>
                <a:lnTo>
                  <a:pt x="349925" y="69604"/>
                </a:lnTo>
                <a:lnTo>
                  <a:pt x="331413" y="62172"/>
                </a:lnTo>
                <a:lnTo>
                  <a:pt x="312743" y="55145"/>
                </a:lnTo>
                <a:lnTo>
                  <a:pt x="293924" y="48527"/>
                </a:lnTo>
                <a:lnTo>
                  <a:pt x="274965" y="42321"/>
                </a:lnTo>
                <a:lnTo>
                  <a:pt x="255875" y="36530"/>
                </a:lnTo>
                <a:lnTo>
                  <a:pt x="236664" y="31157"/>
                </a:lnTo>
                <a:lnTo>
                  <a:pt x="217339" y="26204"/>
                </a:lnTo>
                <a:lnTo>
                  <a:pt x="197912" y="21674"/>
                </a:lnTo>
                <a:lnTo>
                  <a:pt x="178390" y="17569"/>
                </a:lnTo>
                <a:lnTo>
                  <a:pt x="158783" y="13891"/>
                </a:lnTo>
                <a:lnTo>
                  <a:pt x="139101" y="10642"/>
                </a:lnTo>
                <a:lnTo>
                  <a:pt x="119353" y="7822"/>
                </a:lnTo>
                <a:lnTo>
                  <a:pt x="99547" y="5434"/>
                </a:lnTo>
                <a:lnTo>
                  <a:pt x="79695" y="3479"/>
                </a:lnTo>
                <a:lnTo>
                  <a:pt x="59804" y="1957"/>
                </a:lnTo>
                <a:lnTo>
                  <a:pt x="39885" y="870"/>
                </a:lnTo>
                <a:lnTo>
                  <a:pt x="19947" y="217"/>
                </a:lnTo>
                <a:lnTo>
                  <a:pt x="0" y="0"/>
                </a:lnTo>
                <a:lnTo>
                  <a:pt x="0" y="914400"/>
                </a:lnTo>
                <a:close/>
              </a:path>
            </a:pathLst>
          </a:custGeom>
          <a:solidFill>
            <a:srgbClr val="F3A08A"/>
          </a:solidFill>
          <a:ln>
            <a:noFill/>
          </a:ln>
        </p:spPr>
        <p:txBody>
          <a:bodyPr rtlCol="0" anchor="ctr"/>
          <a:lstStyle/>
          <a:p>
            <a:pPr algn="ctr"/>
          </a:p>
        </p:txBody>
      </p:sp>
      <p:sp>
        <p:nvSpPr>
          <p:cNvPr id="8" name="Rectangle 7"/>
          <p:cNvSpPr/>
          <p:nvPr/>
        </p:nvSpPr>
        <p:spPr>
          <a:xfrm>
            <a:off x="822960" y="1417320"/>
            <a:ext cx="786384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200" b="1" i="0" spc="150">
                <a:solidFill>
                  <a:srgbClr val="4F8FCB"/>
                </a:solidFill>
                <a:latin typeface="Segoe UI"/>
              </a:rPr>
              <a:t>DESIGN AND ANALYSIS OF ALGORITHMS  ·  UNIT 2</a:t>
            </a:r>
          </a:p>
        </p:txBody>
      </p:sp>
      <p:sp>
        <p:nvSpPr>
          <p:cNvPr id="9" name="Rectangle 8"/>
          <p:cNvSpPr/>
          <p:nvPr/>
        </p:nvSpPr>
        <p:spPr>
          <a:xfrm>
            <a:off x="822960" y="3246120"/>
            <a:ext cx="1463040" cy="64008"/>
          </a:xfrm>
          <a:prstGeom prst="rect">
            <a:avLst/>
          </a:prstGeom>
          <a:solidFill>
            <a:srgbClr val="F3A08A"/>
          </a:solidFill>
          <a:ln>
            <a:noFill/>
          </a:ln>
        </p:spPr>
        <p:txBody>
          <a:bodyPr rtlCol="0" anchor="ctr"/>
          <a:lstStyle/>
          <a:p>
            <a:pPr algn="ctr"/>
          </a:p>
        </p:txBody>
      </p:sp>
      <p:sp>
        <p:nvSpPr>
          <p:cNvPr id="10" name="Rectangle 9"/>
          <p:cNvSpPr/>
          <p:nvPr/>
        </p:nvSpPr>
        <p:spPr>
          <a:xfrm>
            <a:off x="822960" y="3474720"/>
            <a:ext cx="7863840" cy="50292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200" b="0" i="0">
                <a:solidFill>
                  <a:srgbClr val="22304A"/>
                </a:solidFill>
                <a:latin typeface="Segoe UI"/>
              </a:rPr>
              <a:t>Divide and conquer, where the partition does the work</a:t>
            </a:r>
          </a:p>
        </p:txBody>
      </p:sp>
      <p:sp>
        <p:nvSpPr>
          <p:cNvPr id="11" name="Rectangle 10"/>
          <p:cNvSpPr/>
          <p:nvPr/>
        </p:nvSpPr>
        <p:spPr>
          <a:xfrm>
            <a:off x="822960" y="4434840"/>
            <a:ext cx="3291840"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000" b="1" i="0">
                <a:solidFill>
                  <a:srgbClr val="22304A"/>
                </a:solidFill>
                <a:latin typeface="Segoe UI"/>
              </a:rPr>
              <a:t>Ammey Kuraaday</a:t>
            </a:r>
          </a:p>
        </p:txBody>
      </p:sp>
      <p:sp>
        <p:nvSpPr>
          <p:cNvPr id="12" name="Rectangle 11"/>
          <p:cNvSpPr/>
          <p:nvPr/>
        </p:nvSpPr>
        <p:spPr>
          <a:xfrm>
            <a:off x="822960" y="4846320"/>
            <a:ext cx="3291840" cy="3200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400" b="0" i="0">
                <a:solidFill>
                  <a:srgbClr val="66758C"/>
                </a:solidFill>
                <a:latin typeface="Segoe UI"/>
              </a:rPr>
              <a:t>Roll No. B107</a:t>
            </a:r>
          </a:p>
        </p:txBody>
      </p:sp>
      <p:sp>
        <p:nvSpPr>
          <p:cNvPr id="13" name="Rectangle 12"/>
          <p:cNvSpPr/>
          <p:nvPr/>
        </p:nvSpPr>
        <p:spPr>
          <a:xfrm>
            <a:off x="4480560" y="4434840"/>
            <a:ext cx="3566160"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000" b="1" i="0">
                <a:solidFill>
                  <a:srgbClr val="22304A"/>
                </a:solidFill>
                <a:latin typeface="Segoe UI"/>
              </a:rPr>
              <a:t>Shreyash Javale</a:t>
            </a:r>
          </a:p>
        </p:txBody>
      </p:sp>
      <p:sp>
        <p:nvSpPr>
          <p:cNvPr id="14" name="Rectangle 13"/>
          <p:cNvSpPr/>
          <p:nvPr/>
        </p:nvSpPr>
        <p:spPr>
          <a:xfrm>
            <a:off x="4480560" y="4846320"/>
            <a:ext cx="3566160" cy="3200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400" b="0" i="0">
                <a:solidFill>
                  <a:srgbClr val="66758C"/>
                </a:solidFill>
                <a:latin typeface="Segoe UI"/>
              </a:rPr>
              <a:t>Roll No. B34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What we will cover</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OVERVIEW</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2</a:t>
            </a:r>
          </a:p>
        </p:txBody>
      </p:sp>
      <p:sp>
        <p:nvSpPr>
          <p:cNvPr id="8" name="Rounded Rectangle 7"/>
          <p:cNvSpPr/>
          <p:nvPr/>
        </p:nvSpPr>
        <p:spPr>
          <a:xfrm>
            <a:off x="548640" y="1783080"/>
            <a:ext cx="2036003" cy="2514600"/>
          </a:xfrm>
          <a:prstGeom prst="roundRect">
            <a:avLst>
              <a:gd name="adj" fmla="val 6736"/>
            </a:avLst>
          </a:prstGeom>
          <a:solidFill>
            <a:srgbClr val="E8F2FB"/>
          </a:solidFill>
          <a:ln>
            <a:noFill/>
          </a:ln>
        </p:spPr>
        <p:txBody>
          <a:bodyPr rtlCol="0" anchor="ctr"/>
          <a:lstStyle/>
          <a:p>
            <a:pPr algn="ctr"/>
          </a:p>
        </p:txBody>
      </p:sp>
      <p:sp>
        <p:nvSpPr>
          <p:cNvPr id="9" name="Rectangle 8"/>
          <p:cNvSpPr/>
          <p:nvPr/>
        </p:nvSpPr>
        <p:spPr>
          <a:xfrm>
            <a:off x="731520" y="1965960"/>
            <a:ext cx="457200" cy="54864"/>
          </a:xfrm>
          <a:prstGeom prst="rect">
            <a:avLst/>
          </a:prstGeom>
          <a:solidFill>
            <a:srgbClr val="F3A08A"/>
          </a:solidFill>
          <a:ln>
            <a:noFill/>
          </a:ln>
        </p:spPr>
        <p:txBody>
          <a:bodyPr rtlCol="0" anchor="ctr"/>
          <a:lstStyle/>
          <a:p>
            <a:pPr algn="ctr"/>
          </a:p>
        </p:txBody>
      </p:sp>
      <p:sp>
        <p:nvSpPr>
          <p:cNvPr id="10" name="Rectangle 9"/>
          <p:cNvSpPr/>
          <p:nvPr/>
        </p:nvSpPr>
        <p:spPr>
          <a:xfrm>
            <a:off x="658368" y="2103120"/>
            <a:ext cx="1816547" cy="685800"/>
          </a:xfrm>
          <a:prstGeom prst="rect">
            <a:avLst/>
          </a:prstGeom>
          <a:noFill/>
          <a:ln>
            <a:noFill/>
          </a:ln>
        </p:spPr>
        <p:txBody>
          <a:bodyPr rtlCol="0" anchor="ctr" wrap="square" lIns="73152" tIns="0" rIns="73152" bIns="0">
            <a:noAutofit/>
          </a:bodyPr>
          <a:lstStyle/>
          <a:p>
            <a:pPr algn="l">
              <a:lnSpc>
                <a:spcPct val="100000"/>
              </a:lnSpc>
              <a:spcBef>
                <a:spcPts val="0"/>
              </a:spcBef>
              <a:spcAft>
                <a:spcPts val="0"/>
              </a:spcAft>
            </a:pPr>
            <a:r>
              <a:rPr sz="3800" b="1" i="0">
                <a:solidFill>
                  <a:srgbClr val="4F8FCB"/>
                </a:solidFill>
                <a:latin typeface="Georgia"/>
              </a:rPr>
              <a:t>01</a:t>
            </a:r>
          </a:p>
        </p:txBody>
      </p:sp>
      <p:sp>
        <p:nvSpPr>
          <p:cNvPr id="11" name="Rectangle 10"/>
          <p:cNvSpPr/>
          <p:nvPr/>
        </p:nvSpPr>
        <p:spPr>
          <a:xfrm>
            <a:off x="658368" y="2834640"/>
            <a:ext cx="1816547" cy="411480"/>
          </a:xfrm>
          <a:prstGeom prst="rect">
            <a:avLst/>
          </a:prstGeom>
          <a:noFill/>
          <a:ln>
            <a:noFill/>
          </a:ln>
        </p:spPr>
        <p:txBody>
          <a:bodyPr rtlCol="0" anchor="ctr" wrap="square" lIns="73152" tIns="0" rIns="73152" bIns="0">
            <a:noAutofit/>
          </a:bodyPr>
          <a:lstStyle/>
          <a:p>
            <a:pPr algn="l">
              <a:lnSpc>
                <a:spcPct val="100000"/>
              </a:lnSpc>
              <a:spcBef>
                <a:spcPts val="0"/>
              </a:spcBef>
              <a:spcAft>
                <a:spcPts val="0"/>
              </a:spcAft>
            </a:pPr>
            <a:r>
              <a:rPr sz="1900" b="1" i="0">
                <a:solidFill>
                  <a:srgbClr val="22304A"/>
                </a:solidFill>
                <a:latin typeface="Segoe UI"/>
              </a:rPr>
              <a:t>The idea</a:t>
            </a:r>
          </a:p>
        </p:txBody>
      </p:sp>
      <p:sp>
        <p:nvSpPr>
          <p:cNvPr id="12" name="Rectangle 11"/>
          <p:cNvSpPr/>
          <p:nvPr/>
        </p:nvSpPr>
        <p:spPr>
          <a:xfrm>
            <a:off x="658368" y="3273552"/>
            <a:ext cx="1816547" cy="914400"/>
          </a:xfrm>
          <a:prstGeom prst="rect">
            <a:avLst/>
          </a:prstGeom>
          <a:noFill/>
          <a:ln>
            <a:noFill/>
          </a:ln>
        </p:spPr>
        <p:txBody>
          <a:bodyPr rtlCol="0" anchor="t" wrap="square" lIns="73152" tIns="18288" rIns="73152" bIns="18288">
            <a:noAutofit/>
          </a:bodyPr>
          <a:lstStyle/>
          <a:p>
            <a:pPr algn="l">
              <a:lnSpc>
                <a:spcPct val="100000"/>
              </a:lnSpc>
              <a:spcBef>
                <a:spcPts val="0"/>
              </a:spcBef>
              <a:spcAft>
                <a:spcPts val="0"/>
              </a:spcAft>
            </a:pPr>
            <a:r>
              <a:rPr sz="1500" b="0" i="0">
                <a:solidFill>
                  <a:srgbClr val="66758C"/>
                </a:solidFill>
                <a:latin typeface="Segoe UI"/>
              </a:rPr>
              <a:t>Divide and conquer without a merge step</a:t>
            </a:r>
          </a:p>
        </p:txBody>
      </p:sp>
      <p:sp>
        <p:nvSpPr>
          <p:cNvPr id="13" name="Rounded Rectangle 12"/>
          <p:cNvSpPr/>
          <p:nvPr/>
        </p:nvSpPr>
        <p:spPr>
          <a:xfrm>
            <a:off x="2813243" y="1783080"/>
            <a:ext cx="2036003" cy="2514600"/>
          </a:xfrm>
          <a:prstGeom prst="roundRect">
            <a:avLst>
              <a:gd name="adj" fmla="val 6736"/>
            </a:avLst>
          </a:prstGeom>
          <a:solidFill>
            <a:srgbClr val="E8F2FB"/>
          </a:solidFill>
          <a:ln>
            <a:noFill/>
          </a:ln>
        </p:spPr>
        <p:txBody>
          <a:bodyPr rtlCol="0" anchor="ctr"/>
          <a:lstStyle/>
          <a:p>
            <a:pPr algn="ctr"/>
          </a:p>
        </p:txBody>
      </p:sp>
      <p:sp>
        <p:nvSpPr>
          <p:cNvPr id="14" name="Rectangle 13"/>
          <p:cNvSpPr/>
          <p:nvPr/>
        </p:nvSpPr>
        <p:spPr>
          <a:xfrm>
            <a:off x="2996123" y="1965960"/>
            <a:ext cx="457200" cy="54864"/>
          </a:xfrm>
          <a:prstGeom prst="rect">
            <a:avLst/>
          </a:prstGeom>
          <a:solidFill>
            <a:srgbClr val="F3A08A"/>
          </a:solidFill>
          <a:ln>
            <a:noFill/>
          </a:ln>
        </p:spPr>
        <p:txBody>
          <a:bodyPr rtlCol="0" anchor="ctr"/>
          <a:lstStyle/>
          <a:p>
            <a:pPr algn="ctr"/>
          </a:p>
        </p:txBody>
      </p:sp>
      <p:sp>
        <p:nvSpPr>
          <p:cNvPr id="15" name="Rectangle 14"/>
          <p:cNvSpPr/>
          <p:nvPr/>
        </p:nvSpPr>
        <p:spPr>
          <a:xfrm>
            <a:off x="2922971" y="2103120"/>
            <a:ext cx="1816547" cy="685800"/>
          </a:xfrm>
          <a:prstGeom prst="rect">
            <a:avLst/>
          </a:prstGeom>
          <a:noFill/>
          <a:ln>
            <a:noFill/>
          </a:ln>
        </p:spPr>
        <p:txBody>
          <a:bodyPr rtlCol="0" anchor="ctr" wrap="square" lIns="73152" tIns="0" rIns="73152" bIns="0">
            <a:noAutofit/>
          </a:bodyPr>
          <a:lstStyle/>
          <a:p>
            <a:pPr algn="l">
              <a:lnSpc>
                <a:spcPct val="100000"/>
              </a:lnSpc>
              <a:spcBef>
                <a:spcPts val="0"/>
              </a:spcBef>
              <a:spcAft>
                <a:spcPts val="0"/>
              </a:spcAft>
            </a:pPr>
            <a:r>
              <a:rPr sz="3800" b="1" i="0">
                <a:solidFill>
                  <a:srgbClr val="4F8FCB"/>
                </a:solidFill>
                <a:latin typeface="Georgia"/>
              </a:rPr>
              <a:t>02</a:t>
            </a:r>
          </a:p>
        </p:txBody>
      </p:sp>
      <p:sp>
        <p:nvSpPr>
          <p:cNvPr id="16" name="Rectangle 15"/>
          <p:cNvSpPr/>
          <p:nvPr/>
        </p:nvSpPr>
        <p:spPr>
          <a:xfrm>
            <a:off x="2922971" y="2834640"/>
            <a:ext cx="1816547" cy="411480"/>
          </a:xfrm>
          <a:prstGeom prst="rect">
            <a:avLst/>
          </a:prstGeom>
          <a:noFill/>
          <a:ln>
            <a:noFill/>
          </a:ln>
        </p:spPr>
        <p:txBody>
          <a:bodyPr rtlCol="0" anchor="ctr" wrap="square" lIns="73152" tIns="0" rIns="73152" bIns="0">
            <a:noAutofit/>
          </a:bodyPr>
          <a:lstStyle/>
          <a:p>
            <a:pPr algn="l">
              <a:lnSpc>
                <a:spcPct val="100000"/>
              </a:lnSpc>
              <a:spcBef>
                <a:spcPts val="0"/>
              </a:spcBef>
              <a:spcAft>
                <a:spcPts val="0"/>
              </a:spcAft>
            </a:pPr>
            <a:r>
              <a:rPr sz="1900" b="1" i="0">
                <a:solidFill>
                  <a:srgbClr val="22304A"/>
                </a:solidFill>
                <a:latin typeface="Segoe UI"/>
              </a:rPr>
              <a:t>Partition</a:t>
            </a:r>
          </a:p>
        </p:txBody>
      </p:sp>
      <p:sp>
        <p:nvSpPr>
          <p:cNvPr id="17" name="Rectangle 16"/>
          <p:cNvSpPr/>
          <p:nvPr/>
        </p:nvSpPr>
        <p:spPr>
          <a:xfrm>
            <a:off x="2922971" y="3273552"/>
            <a:ext cx="1816547" cy="914400"/>
          </a:xfrm>
          <a:prstGeom prst="rect">
            <a:avLst/>
          </a:prstGeom>
          <a:noFill/>
          <a:ln>
            <a:noFill/>
          </a:ln>
        </p:spPr>
        <p:txBody>
          <a:bodyPr rtlCol="0" anchor="t" wrap="square" lIns="73152" tIns="18288" rIns="73152" bIns="18288">
            <a:noAutofit/>
          </a:bodyPr>
          <a:lstStyle/>
          <a:p>
            <a:pPr algn="l">
              <a:lnSpc>
                <a:spcPct val="100000"/>
              </a:lnSpc>
              <a:spcBef>
                <a:spcPts val="0"/>
              </a:spcBef>
              <a:spcAft>
                <a:spcPts val="0"/>
              </a:spcAft>
            </a:pPr>
            <a:r>
              <a:rPr sz="1500" b="0" i="0">
                <a:solidFill>
                  <a:srgbClr val="66758C"/>
                </a:solidFill>
                <a:latin typeface="Segoe UI"/>
              </a:rPr>
              <a:t>Pivot, two pointers and a full trace</a:t>
            </a:r>
          </a:p>
        </p:txBody>
      </p:sp>
      <p:sp>
        <p:nvSpPr>
          <p:cNvPr id="18" name="Rounded Rectangle 17"/>
          <p:cNvSpPr/>
          <p:nvPr/>
        </p:nvSpPr>
        <p:spPr>
          <a:xfrm>
            <a:off x="5077846" y="1783080"/>
            <a:ext cx="2036003" cy="2514600"/>
          </a:xfrm>
          <a:prstGeom prst="roundRect">
            <a:avLst>
              <a:gd name="adj" fmla="val 6736"/>
            </a:avLst>
          </a:prstGeom>
          <a:solidFill>
            <a:srgbClr val="E8F2FB"/>
          </a:solidFill>
          <a:ln>
            <a:noFill/>
          </a:ln>
        </p:spPr>
        <p:txBody>
          <a:bodyPr rtlCol="0" anchor="ctr"/>
          <a:lstStyle/>
          <a:p>
            <a:pPr algn="ctr"/>
          </a:p>
        </p:txBody>
      </p:sp>
      <p:sp>
        <p:nvSpPr>
          <p:cNvPr id="19" name="Rectangle 18"/>
          <p:cNvSpPr/>
          <p:nvPr/>
        </p:nvSpPr>
        <p:spPr>
          <a:xfrm>
            <a:off x="5260726" y="1965960"/>
            <a:ext cx="457200" cy="54864"/>
          </a:xfrm>
          <a:prstGeom prst="rect">
            <a:avLst/>
          </a:prstGeom>
          <a:solidFill>
            <a:srgbClr val="F3A08A"/>
          </a:solidFill>
          <a:ln>
            <a:noFill/>
          </a:ln>
        </p:spPr>
        <p:txBody>
          <a:bodyPr rtlCol="0" anchor="ctr"/>
          <a:lstStyle/>
          <a:p>
            <a:pPr algn="ctr"/>
          </a:p>
        </p:txBody>
      </p:sp>
      <p:sp>
        <p:nvSpPr>
          <p:cNvPr id="20" name="Rectangle 19"/>
          <p:cNvSpPr/>
          <p:nvPr/>
        </p:nvSpPr>
        <p:spPr>
          <a:xfrm>
            <a:off x="5187574" y="2103120"/>
            <a:ext cx="1816547" cy="685800"/>
          </a:xfrm>
          <a:prstGeom prst="rect">
            <a:avLst/>
          </a:prstGeom>
          <a:noFill/>
          <a:ln>
            <a:noFill/>
          </a:ln>
        </p:spPr>
        <p:txBody>
          <a:bodyPr rtlCol="0" anchor="ctr" wrap="square" lIns="73152" tIns="0" rIns="73152" bIns="0">
            <a:noAutofit/>
          </a:bodyPr>
          <a:lstStyle/>
          <a:p>
            <a:pPr algn="l">
              <a:lnSpc>
                <a:spcPct val="100000"/>
              </a:lnSpc>
              <a:spcBef>
                <a:spcPts val="0"/>
              </a:spcBef>
              <a:spcAft>
                <a:spcPts val="0"/>
              </a:spcAft>
            </a:pPr>
            <a:r>
              <a:rPr sz="3800" b="1" i="0">
                <a:solidFill>
                  <a:srgbClr val="4F8FCB"/>
                </a:solidFill>
                <a:latin typeface="Georgia"/>
              </a:rPr>
              <a:t>03</a:t>
            </a:r>
          </a:p>
        </p:txBody>
      </p:sp>
      <p:sp>
        <p:nvSpPr>
          <p:cNvPr id="21" name="Rectangle 20"/>
          <p:cNvSpPr/>
          <p:nvPr/>
        </p:nvSpPr>
        <p:spPr>
          <a:xfrm>
            <a:off x="5187574" y="2834640"/>
            <a:ext cx="1816547" cy="411480"/>
          </a:xfrm>
          <a:prstGeom prst="rect">
            <a:avLst/>
          </a:prstGeom>
          <a:noFill/>
          <a:ln>
            <a:noFill/>
          </a:ln>
        </p:spPr>
        <p:txBody>
          <a:bodyPr rtlCol="0" anchor="ctr" wrap="square" lIns="73152" tIns="0" rIns="73152" bIns="0">
            <a:noAutofit/>
          </a:bodyPr>
          <a:lstStyle/>
          <a:p>
            <a:pPr algn="l">
              <a:lnSpc>
                <a:spcPct val="100000"/>
              </a:lnSpc>
              <a:spcBef>
                <a:spcPts val="0"/>
              </a:spcBef>
              <a:spcAft>
                <a:spcPts val="0"/>
              </a:spcAft>
            </a:pPr>
            <a:r>
              <a:rPr sz="1900" b="1" i="0">
                <a:solidFill>
                  <a:srgbClr val="22304A"/>
                </a:solidFill>
                <a:latin typeface="Segoe UI"/>
              </a:rPr>
              <a:t>Algorithm</a:t>
            </a:r>
          </a:p>
        </p:txBody>
      </p:sp>
      <p:sp>
        <p:nvSpPr>
          <p:cNvPr id="22" name="Rectangle 21"/>
          <p:cNvSpPr/>
          <p:nvPr/>
        </p:nvSpPr>
        <p:spPr>
          <a:xfrm>
            <a:off x="5187574" y="3273552"/>
            <a:ext cx="1816547" cy="914400"/>
          </a:xfrm>
          <a:prstGeom prst="rect">
            <a:avLst/>
          </a:prstGeom>
          <a:noFill/>
          <a:ln>
            <a:noFill/>
          </a:ln>
        </p:spPr>
        <p:txBody>
          <a:bodyPr rtlCol="0" anchor="t" wrap="square" lIns="73152" tIns="18288" rIns="73152" bIns="18288">
            <a:noAutofit/>
          </a:bodyPr>
          <a:lstStyle/>
          <a:p>
            <a:pPr algn="l">
              <a:lnSpc>
                <a:spcPct val="100000"/>
              </a:lnSpc>
              <a:spcBef>
                <a:spcPts val="0"/>
              </a:spcBef>
              <a:spcAft>
                <a:spcPts val="0"/>
              </a:spcAft>
            </a:pPr>
            <a:r>
              <a:rPr sz="1500" b="0" i="0">
                <a:solidFill>
                  <a:srgbClr val="66758C"/>
                </a:solidFill>
                <a:latin typeface="Segoe UI"/>
              </a:rPr>
              <a:t>Code, recursion and one bug</a:t>
            </a:r>
          </a:p>
        </p:txBody>
      </p:sp>
      <p:sp>
        <p:nvSpPr>
          <p:cNvPr id="23" name="Rounded Rectangle 22"/>
          <p:cNvSpPr/>
          <p:nvPr/>
        </p:nvSpPr>
        <p:spPr>
          <a:xfrm>
            <a:off x="7342449" y="1783080"/>
            <a:ext cx="2036003" cy="2514600"/>
          </a:xfrm>
          <a:prstGeom prst="roundRect">
            <a:avLst>
              <a:gd name="adj" fmla="val 6736"/>
            </a:avLst>
          </a:prstGeom>
          <a:solidFill>
            <a:srgbClr val="E8F2FB"/>
          </a:solidFill>
          <a:ln>
            <a:noFill/>
          </a:ln>
        </p:spPr>
        <p:txBody>
          <a:bodyPr rtlCol="0" anchor="ctr"/>
          <a:lstStyle/>
          <a:p>
            <a:pPr algn="ctr"/>
          </a:p>
        </p:txBody>
      </p:sp>
      <p:sp>
        <p:nvSpPr>
          <p:cNvPr id="24" name="Rectangle 23"/>
          <p:cNvSpPr/>
          <p:nvPr/>
        </p:nvSpPr>
        <p:spPr>
          <a:xfrm>
            <a:off x="7525329" y="1965960"/>
            <a:ext cx="457200" cy="54864"/>
          </a:xfrm>
          <a:prstGeom prst="rect">
            <a:avLst/>
          </a:prstGeom>
          <a:solidFill>
            <a:srgbClr val="F3A08A"/>
          </a:solidFill>
          <a:ln>
            <a:noFill/>
          </a:ln>
        </p:spPr>
        <p:txBody>
          <a:bodyPr rtlCol="0" anchor="ctr"/>
          <a:lstStyle/>
          <a:p>
            <a:pPr algn="ctr"/>
          </a:p>
        </p:txBody>
      </p:sp>
      <p:sp>
        <p:nvSpPr>
          <p:cNvPr id="25" name="Rectangle 24"/>
          <p:cNvSpPr/>
          <p:nvPr/>
        </p:nvSpPr>
        <p:spPr>
          <a:xfrm>
            <a:off x="7452177" y="2103120"/>
            <a:ext cx="1816547" cy="685800"/>
          </a:xfrm>
          <a:prstGeom prst="rect">
            <a:avLst/>
          </a:prstGeom>
          <a:noFill/>
          <a:ln>
            <a:noFill/>
          </a:ln>
        </p:spPr>
        <p:txBody>
          <a:bodyPr rtlCol="0" anchor="ctr" wrap="square" lIns="73152" tIns="0" rIns="73152" bIns="0">
            <a:noAutofit/>
          </a:bodyPr>
          <a:lstStyle/>
          <a:p>
            <a:pPr algn="l">
              <a:lnSpc>
                <a:spcPct val="100000"/>
              </a:lnSpc>
              <a:spcBef>
                <a:spcPts val="0"/>
              </a:spcBef>
              <a:spcAft>
                <a:spcPts val="0"/>
              </a:spcAft>
            </a:pPr>
            <a:r>
              <a:rPr sz="3800" b="1" i="0">
                <a:solidFill>
                  <a:srgbClr val="4F8FCB"/>
                </a:solidFill>
                <a:latin typeface="Georgia"/>
              </a:rPr>
              <a:t>04</a:t>
            </a:r>
          </a:p>
        </p:txBody>
      </p:sp>
      <p:sp>
        <p:nvSpPr>
          <p:cNvPr id="26" name="Rectangle 25"/>
          <p:cNvSpPr/>
          <p:nvPr/>
        </p:nvSpPr>
        <p:spPr>
          <a:xfrm>
            <a:off x="7452177" y="2834640"/>
            <a:ext cx="1816547" cy="411480"/>
          </a:xfrm>
          <a:prstGeom prst="rect">
            <a:avLst/>
          </a:prstGeom>
          <a:noFill/>
          <a:ln>
            <a:noFill/>
          </a:ln>
        </p:spPr>
        <p:txBody>
          <a:bodyPr rtlCol="0" anchor="ctr" wrap="square" lIns="73152" tIns="0" rIns="73152" bIns="0">
            <a:noAutofit/>
          </a:bodyPr>
          <a:lstStyle/>
          <a:p>
            <a:pPr algn="l">
              <a:lnSpc>
                <a:spcPct val="100000"/>
              </a:lnSpc>
              <a:spcBef>
                <a:spcPts val="0"/>
              </a:spcBef>
              <a:spcAft>
                <a:spcPts val="0"/>
              </a:spcAft>
            </a:pPr>
            <a:r>
              <a:rPr sz="1900" b="1" i="0">
                <a:solidFill>
                  <a:srgbClr val="22304A"/>
                </a:solidFill>
                <a:latin typeface="Segoe UI"/>
              </a:rPr>
              <a:t>Analysis</a:t>
            </a:r>
          </a:p>
        </p:txBody>
      </p:sp>
      <p:sp>
        <p:nvSpPr>
          <p:cNvPr id="27" name="Rectangle 26"/>
          <p:cNvSpPr/>
          <p:nvPr/>
        </p:nvSpPr>
        <p:spPr>
          <a:xfrm>
            <a:off x="7452177" y="3273552"/>
            <a:ext cx="1816547" cy="914400"/>
          </a:xfrm>
          <a:prstGeom prst="rect">
            <a:avLst/>
          </a:prstGeom>
          <a:noFill/>
          <a:ln>
            <a:noFill/>
          </a:ln>
        </p:spPr>
        <p:txBody>
          <a:bodyPr rtlCol="0" anchor="t" wrap="square" lIns="73152" tIns="18288" rIns="73152" bIns="18288">
            <a:noAutofit/>
          </a:bodyPr>
          <a:lstStyle/>
          <a:p>
            <a:pPr algn="l">
              <a:lnSpc>
                <a:spcPct val="100000"/>
              </a:lnSpc>
              <a:spcBef>
                <a:spcPts val="0"/>
              </a:spcBef>
              <a:spcAft>
                <a:spcPts val="0"/>
              </a:spcAft>
            </a:pPr>
            <a:r>
              <a:rPr sz="1500" b="0" i="0">
                <a:solidFill>
                  <a:srgbClr val="66758C"/>
                </a:solidFill>
                <a:latin typeface="Segoe UI"/>
              </a:rPr>
              <a:t>Best, worst and average case</a:t>
            </a:r>
          </a:p>
        </p:txBody>
      </p:sp>
      <p:sp>
        <p:nvSpPr>
          <p:cNvPr id="28" name="Rounded Rectangle 27"/>
          <p:cNvSpPr/>
          <p:nvPr/>
        </p:nvSpPr>
        <p:spPr>
          <a:xfrm>
            <a:off x="9607052" y="1783080"/>
            <a:ext cx="2036003" cy="2514600"/>
          </a:xfrm>
          <a:prstGeom prst="roundRect">
            <a:avLst>
              <a:gd name="adj" fmla="val 6736"/>
            </a:avLst>
          </a:prstGeom>
          <a:solidFill>
            <a:srgbClr val="E8F2FB"/>
          </a:solidFill>
          <a:ln>
            <a:noFill/>
          </a:ln>
        </p:spPr>
        <p:txBody>
          <a:bodyPr rtlCol="0" anchor="ctr"/>
          <a:lstStyle/>
          <a:p>
            <a:pPr algn="ctr"/>
          </a:p>
        </p:txBody>
      </p:sp>
      <p:sp>
        <p:nvSpPr>
          <p:cNvPr id="29" name="Rectangle 28"/>
          <p:cNvSpPr/>
          <p:nvPr/>
        </p:nvSpPr>
        <p:spPr>
          <a:xfrm>
            <a:off x="9789932" y="1965960"/>
            <a:ext cx="457200" cy="54864"/>
          </a:xfrm>
          <a:prstGeom prst="rect">
            <a:avLst/>
          </a:prstGeom>
          <a:solidFill>
            <a:srgbClr val="F3A08A"/>
          </a:solidFill>
          <a:ln>
            <a:noFill/>
          </a:ln>
        </p:spPr>
        <p:txBody>
          <a:bodyPr rtlCol="0" anchor="ctr"/>
          <a:lstStyle/>
          <a:p>
            <a:pPr algn="ctr"/>
          </a:p>
        </p:txBody>
      </p:sp>
      <p:sp>
        <p:nvSpPr>
          <p:cNvPr id="30" name="Rectangle 29"/>
          <p:cNvSpPr/>
          <p:nvPr/>
        </p:nvSpPr>
        <p:spPr>
          <a:xfrm>
            <a:off x="9716780" y="2103120"/>
            <a:ext cx="1816547" cy="685800"/>
          </a:xfrm>
          <a:prstGeom prst="rect">
            <a:avLst/>
          </a:prstGeom>
          <a:noFill/>
          <a:ln>
            <a:noFill/>
          </a:ln>
        </p:spPr>
        <p:txBody>
          <a:bodyPr rtlCol="0" anchor="ctr" wrap="square" lIns="73152" tIns="0" rIns="73152" bIns="0">
            <a:noAutofit/>
          </a:bodyPr>
          <a:lstStyle/>
          <a:p>
            <a:pPr algn="l">
              <a:lnSpc>
                <a:spcPct val="100000"/>
              </a:lnSpc>
              <a:spcBef>
                <a:spcPts val="0"/>
              </a:spcBef>
              <a:spcAft>
                <a:spcPts val="0"/>
              </a:spcAft>
            </a:pPr>
            <a:r>
              <a:rPr sz="3800" b="1" i="0">
                <a:solidFill>
                  <a:srgbClr val="4F8FCB"/>
                </a:solidFill>
                <a:latin typeface="Georgia"/>
              </a:rPr>
              <a:t>05</a:t>
            </a:r>
          </a:p>
        </p:txBody>
      </p:sp>
      <p:sp>
        <p:nvSpPr>
          <p:cNvPr id="31" name="Rectangle 30"/>
          <p:cNvSpPr/>
          <p:nvPr/>
        </p:nvSpPr>
        <p:spPr>
          <a:xfrm>
            <a:off x="9716780" y="2834640"/>
            <a:ext cx="1816547" cy="411480"/>
          </a:xfrm>
          <a:prstGeom prst="rect">
            <a:avLst/>
          </a:prstGeom>
          <a:noFill/>
          <a:ln>
            <a:noFill/>
          </a:ln>
        </p:spPr>
        <p:txBody>
          <a:bodyPr rtlCol="0" anchor="ctr" wrap="square" lIns="73152" tIns="0" rIns="73152" bIns="0">
            <a:noAutofit/>
          </a:bodyPr>
          <a:lstStyle/>
          <a:p>
            <a:pPr algn="l">
              <a:lnSpc>
                <a:spcPct val="100000"/>
              </a:lnSpc>
              <a:spcBef>
                <a:spcPts val="0"/>
              </a:spcBef>
              <a:spcAft>
                <a:spcPts val="0"/>
              </a:spcAft>
            </a:pPr>
            <a:r>
              <a:rPr sz="1900" b="1" i="0">
                <a:solidFill>
                  <a:srgbClr val="22304A"/>
                </a:solidFill>
                <a:latin typeface="Segoe UI"/>
              </a:rPr>
              <a:t>Real world</a:t>
            </a:r>
          </a:p>
        </p:txBody>
      </p:sp>
      <p:sp>
        <p:nvSpPr>
          <p:cNvPr id="32" name="Rectangle 31"/>
          <p:cNvSpPr/>
          <p:nvPr/>
        </p:nvSpPr>
        <p:spPr>
          <a:xfrm>
            <a:off x="9716780" y="3273552"/>
            <a:ext cx="1816547" cy="914400"/>
          </a:xfrm>
          <a:prstGeom prst="rect">
            <a:avLst/>
          </a:prstGeom>
          <a:noFill/>
          <a:ln>
            <a:noFill/>
          </a:ln>
        </p:spPr>
        <p:txBody>
          <a:bodyPr rtlCol="0" anchor="t" wrap="square" lIns="73152" tIns="18288" rIns="73152" bIns="18288">
            <a:noAutofit/>
          </a:bodyPr>
          <a:lstStyle/>
          <a:p>
            <a:pPr algn="l">
              <a:lnSpc>
                <a:spcPct val="100000"/>
              </a:lnSpc>
              <a:spcBef>
                <a:spcPts val="0"/>
              </a:spcBef>
              <a:spcAft>
                <a:spcPts val="0"/>
              </a:spcAft>
            </a:pPr>
            <a:r>
              <a:rPr sz="1500" b="0" i="0">
                <a:solidFill>
                  <a:srgbClr val="66758C"/>
                </a:solidFill>
                <a:latin typeface="Segoe UI"/>
              </a:rPr>
              <a:t>How libraries make it fast</a:t>
            </a:r>
          </a:p>
        </p:txBody>
      </p:sp>
      <p:sp>
        <p:nvSpPr>
          <p:cNvPr id="33" name="Rectangle 32"/>
          <p:cNvSpPr/>
          <p:nvPr/>
        </p:nvSpPr>
        <p:spPr>
          <a:xfrm>
            <a:off x="548640" y="4754880"/>
            <a:ext cx="11094415"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WHO PRESENTS WHAT</a:t>
            </a:r>
          </a:p>
        </p:txBody>
      </p:sp>
      <p:sp>
        <p:nvSpPr>
          <p:cNvPr id="34" name="Rounded Rectangle 33"/>
          <p:cNvSpPr/>
          <p:nvPr/>
        </p:nvSpPr>
        <p:spPr>
          <a:xfrm>
            <a:off x="548640" y="5120640"/>
            <a:ext cx="5793445" cy="822960"/>
          </a:xfrm>
          <a:prstGeom prst="roundRect">
            <a:avLst>
              <a:gd name="adj" fmla="val 13333"/>
            </a:avLst>
          </a:prstGeom>
          <a:solidFill>
            <a:srgbClr val="BCD8F1"/>
          </a:solidFill>
          <a:ln>
            <a:noFill/>
          </a:ln>
        </p:spPr>
        <p:txBody>
          <a:bodyPr rtlCol="0" anchor="ctr" wrap="square" lIns="182880" rIns="182880">
            <a:noAutofit/>
          </a:bodyPr>
          <a:lstStyle/>
          <a:p>
            <a:pPr algn="l">
              <a:lnSpc>
                <a:spcPct val="100000"/>
              </a:lnSpc>
              <a:spcBef>
                <a:spcPts val="0"/>
              </a:spcBef>
              <a:spcAft>
                <a:spcPts val="200"/>
              </a:spcAft>
            </a:pPr>
            <a:r>
              <a:rPr sz="1700" b="1" i="0">
                <a:solidFill>
                  <a:srgbClr val="22304A"/>
                </a:solidFill>
                <a:latin typeface="Segoe UI"/>
              </a:rPr>
              <a:t>Ammey Kuraaday</a:t>
            </a:r>
          </a:p>
          <a:p>
            <a:pPr algn="l">
              <a:lnSpc>
                <a:spcPct val="100000"/>
              </a:lnSpc>
              <a:spcBef>
                <a:spcPts val="0"/>
              </a:spcBef>
              <a:spcAft>
                <a:spcPts val="0"/>
              </a:spcAft>
            </a:pPr>
            <a:r>
              <a:rPr sz="1400" b="0" i="0">
                <a:solidFill>
                  <a:srgbClr val="22304A"/>
                </a:solidFill>
                <a:latin typeface="Segoe UI"/>
              </a:rPr>
              <a:t>Slides 1 to 10: idea, partition, code, recursion</a:t>
            </a:r>
          </a:p>
        </p:txBody>
      </p:sp>
      <p:sp>
        <p:nvSpPr>
          <p:cNvPr id="35" name="Rounded Rectangle 34"/>
          <p:cNvSpPr/>
          <p:nvPr/>
        </p:nvSpPr>
        <p:spPr>
          <a:xfrm>
            <a:off x="6433525" y="5120640"/>
            <a:ext cx="5209529" cy="822960"/>
          </a:xfrm>
          <a:prstGeom prst="roundRect">
            <a:avLst>
              <a:gd name="adj" fmla="val 13333"/>
            </a:avLst>
          </a:prstGeom>
          <a:solidFill>
            <a:srgbClr val="FBE3DB"/>
          </a:solidFill>
          <a:ln>
            <a:noFill/>
          </a:ln>
        </p:spPr>
        <p:txBody>
          <a:bodyPr rtlCol="0" anchor="ctr" wrap="square" lIns="182880" rIns="182880">
            <a:noAutofit/>
          </a:bodyPr>
          <a:lstStyle/>
          <a:p>
            <a:pPr algn="l">
              <a:lnSpc>
                <a:spcPct val="100000"/>
              </a:lnSpc>
              <a:spcBef>
                <a:spcPts val="0"/>
              </a:spcBef>
              <a:spcAft>
                <a:spcPts val="200"/>
              </a:spcAft>
            </a:pPr>
            <a:r>
              <a:rPr sz="1700" b="1" i="0">
                <a:solidFill>
                  <a:srgbClr val="22304A"/>
                </a:solidFill>
                <a:latin typeface="Segoe UI"/>
              </a:rPr>
              <a:t>Shreyash Javale</a:t>
            </a:r>
          </a:p>
          <a:p>
            <a:pPr algn="l">
              <a:lnSpc>
                <a:spcPct val="100000"/>
              </a:lnSpc>
              <a:spcBef>
                <a:spcPts val="0"/>
              </a:spcBef>
              <a:spcAft>
                <a:spcPts val="0"/>
              </a:spcAft>
            </a:pPr>
            <a:r>
              <a:rPr sz="1400" b="0" i="0">
                <a:solidFill>
                  <a:srgbClr val="22304A"/>
                </a:solidFill>
                <a:latin typeface="Segoe UI"/>
              </a:rPr>
              <a:t>Slides 11 to 19: the bug, analysis, real world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Why is quick sort everywhere?</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THE QUESTION</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3</a:t>
            </a:r>
          </a:p>
        </p:txBody>
      </p:sp>
      <p:sp>
        <p:nvSpPr>
          <p:cNvPr id="8" name="Rectangle 7"/>
          <p:cNvSpPr/>
          <p:nvPr/>
        </p:nvSpPr>
        <p:spPr>
          <a:xfrm>
            <a:off x="822960" y="1783080"/>
            <a:ext cx="82296" cy="2743200"/>
          </a:xfrm>
          <a:prstGeom prst="rect">
            <a:avLst/>
          </a:prstGeom>
          <a:solidFill>
            <a:srgbClr val="F3A08A"/>
          </a:solidFill>
          <a:ln>
            <a:noFill/>
          </a:ln>
        </p:spPr>
        <p:txBody>
          <a:bodyPr rtlCol="0" anchor="ctr"/>
          <a:lstStyle/>
          <a:p>
            <a:pPr algn="ctr"/>
          </a:p>
        </p:txBody>
      </p:sp>
      <p:sp>
        <p:nvSpPr>
          <p:cNvPr id="9" name="Rectangle 8"/>
          <p:cNvSpPr/>
          <p:nvPr/>
        </p:nvSpPr>
        <p:spPr>
          <a:xfrm>
            <a:off x="1188720" y="1737360"/>
            <a:ext cx="10058400" cy="2834640"/>
          </a:xfrm>
          <a:prstGeom prst="rect">
            <a:avLst/>
          </a:prstGeom>
          <a:noFill/>
          <a:ln>
            <a:noFill/>
          </a:ln>
        </p:spPr>
        <p:txBody>
          <a:bodyPr rtlCol="0" anchor="ctr" wrap="square" lIns="0" tIns="0" rIns="0" bIns="0">
            <a:noAutofit/>
          </a:bodyPr>
          <a:lstStyle/>
          <a:p>
            <a:pPr algn="l">
              <a:lnSpc>
                <a:spcPct val="100000"/>
              </a:lnSpc>
              <a:spcBef>
                <a:spcPts val="0"/>
              </a:spcBef>
              <a:spcAft>
                <a:spcPts val="1400"/>
              </a:spcAft>
            </a:pPr>
            <a:r>
              <a:rPr sz="3400" b="1" i="0">
                <a:solidFill>
                  <a:srgbClr val="22304A"/>
                </a:solidFill>
                <a:latin typeface="Georgia"/>
              </a:rPr>
              <a:t>The fast built-in sorts of C++, Go and Rust are all quick sort variants.</a:t>
            </a:r>
          </a:p>
          <a:p>
            <a:pPr algn="l">
              <a:lnSpc>
                <a:spcPct val="100000"/>
              </a:lnSpc>
              <a:spcBef>
                <a:spcPts val="0"/>
              </a:spcBef>
              <a:spcAft>
                <a:spcPts val="1000"/>
              </a:spcAft>
            </a:pPr>
            <a:r>
              <a:rPr sz="2200" b="0" i="0">
                <a:solidFill>
                  <a:srgbClr val="66758C"/>
                </a:solidFill>
                <a:latin typeface="Segoe UI"/>
              </a:rPr>
              <a:t>Merge sort guarantees O(n log n). Quick sort can fall to O(n²).</a:t>
            </a:r>
          </a:p>
          <a:p>
            <a:pPr algn="l">
              <a:lnSpc>
                <a:spcPct val="100000"/>
              </a:lnSpc>
              <a:spcBef>
                <a:spcPts val="0"/>
              </a:spcBef>
              <a:spcAft>
                <a:spcPts val="0"/>
              </a:spcAft>
            </a:pPr>
            <a:r>
              <a:rPr sz="2400" b="1" i="0">
                <a:solidFill>
                  <a:srgbClr val="22304A"/>
                </a:solidFill>
                <a:latin typeface="Segoe UI"/>
              </a:rPr>
              <a:t>So why does quick sort win?</a:t>
            </a:r>
          </a:p>
        </p:txBody>
      </p:sp>
      <p:sp>
        <p:nvSpPr>
          <p:cNvPr id="10" name="Rounded Rectangle 9"/>
          <p:cNvSpPr/>
          <p:nvPr/>
        </p:nvSpPr>
        <p:spPr>
          <a:xfrm>
            <a:off x="822960" y="4846320"/>
            <a:ext cx="10817352" cy="1188720"/>
          </a:xfrm>
          <a:prstGeom prst="roundRect">
            <a:avLst>
              <a:gd name="adj" fmla="val 11538"/>
            </a:avLst>
          </a:prstGeom>
          <a:solidFill>
            <a:srgbClr val="E8F2FB"/>
          </a:solidFill>
          <a:ln>
            <a:noFill/>
          </a:ln>
        </p:spPr>
        <p:txBody>
          <a:bodyPr rtlCol="0" anchor="ctr"/>
          <a:lstStyle/>
          <a:p>
            <a:pPr algn="ctr"/>
          </a:p>
        </p:txBody>
      </p:sp>
      <p:sp>
        <p:nvSpPr>
          <p:cNvPr id="11" name="Rectangle 10"/>
          <p:cNvSpPr/>
          <p:nvPr/>
        </p:nvSpPr>
        <p:spPr>
          <a:xfrm>
            <a:off x="1051560" y="4983480"/>
            <a:ext cx="2011680" cy="91440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4400" b="1" i="0">
                <a:solidFill>
                  <a:srgbClr val="4F8FCB"/>
                </a:solidFill>
                <a:latin typeface="Georgia"/>
              </a:rPr>
              <a:t>1959</a:t>
            </a:r>
          </a:p>
        </p:txBody>
      </p:sp>
      <p:sp>
        <p:nvSpPr>
          <p:cNvPr id="12" name="Rectangle 11"/>
          <p:cNvSpPr/>
          <p:nvPr/>
        </p:nvSpPr>
        <p:spPr>
          <a:xfrm>
            <a:off x="3154680" y="4983480"/>
            <a:ext cx="8229600" cy="91440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700" b="0" i="0">
                <a:solidFill>
                  <a:srgbClr val="22304A"/>
                </a:solidFill>
                <a:latin typeface="Segoe UI"/>
              </a:rPr>
              <a:t>Tony Hoare invents quick sort as a visiting student at Moscow State University, while working on a machine translation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Same recipe, different place for the work</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01 · THE IDEA</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4</a:t>
            </a:r>
          </a:p>
        </p:txBody>
      </p:sp>
      <p:graphicFrame>
        <p:nvGraphicFramePr>
          <p:cNvPr id="8" name="Table 7"/>
          <p:cNvGraphicFramePr>
            <a:graphicFrameLocks noGrp="1"/>
          </p:cNvGraphicFramePr>
          <p:nvPr/>
        </p:nvGraphicFramePr>
        <p:xfrm>
          <a:off x="548640" y="1691640"/>
          <a:ext cx="11091672" cy="3291840"/>
        </p:xfrm>
        <a:graphic>
          <a:graphicData uri="http://schemas.openxmlformats.org/drawingml/2006/table">
            <a:tbl>
              <a:tblPr>
                <a:tableStyleId>{2D5ABB26-0587-4C30-8999-92F81FD0307C}</a:tableStyleId>
              </a:tblPr>
              <a:tblGrid>
                <a:gridCol w="1828800"/>
                <a:gridCol w="4631436"/>
                <a:gridCol w="4631436"/>
              </a:tblGrid>
              <a:tr h="548640">
                <a:tc>
                  <a:txBody>
                    <a:bodyPr wrap="square"/>
                    <a:lstStyle/>
                    <a:p>
                      <a:pPr algn="l">
                        <a:lnSpc>
                          <a:spcPct val="100000"/>
                        </a:lnSpc>
                      </a:pPr>
                      <a:r>
                        <a:rPr sz="1600" b="1">
                          <a:solidFill>
                            <a:srgbClr val="22304A"/>
                          </a:solidFill>
                          <a:latin typeface="Segoe UI"/>
                        </a:rPr>
                        <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600" b="1">
                          <a:solidFill>
                            <a:srgbClr val="22304A"/>
                          </a:solidFill>
                          <a:latin typeface="Segoe UI"/>
                        </a:rPr>
                        <a:t>Merge sort</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600" b="1">
                          <a:solidFill>
                            <a:srgbClr val="22304A"/>
                          </a:solidFill>
                          <a:latin typeface="Segoe UI"/>
                        </a:rPr>
                        <a:t>Quick sort</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r>
              <a:tr h="914400">
                <a:tc>
                  <a:txBody>
                    <a:bodyPr wrap="square"/>
                    <a:lstStyle/>
                    <a:p>
                      <a:pPr algn="l">
                        <a:lnSpc>
                          <a:spcPct val="100000"/>
                        </a:lnSpc>
                      </a:pPr>
                      <a:r>
                        <a:rPr sz="1700" b="1">
                          <a:solidFill>
                            <a:srgbClr val="22304A"/>
                          </a:solidFill>
                          <a:latin typeface="Segoe UI"/>
                        </a:rPr>
                        <a:t>Divide</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700" b="0">
                          <a:solidFill>
                            <a:srgbClr val="22304A"/>
                          </a:solidFill>
                          <a:latin typeface="Segoe UI"/>
                        </a:rPr>
                        <a:t>Trivial: cut the array in the middle</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700" b="1">
                          <a:solidFill>
                            <a:srgbClr val="22304A"/>
                          </a:solidFill>
                          <a:latin typeface="Segoe UI"/>
                        </a:rPr>
                        <a:t>The real work: partition around a pivot</a:t>
                      </a:r>
                    </a:p>
                  </a:txBody>
                  <a:tcPr marL="128016" marT="45720" marR="128016" marB="45720" anchor="ctr">
                    <a:lnL w="57150" cap="flat" cmpd="sng">
                      <a:solidFill>
                        <a:srgbClr val="E07A5F"/>
                      </a:solidFill>
                      <a:prstDash val="solid"/>
                    </a:lnL>
                    <a:lnR w="0">
                      <a:noFill/>
                    </a:lnR>
                    <a:lnT w="0">
                      <a:noFill/>
                    </a:lnT>
                    <a:lnB w="9525" cap="flat" cmpd="sng">
                      <a:solidFill>
                        <a:srgbClr val="BCD8F1"/>
                      </a:solidFill>
                      <a:prstDash val="solid"/>
                    </a:lnB>
                    <a:solidFill>
                      <a:srgbClr val="FBE3DB"/>
                    </a:solidFill>
                  </a:tcPr>
                </a:tc>
              </a:tr>
              <a:tr h="914400">
                <a:tc>
                  <a:txBody>
                    <a:bodyPr wrap="square"/>
                    <a:lstStyle/>
                    <a:p>
                      <a:pPr algn="l">
                        <a:lnSpc>
                          <a:spcPct val="100000"/>
                        </a:lnSpc>
                      </a:pPr>
                      <a:r>
                        <a:rPr sz="1700" b="1">
                          <a:solidFill>
                            <a:srgbClr val="22304A"/>
                          </a:solidFill>
                          <a:latin typeface="Segoe UI"/>
                        </a:rPr>
                        <a:t>Conquer</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700" b="0">
                          <a:solidFill>
                            <a:srgbClr val="22304A"/>
                          </a:solidFill>
                          <a:latin typeface="Segoe UI"/>
                        </a:rPr>
                        <a:t>Sort both halves recursively</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700" b="0">
                          <a:solidFill>
                            <a:srgbClr val="22304A"/>
                          </a:solidFill>
                          <a:latin typeface="Segoe UI"/>
                        </a:rPr>
                        <a:t>Sort both parts recursively</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r>
              <a:tr h="914400">
                <a:tc>
                  <a:txBody>
                    <a:bodyPr wrap="square"/>
                    <a:lstStyle/>
                    <a:p>
                      <a:pPr algn="l">
                        <a:lnSpc>
                          <a:spcPct val="100000"/>
                        </a:lnSpc>
                      </a:pPr>
                      <a:r>
                        <a:rPr sz="1700" b="1">
                          <a:solidFill>
                            <a:srgbClr val="22304A"/>
                          </a:solidFill>
                          <a:latin typeface="Segoe UI"/>
                        </a:rPr>
                        <a:t>Combine</a:t>
                      </a:r>
                    </a:p>
                  </a:txBody>
                  <a:tcPr marL="128016" marT="45720" marR="128016" marB="45720" anchor="ctr">
                    <a:lnL w="0">
                      <a:noFill/>
                    </a:lnL>
                    <a:lnR w="0">
                      <a:noFill/>
                    </a:lnR>
                    <a:lnT w="0">
                      <a:noFill/>
                    </a:lnT>
                    <a:lnB w="12700" cap="flat" cmpd="sng">
                      <a:solidFill>
                        <a:srgbClr val="4F8FCB"/>
                      </a:solidFill>
                      <a:prstDash val="solid"/>
                    </a:lnB>
                    <a:solidFill>
                      <a:srgbClr val="FFFFFF"/>
                    </a:solidFill>
                  </a:tcPr>
                </a:tc>
                <a:tc>
                  <a:txBody>
                    <a:bodyPr wrap="square"/>
                    <a:lstStyle/>
                    <a:p>
                      <a:pPr algn="l">
                        <a:lnSpc>
                          <a:spcPct val="100000"/>
                        </a:lnSpc>
                      </a:pPr>
                      <a:r>
                        <a:rPr sz="1700" b="1">
                          <a:solidFill>
                            <a:srgbClr val="22304A"/>
                          </a:solidFill>
                          <a:latin typeface="Segoe UI"/>
                        </a:rPr>
                        <a:t>The real work: merge two sorted halves</a:t>
                      </a:r>
                    </a:p>
                  </a:txBody>
                  <a:tcPr marL="128016" marT="45720" marR="128016" marB="45720" anchor="ctr">
                    <a:lnL w="57150" cap="flat" cmpd="sng">
                      <a:solidFill>
                        <a:srgbClr val="E07A5F"/>
                      </a:solidFill>
                      <a:prstDash val="solid"/>
                    </a:lnL>
                    <a:lnR w="0">
                      <a:noFill/>
                    </a:lnR>
                    <a:lnT w="0">
                      <a:noFill/>
                    </a:lnT>
                    <a:lnB w="12700" cap="flat" cmpd="sng">
                      <a:solidFill>
                        <a:srgbClr val="4F8FCB"/>
                      </a:solidFill>
                      <a:prstDash val="solid"/>
                    </a:lnB>
                    <a:solidFill>
                      <a:srgbClr val="FBE3DB"/>
                    </a:solidFill>
                  </a:tcPr>
                </a:tc>
                <a:tc>
                  <a:txBody>
                    <a:bodyPr wrap="square"/>
                    <a:lstStyle/>
                    <a:p>
                      <a:pPr algn="l">
                        <a:lnSpc>
                          <a:spcPct val="100000"/>
                        </a:lnSpc>
                      </a:pPr>
                      <a:r>
                        <a:rPr sz="1700" b="0">
                          <a:solidFill>
                            <a:srgbClr val="22304A"/>
                          </a:solidFill>
                          <a:latin typeface="Segoe UI"/>
                        </a:rPr>
                        <a:t>Nothing. The array is already in order</a:t>
                      </a:r>
                    </a:p>
                  </a:txBody>
                  <a:tcPr marL="128016" marT="45720" marR="128016" marB="45720" anchor="ctr">
                    <a:lnL w="0">
                      <a:noFill/>
                    </a:lnL>
                    <a:lnR w="0">
                      <a:noFill/>
                    </a:lnR>
                    <a:lnT w="0">
                      <a:noFill/>
                    </a:lnT>
                    <a:lnB w="12700" cap="flat" cmpd="sng">
                      <a:solidFill>
                        <a:srgbClr val="4F8FCB"/>
                      </a:solidFill>
                      <a:prstDash val="solid"/>
                    </a:lnB>
                    <a:solidFill>
                      <a:srgbClr val="FFFFFF"/>
                    </a:solidFill>
                  </a:tcPr>
                </a:tc>
              </a:tr>
            </a:tbl>
          </a:graphicData>
        </a:graphic>
      </p:graphicFrame>
      <p:sp>
        <p:nvSpPr>
          <p:cNvPr id="9" name="Rectangle 8"/>
          <p:cNvSpPr/>
          <p:nvPr/>
        </p:nvSpPr>
        <p:spPr>
          <a:xfrm>
            <a:off x="548640" y="5257800"/>
            <a:ext cx="11094415" cy="50292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600" b="1" i="0">
                <a:solidFill>
                  <a:srgbClr val="22304A"/>
                </a:solidFill>
                <a:latin typeface="Georgia"/>
              </a:rPr>
              <a:t>Quick sort moves the effort from combine to divide.</a:t>
            </a:r>
          </a:p>
        </p:txBody>
      </p:sp>
      <p:sp>
        <p:nvSpPr>
          <p:cNvPr id="10" name="Rectangle 9"/>
          <p:cNvSpPr/>
          <p:nvPr/>
        </p:nvSpPr>
        <p:spPr>
          <a:xfrm>
            <a:off x="548640" y="5760720"/>
            <a:ext cx="11094415"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600" b="0" i="0">
                <a:solidFill>
                  <a:srgbClr val="66758C"/>
                </a:solidFill>
                <a:latin typeface="Segoe UI"/>
              </a:rPr>
              <a:t>The two parts are independent, so nothing has to be put back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After one partition, the pivot is home</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01 · THE IDEA</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5</a:t>
            </a:r>
          </a:p>
        </p:txBody>
      </p:sp>
      <p:sp>
        <p:nvSpPr>
          <p:cNvPr id="8" name="Rounded Rectangle 7"/>
          <p:cNvSpPr/>
          <p:nvPr/>
        </p:nvSpPr>
        <p:spPr>
          <a:xfrm>
            <a:off x="548640" y="1691640"/>
            <a:ext cx="4572000" cy="1417320"/>
          </a:xfrm>
          <a:prstGeom prst="roundRect">
            <a:avLst>
              <a:gd name="adj" fmla="val 7741"/>
            </a:avLst>
          </a:prstGeom>
          <a:solidFill>
            <a:srgbClr val="BCD8F1"/>
          </a:solidFill>
          <a:ln w="19050">
            <a:solidFill>
              <a:srgbClr val="4F8FCB"/>
            </a:solidFill>
          </a:ln>
        </p:spPr>
        <p:txBody>
          <a:bodyPr rtlCol="0" anchor="ctr" wrap="square" lIns="73152" tIns="36576" rIns="73152" bIns="36576">
            <a:noAutofit/>
          </a:bodyPr>
          <a:lstStyle/>
          <a:p>
            <a:pPr algn="ctr">
              <a:lnSpc>
                <a:spcPct val="100000"/>
              </a:lnSpc>
              <a:spcBef>
                <a:spcPts val="0"/>
              </a:spcBef>
              <a:spcAft>
                <a:spcPts val="0"/>
              </a:spcAft>
            </a:pPr>
            <a:r>
              <a:rPr sz="4400" b="1" i="0">
                <a:solidFill>
                  <a:srgbClr val="22304A"/>
                </a:solidFill>
                <a:latin typeface="Georgia"/>
              </a:rPr>
              <a:t>≤ v</a:t>
            </a:r>
          </a:p>
          <a:p>
            <a:pPr algn="ctr">
              <a:lnSpc>
                <a:spcPct val="100000"/>
              </a:lnSpc>
              <a:spcBef>
                <a:spcPts val="0"/>
              </a:spcBef>
              <a:spcAft>
                <a:spcPts val="0"/>
              </a:spcAft>
            </a:pPr>
            <a:r>
              <a:rPr sz="1600" b="0" i="0">
                <a:solidFill>
                  <a:srgbClr val="66758C"/>
                </a:solidFill>
                <a:latin typeface="Consolas"/>
              </a:rPr>
              <a:t>A[low .. j−1]</a:t>
            </a:r>
          </a:p>
        </p:txBody>
      </p:sp>
      <p:sp>
        <p:nvSpPr>
          <p:cNvPr id="9" name="Rounded Rectangle 8"/>
          <p:cNvSpPr/>
          <p:nvPr/>
        </p:nvSpPr>
        <p:spPr>
          <a:xfrm>
            <a:off x="5257800" y="1691640"/>
            <a:ext cx="1673352" cy="1417320"/>
          </a:xfrm>
          <a:prstGeom prst="roundRect">
            <a:avLst>
              <a:gd name="adj" fmla="val 7741"/>
            </a:avLst>
          </a:prstGeom>
          <a:solidFill>
            <a:srgbClr val="F3A08A"/>
          </a:solidFill>
          <a:ln w="25400">
            <a:solidFill>
              <a:srgbClr val="E07A5F"/>
            </a:solidFill>
          </a:ln>
        </p:spPr>
        <p:txBody>
          <a:bodyPr rtlCol="0" anchor="ctr" wrap="square" lIns="73152" tIns="36576" rIns="73152" bIns="36576">
            <a:noAutofit/>
          </a:bodyPr>
          <a:lstStyle/>
          <a:p>
            <a:pPr algn="ctr">
              <a:lnSpc>
                <a:spcPct val="100000"/>
              </a:lnSpc>
              <a:spcBef>
                <a:spcPts val="0"/>
              </a:spcBef>
              <a:spcAft>
                <a:spcPts val="0"/>
              </a:spcAft>
            </a:pPr>
            <a:r>
              <a:rPr sz="4800" b="1" i="0">
                <a:solidFill>
                  <a:srgbClr val="22304A"/>
                </a:solidFill>
                <a:latin typeface="Georgia"/>
              </a:rPr>
              <a:t>v</a:t>
            </a:r>
          </a:p>
          <a:p>
            <a:pPr algn="ctr">
              <a:lnSpc>
                <a:spcPct val="100000"/>
              </a:lnSpc>
              <a:spcBef>
                <a:spcPts val="0"/>
              </a:spcBef>
              <a:spcAft>
                <a:spcPts val="0"/>
              </a:spcAft>
            </a:pPr>
            <a:r>
              <a:rPr sz="1600" b="0" i="0">
                <a:solidFill>
                  <a:srgbClr val="22304A"/>
                </a:solidFill>
                <a:latin typeface="Consolas"/>
              </a:rPr>
              <a:t>A[j]</a:t>
            </a:r>
          </a:p>
        </p:txBody>
      </p:sp>
      <p:sp>
        <p:nvSpPr>
          <p:cNvPr id="10" name="Rounded Rectangle 9"/>
          <p:cNvSpPr/>
          <p:nvPr/>
        </p:nvSpPr>
        <p:spPr>
          <a:xfrm>
            <a:off x="7068312" y="1691640"/>
            <a:ext cx="4572000" cy="1417320"/>
          </a:xfrm>
          <a:prstGeom prst="roundRect">
            <a:avLst>
              <a:gd name="adj" fmla="val 7741"/>
            </a:avLst>
          </a:prstGeom>
          <a:solidFill>
            <a:srgbClr val="BCD8F1"/>
          </a:solidFill>
          <a:ln w="19050">
            <a:solidFill>
              <a:srgbClr val="4F8FCB"/>
            </a:solidFill>
          </a:ln>
        </p:spPr>
        <p:txBody>
          <a:bodyPr rtlCol="0" anchor="ctr" wrap="square" lIns="73152" tIns="36576" rIns="73152" bIns="36576">
            <a:noAutofit/>
          </a:bodyPr>
          <a:lstStyle/>
          <a:p>
            <a:pPr algn="ctr">
              <a:lnSpc>
                <a:spcPct val="100000"/>
              </a:lnSpc>
              <a:spcBef>
                <a:spcPts val="0"/>
              </a:spcBef>
              <a:spcAft>
                <a:spcPts val="0"/>
              </a:spcAft>
            </a:pPr>
            <a:r>
              <a:rPr sz="4400" b="1" i="0">
                <a:solidFill>
                  <a:srgbClr val="22304A"/>
                </a:solidFill>
                <a:latin typeface="Georgia"/>
              </a:rPr>
              <a:t>≥ v</a:t>
            </a:r>
          </a:p>
          <a:p>
            <a:pPr algn="ctr">
              <a:lnSpc>
                <a:spcPct val="100000"/>
              </a:lnSpc>
              <a:spcBef>
                <a:spcPts val="0"/>
              </a:spcBef>
              <a:spcAft>
                <a:spcPts val="0"/>
              </a:spcAft>
            </a:pPr>
            <a:r>
              <a:rPr sz="1600" b="0" i="0">
                <a:solidFill>
                  <a:srgbClr val="66758C"/>
                </a:solidFill>
                <a:latin typeface="Consolas"/>
              </a:rPr>
              <a:t>A[j+1 .. high]</a:t>
            </a:r>
          </a:p>
        </p:txBody>
      </p:sp>
      <p:sp>
        <p:nvSpPr>
          <p:cNvPr id="11" name="Rectangle 10"/>
          <p:cNvSpPr/>
          <p:nvPr/>
        </p:nvSpPr>
        <p:spPr>
          <a:xfrm>
            <a:off x="548640" y="3200400"/>
            <a:ext cx="4572000" cy="365760"/>
          </a:xfrm>
          <a:prstGeom prst="rect">
            <a:avLst/>
          </a:prstGeom>
          <a:noFill/>
          <a:ln>
            <a:noFill/>
          </a:ln>
        </p:spPr>
        <p:txBody>
          <a:bodyPr rtlCol="0" anchor="ctr" wrap="square" lIns="0" tIns="0" rIns="0" bIns="0">
            <a:noAutofit/>
          </a:bodyPr>
          <a:lstStyle/>
          <a:p>
            <a:pPr algn="ctr">
              <a:lnSpc>
                <a:spcPct val="100000"/>
              </a:lnSpc>
              <a:spcBef>
                <a:spcPts val="0"/>
              </a:spcBef>
              <a:spcAft>
                <a:spcPts val="0"/>
              </a:spcAft>
            </a:pPr>
            <a:r>
              <a:rPr sz="1600" b="0" i="0">
                <a:solidFill>
                  <a:srgbClr val="66758C"/>
                </a:solidFill>
                <a:latin typeface="Segoe UI"/>
              </a:rPr>
              <a:t>sorted on its own</a:t>
            </a:r>
          </a:p>
        </p:txBody>
      </p:sp>
      <p:sp>
        <p:nvSpPr>
          <p:cNvPr id="12" name="Rectangle 11"/>
          <p:cNvSpPr/>
          <p:nvPr/>
        </p:nvSpPr>
        <p:spPr>
          <a:xfrm>
            <a:off x="5257800" y="3200400"/>
            <a:ext cx="1673352" cy="365760"/>
          </a:xfrm>
          <a:prstGeom prst="rect">
            <a:avLst/>
          </a:prstGeom>
          <a:noFill/>
          <a:ln>
            <a:noFill/>
          </a:ln>
        </p:spPr>
        <p:txBody>
          <a:bodyPr rtlCol="0" anchor="ctr" wrap="square" lIns="0" tIns="0" rIns="0" bIns="0">
            <a:noAutofit/>
          </a:bodyPr>
          <a:lstStyle/>
          <a:p>
            <a:pPr algn="ctr">
              <a:lnSpc>
                <a:spcPct val="100000"/>
              </a:lnSpc>
              <a:spcBef>
                <a:spcPts val="0"/>
              </a:spcBef>
              <a:spcAft>
                <a:spcPts val="0"/>
              </a:spcAft>
            </a:pPr>
            <a:r>
              <a:rPr sz="1600" b="1" i="0">
                <a:solidFill>
                  <a:srgbClr val="22304A"/>
                </a:solidFill>
                <a:latin typeface="Segoe UI"/>
              </a:rPr>
              <a:t>final position</a:t>
            </a:r>
          </a:p>
        </p:txBody>
      </p:sp>
      <p:sp>
        <p:nvSpPr>
          <p:cNvPr id="13" name="Rectangle 12"/>
          <p:cNvSpPr/>
          <p:nvPr/>
        </p:nvSpPr>
        <p:spPr>
          <a:xfrm>
            <a:off x="7068312" y="3200400"/>
            <a:ext cx="4572000" cy="365760"/>
          </a:xfrm>
          <a:prstGeom prst="rect">
            <a:avLst/>
          </a:prstGeom>
          <a:noFill/>
          <a:ln>
            <a:noFill/>
          </a:ln>
        </p:spPr>
        <p:txBody>
          <a:bodyPr rtlCol="0" anchor="ctr" wrap="square" lIns="0" tIns="0" rIns="0" bIns="0">
            <a:noAutofit/>
          </a:bodyPr>
          <a:lstStyle/>
          <a:p>
            <a:pPr algn="ctr">
              <a:lnSpc>
                <a:spcPct val="100000"/>
              </a:lnSpc>
              <a:spcBef>
                <a:spcPts val="0"/>
              </a:spcBef>
              <a:spcAft>
                <a:spcPts val="0"/>
              </a:spcAft>
            </a:pPr>
            <a:r>
              <a:rPr sz="1600" b="0" i="0">
                <a:solidFill>
                  <a:srgbClr val="66758C"/>
                </a:solidFill>
                <a:latin typeface="Segoe UI"/>
              </a:rPr>
              <a:t>sorted on its own</a:t>
            </a:r>
          </a:p>
        </p:txBody>
      </p:sp>
      <p:sp>
        <p:nvSpPr>
          <p:cNvPr id="14" name="Rounded Rectangle 13"/>
          <p:cNvSpPr/>
          <p:nvPr/>
        </p:nvSpPr>
        <p:spPr>
          <a:xfrm>
            <a:off x="548640" y="4023360"/>
            <a:ext cx="3515258" cy="2011680"/>
          </a:xfrm>
          <a:prstGeom prst="roundRect">
            <a:avLst>
              <a:gd name="adj" fmla="val 6818"/>
            </a:avLst>
          </a:prstGeom>
          <a:solidFill>
            <a:srgbClr val="E8F2FB"/>
          </a:solidFill>
          <a:ln>
            <a:noFill/>
          </a:ln>
        </p:spPr>
        <p:txBody>
          <a:bodyPr rtlCol="0" anchor="ctr"/>
          <a:lstStyle/>
          <a:p>
            <a:pPr algn="ctr"/>
          </a:p>
        </p:txBody>
      </p:sp>
      <p:sp>
        <p:nvSpPr>
          <p:cNvPr id="15" name="Rectangle 14"/>
          <p:cNvSpPr/>
          <p:nvPr/>
        </p:nvSpPr>
        <p:spPr>
          <a:xfrm>
            <a:off x="731520" y="4114800"/>
            <a:ext cx="731520" cy="6400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3600" b="1" i="0">
                <a:solidFill>
                  <a:srgbClr val="4F8FCB"/>
                </a:solidFill>
                <a:latin typeface="Georgia"/>
              </a:rPr>
              <a:t>1</a:t>
            </a:r>
          </a:p>
        </p:txBody>
      </p:sp>
      <p:sp>
        <p:nvSpPr>
          <p:cNvPr id="16" name="Rectangle 15"/>
          <p:cNvSpPr/>
          <p:nvPr/>
        </p:nvSpPr>
        <p:spPr>
          <a:xfrm>
            <a:off x="731520" y="4773168"/>
            <a:ext cx="3149498"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900" b="1" i="0">
                <a:solidFill>
                  <a:srgbClr val="22304A"/>
                </a:solidFill>
                <a:latin typeface="Segoe UI"/>
              </a:rPr>
              <a:t>Pick a pivot v</a:t>
            </a:r>
          </a:p>
        </p:txBody>
      </p:sp>
      <p:sp>
        <p:nvSpPr>
          <p:cNvPr id="17" name="Rectangle 16"/>
          <p:cNvSpPr/>
          <p:nvPr/>
        </p:nvSpPr>
        <p:spPr>
          <a:xfrm>
            <a:off x="731520" y="5212080"/>
            <a:ext cx="3149498" cy="777240"/>
          </a:xfrm>
          <a:prstGeom prst="rect">
            <a:avLst/>
          </a:prstGeom>
          <a:noFill/>
          <a:ln>
            <a:noFill/>
          </a:ln>
        </p:spPr>
        <p:txBody>
          <a:bodyPr rtlCol="0" anchor="t" wrap="square" lIns="0" tIns="0" rIns="0" bIns="0">
            <a:noAutofit/>
          </a:bodyPr>
          <a:lstStyle/>
          <a:p>
            <a:pPr algn="l">
              <a:lnSpc>
                <a:spcPct val="100000"/>
              </a:lnSpc>
              <a:spcBef>
                <a:spcPts val="0"/>
              </a:spcBef>
              <a:spcAft>
                <a:spcPts val="0"/>
              </a:spcAft>
            </a:pPr>
            <a:r>
              <a:rPr sz="1500" b="0" i="0">
                <a:solidFill>
                  <a:srgbClr val="66758C"/>
                </a:solidFill>
                <a:latin typeface="Segoe UI"/>
              </a:rPr>
              <a:t>Here we take the first element, A[low].</a:t>
            </a:r>
          </a:p>
        </p:txBody>
      </p:sp>
      <p:sp>
        <p:nvSpPr>
          <p:cNvPr id="18" name="Rounded Rectangle 17"/>
          <p:cNvSpPr/>
          <p:nvPr/>
        </p:nvSpPr>
        <p:spPr>
          <a:xfrm>
            <a:off x="4338218" y="4023360"/>
            <a:ext cx="3515258" cy="2011680"/>
          </a:xfrm>
          <a:prstGeom prst="roundRect">
            <a:avLst>
              <a:gd name="adj" fmla="val 6818"/>
            </a:avLst>
          </a:prstGeom>
          <a:solidFill>
            <a:srgbClr val="E8F2FB"/>
          </a:solidFill>
          <a:ln>
            <a:noFill/>
          </a:ln>
        </p:spPr>
        <p:txBody>
          <a:bodyPr rtlCol="0" anchor="ctr"/>
          <a:lstStyle/>
          <a:p>
            <a:pPr algn="ctr"/>
          </a:p>
        </p:txBody>
      </p:sp>
      <p:sp>
        <p:nvSpPr>
          <p:cNvPr id="19" name="Rectangle 18"/>
          <p:cNvSpPr/>
          <p:nvPr/>
        </p:nvSpPr>
        <p:spPr>
          <a:xfrm>
            <a:off x="4521098" y="4114800"/>
            <a:ext cx="731520" cy="6400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3600" b="1" i="0">
                <a:solidFill>
                  <a:srgbClr val="4F8FCB"/>
                </a:solidFill>
                <a:latin typeface="Georgia"/>
              </a:rPr>
              <a:t>2</a:t>
            </a:r>
          </a:p>
        </p:txBody>
      </p:sp>
      <p:sp>
        <p:nvSpPr>
          <p:cNvPr id="20" name="Rectangle 19"/>
          <p:cNvSpPr/>
          <p:nvPr/>
        </p:nvSpPr>
        <p:spPr>
          <a:xfrm>
            <a:off x="4521098" y="4773168"/>
            <a:ext cx="3149498"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900" b="1" i="0">
                <a:solidFill>
                  <a:srgbClr val="22304A"/>
                </a:solidFill>
                <a:latin typeface="Segoe UI"/>
              </a:rPr>
              <a:t>Partition</a:t>
            </a:r>
          </a:p>
        </p:txBody>
      </p:sp>
      <p:sp>
        <p:nvSpPr>
          <p:cNvPr id="21" name="Rectangle 20"/>
          <p:cNvSpPr/>
          <p:nvPr/>
        </p:nvSpPr>
        <p:spPr>
          <a:xfrm>
            <a:off x="4521098" y="5212080"/>
            <a:ext cx="3149498" cy="777240"/>
          </a:xfrm>
          <a:prstGeom prst="rect">
            <a:avLst/>
          </a:prstGeom>
          <a:noFill/>
          <a:ln>
            <a:noFill/>
          </a:ln>
        </p:spPr>
        <p:txBody>
          <a:bodyPr rtlCol="0" anchor="t" wrap="square" lIns="0" tIns="0" rIns="0" bIns="0">
            <a:noAutofit/>
          </a:bodyPr>
          <a:lstStyle/>
          <a:p>
            <a:pPr algn="l">
              <a:lnSpc>
                <a:spcPct val="100000"/>
              </a:lnSpc>
              <a:spcBef>
                <a:spcPts val="0"/>
              </a:spcBef>
              <a:spcAft>
                <a:spcPts val="0"/>
              </a:spcAft>
            </a:pPr>
            <a:r>
              <a:rPr sz="1500" b="0" i="0">
                <a:solidFill>
                  <a:srgbClr val="66758C"/>
                </a:solidFill>
                <a:latin typeface="Segoe UI"/>
              </a:rPr>
              <a:t>Smaller or equal values go left, larger or equal go right.</a:t>
            </a:r>
          </a:p>
        </p:txBody>
      </p:sp>
      <p:sp>
        <p:nvSpPr>
          <p:cNvPr id="22" name="Rounded Rectangle 21"/>
          <p:cNvSpPr/>
          <p:nvPr/>
        </p:nvSpPr>
        <p:spPr>
          <a:xfrm>
            <a:off x="8127796" y="4023360"/>
            <a:ext cx="3515258" cy="2011680"/>
          </a:xfrm>
          <a:prstGeom prst="roundRect">
            <a:avLst>
              <a:gd name="adj" fmla="val 6818"/>
            </a:avLst>
          </a:prstGeom>
          <a:solidFill>
            <a:srgbClr val="E8F2FB"/>
          </a:solidFill>
          <a:ln>
            <a:noFill/>
          </a:ln>
        </p:spPr>
        <p:txBody>
          <a:bodyPr rtlCol="0" anchor="ctr"/>
          <a:lstStyle/>
          <a:p>
            <a:pPr algn="ctr"/>
          </a:p>
        </p:txBody>
      </p:sp>
      <p:sp>
        <p:nvSpPr>
          <p:cNvPr id="23" name="Rectangle 22"/>
          <p:cNvSpPr/>
          <p:nvPr/>
        </p:nvSpPr>
        <p:spPr>
          <a:xfrm>
            <a:off x="8310676" y="4114800"/>
            <a:ext cx="731520" cy="6400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3600" b="1" i="0">
                <a:solidFill>
                  <a:srgbClr val="4F8FCB"/>
                </a:solidFill>
                <a:latin typeface="Georgia"/>
              </a:rPr>
              <a:t>3</a:t>
            </a:r>
          </a:p>
        </p:txBody>
      </p:sp>
      <p:sp>
        <p:nvSpPr>
          <p:cNvPr id="24" name="Rectangle 23"/>
          <p:cNvSpPr/>
          <p:nvPr/>
        </p:nvSpPr>
        <p:spPr>
          <a:xfrm>
            <a:off x="8310676" y="4773168"/>
            <a:ext cx="3149498"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900" b="1" i="0">
                <a:solidFill>
                  <a:srgbClr val="22304A"/>
                </a:solidFill>
                <a:latin typeface="Segoe UI"/>
              </a:rPr>
              <a:t>Recurse on both sides</a:t>
            </a:r>
          </a:p>
        </p:txBody>
      </p:sp>
      <p:sp>
        <p:nvSpPr>
          <p:cNvPr id="25" name="Rectangle 24"/>
          <p:cNvSpPr/>
          <p:nvPr/>
        </p:nvSpPr>
        <p:spPr>
          <a:xfrm>
            <a:off x="8310676" y="5212080"/>
            <a:ext cx="3149498" cy="777240"/>
          </a:xfrm>
          <a:prstGeom prst="rect">
            <a:avLst/>
          </a:prstGeom>
          <a:noFill/>
          <a:ln>
            <a:noFill/>
          </a:ln>
        </p:spPr>
        <p:txBody>
          <a:bodyPr rtlCol="0" anchor="t" wrap="square" lIns="0" tIns="0" rIns="0" bIns="0">
            <a:noAutofit/>
          </a:bodyPr>
          <a:lstStyle/>
          <a:p>
            <a:pPr algn="l">
              <a:lnSpc>
                <a:spcPct val="100000"/>
              </a:lnSpc>
              <a:spcBef>
                <a:spcPts val="0"/>
              </a:spcBef>
              <a:spcAft>
                <a:spcPts val="0"/>
              </a:spcAft>
            </a:pPr>
            <a:r>
              <a:rPr sz="1500" b="0" i="0">
                <a:solidFill>
                  <a:srgbClr val="66758C"/>
                </a:solidFill>
                <a:latin typeface="Segoe UI"/>
              </a:rPr>
              <a:t>The pivot is in its final spot and never moves again.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Partition: two pointers, one swap at the end</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02 · PARTITION</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6</a:t>
            </a:r>
          </a:p>
        </p:txBody>
      </p:sp>
      <p:sp>
        <p:nvSpPr>
          <p:cNvPr id="8" name="Rounded Rectangle 7"/>
          <p:cNvSpPr/>
          <p:nvPr/>
        </p:nvSpPr>
        <p:spPr>
          <a:xfrm>
            <a:off x="548640" y="1691640"/>
            <a:ext cx="6583680" cy="3657600"/>
          </a:xfrm>
          <a:prstGeom prst="roundRect">
            <a:avLst>
              <a:gd name="adj" fmla="val 3000"/>
            </a:avLst>
          </a:prstGeom>
          <a:solidFill>
            <a:srgbClr val="E8F2FB"/>
          </a:solidFill>
          <a:ln>
            <a:noFill/>
          </a:ln>
        </p:spPr>
        <p:txBody>
          <a:bodyPr rtlCol="0" anchor="ctr"/>
          <a:lstStyle/>
          <a:p>
            <a:pPr algn="ctr"/>
          </a:p>
        </p:txBody>
      </p:sp>
      <p:sp>
        <p:nvSpPr>
          <p:cNvPr id="9" name="Rectangle 8"/>
          <p:cNvSpPr/>
          <p:nvPr/>
        </p:nvSpPr>
        <p:spPr>
          <a:xfrm>
            <a:off x="548640" y="1691640"/>
            <a:ext cx="82296" cy="3657600"/>
          </a:xfrm>
          <a:prstGeom prst="rect">
            <a:avLst/>
          </a:prstGeom>
          <a:solidFill>
            <a:srgbClr val="4F8FCB"/>
          </a:solidFill>
          <a:ln>
            <a:noFill/>
          </a:ln>
        </p:spPr>
        <p:txBody>
          <a:bodyPr rtlCol="0" anchor="ctr"/>
          <a:lstStyle/>
          <a:p>
            <a:pPr algn="ctr"/>
          </a:p>
        </p:txBody>
      </p:sp>
      <p:sp>
        <p:nvSpPr>
          <p:cNvPr id="10" name="Rectangle 9"/>
          <p:cNvSpPr/>
          <p:nvPr/>
        </p:nvSpPr>
        <p:spPr>
          <a:xfrm>
            <a:off x="822959" y="1783080"/>
            <a:ext cx="6126480" cy="3474720"/>
          </a:xfrm>
          <a:prstGeom prst="rect">
            <a:avLst/>
          </a:prstGeom>
          <a:noFill/>
          <a:ln>
            <a:noFill/>
          </a:ln>
        </p:spPr>
        <p:txBody>
          <a:bodyPr rtlCol="0" anchor="ctr" wrap="square" lIns="45720" rIns="45720">
            <a:noAutofit/>
          </a:bodyPr>
          <a:lstStyle/>
          <a:p>
            <a:pPr algn="l">
              <a:lnSpc>
                <a:spcPct val="100000"/>
              </a:lnSpc>
              <a:spcBef>
                <a:spcPts val="0"/>
              </a:spcBef>
              <a:spcAft>
                <a:spcPts val="200"/>
              </a:spcAft>
            </a:pPr>
            <a:r>
              <a:rPr sz="1700" b="0" i="0">
                <a:solidFill>
                  <a:srgbClr val="66758C"/>
                </a:solidFill>
                <a:latin typeface="Consolas"/>
              </a:rPr>
              <a:t> 1  </a:t>
            </a:r>
            <a:r>
              <a:rPr sz="1700" b="1" i="0">
                <a:solidFill>
                  <a:srgbClr val="22304A"/>
                </a:solidFill>
                <a:latin typeface="Consolas"/>
              </a:rPr>
              <a:t>Partition(A, low, high)</a:t>
            </a:r>
          </a:p>
          <a:p>
            <a:pPr algn="l">
              <a:lnSpc>
                <a:spcPct val="100000"/>
              </a:lnSpc>
              <a:spcBef>
                <a:spcPts val="0"/>
              </a:spcBef>
              <a:spcAft>
                <a:spcPts val="200"/>
              </a:spcAft>
            </a:pPr>
            <a:r>
              <a:rPr sz="1700" b="0" i="0">
                <a:solidFill>
                  <a:srgbClr val="66758C"/>
                </a:solidFill>
                <a:latin typeface="Consolas"/>
              </a:rPr>
              <a:t> 2  </a:t>
            </a:r>
            <a:r>
              <a:rPr sz="1700" b="0" i="0">
                <a:solidFill>
                  <a:srgbClr val="22304A"/>
                </a:solidFill>
                <a:latin typeface="Consolas"/>
              </a:rPr>
              <a:t>  pivot = A[low]</a:t>
            </a:r>
          </a:p>
          <a:p>
            <a:pPr algn="l">
              <a:lnSpc>
                <a:spcPct val="100000"/>
              </a:lnSpc>
              <a:spcBef>
                <a:spcPts val="0"/>
              </a:spcBef>
              <a:spcAft>
                <a:spcPts val="200"/>
              </a:spcAft>
            </a:pPr>
            <a:r>
              <a:rPr sz="1700" b="0" i="0">
                <a:solidFill>
                  <a:srgbClr val="66758C"/>
                </a:solidFill>
                <a:latin typeface="Consolas"/>
              </a:rPr>
              <a:t> 3  </a:t>
            </a:r>
            <a:r>
              <a:rPr sz="1700" b="0" i="0">
                <a:solidFill>
                  <a:srgbClr val="22304A"/>
                </a:solidFill>
                <a:latin typeface="Consolas"/>
              </a:rPr>
              <a:t>  i = low + 1</a:t>
            </a:r>
          </a:p>
          <a:p>
            <a:pPr algn="l">
              <a:lnSpc>
                <a:spcPct val="100000"/>
              </a:lnSpc>
              <a:spcBef>
                <a:spcPts val="0"/>
              </a:spcBef>
              <a:spcAft>
                <a:spcPts val="200"/>
              </a:spcAft>
            </a:pPr>
            <a:r>
              <a:rPr sz="1700" b="0" i="0">
                <a:solidFill>
                  <a:srgbClr val="66758C"/>
                </a:solidFill>
                <a:latin typeface="Consolas"/>
              </a:rPr>
              <a:t> 4  </a:t>
            </a:r>
            <a:r>
              <a:rPr sz="1700" b="0" i="0">
                <a:solidFill>
                  <a:srgbClr val="22304A"/>
                </a:solidFill>
                <a:latin typeface="Consolas"/>
              </a:rPr>
              <a:t>  j = high</a:t>
            </a:r>
          </a:p>
          <a:p>
            <a:pPr algn="l">
              <a:lnSpc>
                <a:spcPct val="100000"/>
              </a:lnSpc>
              <a:spcBef>
                <a:spcPts val="0"/>
              </a:spcBef>
              <a:spcAft>
                <a:spcPts val="200"/>
              </a:spcAft>
            </a:pPr>
            <a:r>
              <a:rPr sz="1700" b="0" i="0">
                <a:solidFill>
                  <a:srgbClr val="66758C"/>
                </a:solidFill>
                <a:latin typeface="Consolas"/>
              </a:rPr>
              <a:t> 5  </a:t>
            </a:r>
            <a:r>
              <a:rPr sz="1700" b="0" i="0">
                <a:solidFill>
                  <a:srgbClr val="22304A"/>
                </a:solidFill>
                <a:latin typeface="Consolas"/>
              </a:rPr>
              <a:t>  while true</a:t>
            </a:r>
          </a:p>
          <a:p>
            <a:pPr algn="l">
              <a:lnSpc>
                <a:spcPct val="100000"/>
              </a:lnSpc>
              <a:spcBef>
                <a:spcPts val="0"/>
              </a:spcBef>
              <a:spcAft>
                <a:spcPts val="200"/>
              </a:spcAft>
            </a:pPr>
            <a:r>
              <a:rPr sz="1700" b="0" i="0">
                <a:solidFill>
                  <a:srgbClr val="66758C"/>
                </a:solidFill>
                <a:latin typeface="Consolas"/>
              </a:rPr>
              <a:t> 6  </a:t>
            </a:r>
            <a:r>
              <a:rPr sz="1700" b="0" i="0">
                <a:solidFill>
                  <a:srgbClr val="22304A"/>
                </a:solidFill>
                <a:latin typeface="Consolas"/>
              </a:rPr>
              <a:t>    while A[i] &lt;= pivot: i++</a:t>
            </a:r>
          </a:p>
          <a:p>
            <a:pPr algn="l">
              <a:lnSpc>
                <a:spcPct val="100000"/>
              </a:lnSpc>
              <a:spcBef>
                <a:spcPts val="0"/>
              </a:spcBef>
              <a:spcAft>
                <a:spcPts val="200"/>
              </a:spcAft>
            </a:pPr>
            <a:r>
              <a:rPr sz="1700" b="0" i="0">
                <a:solidFill>
                  <a:srgbClr val="66758C"/>
                </a:solidFill>
                <a:latin typeface="Consolas"/>
              </a:rPr>
              <a:t> 7  </a:t>
            </a:r>
            <a:r>
              <a:rPr sz="1700" b="0" i="0">
                <a:solidFill>
                  <a:srgbClr val="22304A"/>
                </a:solidFill>
                <a:latin typeface="Consolas"/>
              </a:rPr>
              <a:t>    while A[j] &gt;  pivot: j--</a:t>
            </a:r>
          </a:p>
          <a:p>
            <a:pPr algn="l">
              <a:lnSpc>
                <a:spcPct val="100000"/>
              </a:lnSpc>
              <a:spcBef>
                <a:spcPts val="0"/>
              </a:spcBef>
              <a:spcAft>
                <a:spcPts val="200"/>
              </a:spcAft>
            </a:pPr>
            <a:r>
              <a:rPr sz="1700" b="0" i="0">
                <a:solidFill>
                  <a:srgbClr val="66758C"/>
                </a:solidFill>
                <a:latin typeface="Consolas"/>
              </a:rPr>
              <a:t> 8  </a:t>
            </a:r>
            <a:r>
              <a:rPr sz="1700" b="0" i="0">
                <a:solidFill>
                  <a:srgbClr val="22304A"/>
                </a:solidFill>
                <a:latin typeface="Consolas"/>
              </a:rPr>
              <a:t>    if i &lt; j: swap(A[i], A[j])</a:t>
            </a:r>
          </a:p>
          <a:p>
            <a:pPr algn="l">
              <a:lnSpc>
                <a:spcPct val="100000"/>
              </a:lnSpc>
              <a:spcBef>
                <a:spcPts val="0"/>
              </a:spcBef>
              <a:spcAft>
                <a:spcPts val="200"/>
              </a:spcAft>
            </a:pPr>
            <a:r>
              <a:rPr sz="1700" b="0" i="0">
                <a:solidFill>
                  <a:srgbClr val="66758C"/>
                </a:solidFill>
                <a:latin typeface="Consolas"/>
              </a:rPr>
              <a:t> 9  </a:t>
            </a:r>
            <a:r>
              <a:rPr sz="1700" b="0" i="0">
                <a:solidFill>
                  <a:srgbClr val="22304A"/>
                </a:solidFill>
                <a:latin typeface="Consolas"/>
              </a:rPr>
              <a:t>    else: break</a:t>
            </a:r>
          </a:p>
          <a:p>
            <a:pPr algn="l">
              <a:lnSpc>
                <a:spcPct val="100000"/>
              </a:lnSpc>
              <a:spcBef>
                <a:spcPts val="0"/>
              </a:spcBef>
              <a:spcAft>
                <a:spcPts val="200"/>
              </a:spcAft>
            </a:pPr>
            <a:r>
              <a:rPr sz="1700" b="0" i="0">
                <a:solidFill>
                  <a:srgbClr val="66758C"/>
                </a:solidFill>
                <a:latin typeface="Consolas"/>
              </a:rPr>
              <a:t>10  </a:t>
            </a:r>
            <a:r>
              <a:rPr sz="1700" b="0" i="0">
                <a:solidFill>
                  <a:srgbClr val="22304A"/>
                </a:solidFill>
                <a:latin typeface="Consolas"/>
              </a:rPr>
              <a:t>  swap(A[low], A[j])</a:t>
            </a:r>
          </a:p>
          <a:p>
            <a:pPr algn="l">
              <a:lnSpc>
                <a:spcPct val="100000"/>
              </a:lnSpc>
              <a:spcBef>
                <a:spcPts val="0"/>
              </a:spcBef>
              <a:spcAft>
                <a:spcPts val="200"/>
              </a:spcAft>
            </a:pPr>
            <a:r>
              <a:rPr sz="1700" b="0" i="0">
                <a:solidFill>
                  <a:srgbClr val="66758C"/>
                </a:solidFill>
                <a:latin typeface="Consolas"/>
              </a:rPr>
              <a:t>11  </a:t>
            </a:r>
            <a:r>
              <a:rPr sz="1700" b="0" i="0">
                <a:solidFill>
                  <a:srgbClr val="22304A"/>
                </a:solidFill>
                <a:latin typeface="Consolas"/>
              </a:rPr>
              <a:t>  return j</a:t>
            </a:r>
          </a:p>
        </p:txBody>
      </p:sp>
      <p:sp>
        <p:nvSpPr>
          <p:cNvPr id="11" name="Rectangle 10"/>
          <p:cNvSpPr/>
          <p:nvPr/>
        </p:nvSpPr>
        <p:spPr>
          <a:xfrm>
            <a:off x="548640" y="5486400"/>
            <a:ext cx="6583680" cy="640080"/>
          </a:xfrm>
          <a:prstGeom prst="rect">
            <a:avLst/>
          </a:prstGeom>
          <a:noFill/>
          <a:ln>
            <a:noFill/>
          </a:ln>
        </p:spPr>
        <p:txBody>
          <a:bodyPr rtlCol="0" anchor="t" wrap="square" lIns="0" tIns="18288" rIns="0" bIns="18288">
            <a:noAutofit/>
          </a:bodyPr>
          <a:lstStyle/>
          <a:p>
            <a:pPr algn="l">
              <a:lnSpc>
                <a:spcPct val="100000"/>
              </a:lnSpc>
              <a:spcBef>
                <a:spcPts val="0"/>
              </a:spcBef>
              <a:spcAft>
                <a:spcPts val="0"/>
              </a:spcAft>
            </a:pPr>
            <a:r>
              <a:rPr sz="1400" b="0" i="0">
                <a:solidFill>
                  <a:srgbClr val="66758C"/>
                </a:solidFill>
                <a:latin typeface="Segoe UI"/>
              </a:rPr>
              <a:t>Condensed from the course notes. The exact boundary checks depend on the implementation.</a:t>
            </a:r>
          </a:p>
        </p:txBody>
      </p:sp>
      <p:sp>
        <p:nvSpPr>
          <p:cNvPr id="12" name="Rounded Rectangle 11"/>
          <p:cNvSpPr/>
          <p:nvPr/>
        </p:nvSpPr>
        <p:spPr>
          <a:xfrm>
            <a:off x="7406640" y="1897380"/>
            <a:ext cx="868680" cy="457200"/>
          </a:xfrm>
          <a:prstGeom prst="roundRect">
            <a:avLst>
              <a:gd name="adj" fmla="val 20000"/>
            </a:avLst>
          </a:prstGeom>
          <a:solidFill>
            <a:srgbClr val="BCD8F1"/>
          </a:solidFill>
          <a:ln>
            <a:noFill/>
          </a:ln>
        </p:spPr>
        <p:txBody>
          <a:bodyPr rtlCol="0" anchor="ctr" wrap="square" lIns="0" tIns="0" rIns="0" bIns="0">
            <a:noAutofit/>
          </a:bodyPr>
          <a:lstStyle/>
          <a:p>
            <a:pPr algn="ctr">
              <a:lnSpc>
                <a:spcPct val="100000"/>
              </a:lnSpc>
              <a:spcBef>
                <a:spcPts val="0"/>
              </a:spcBef>
              <a:spcAft>
                <a:spcPts val="0"/>
              </a:spcAft>
            </a:pPr>
            <a:r>
              <a:rPr sz="1600" b="1" i="0">
                <a:solidFill>
                  <a:srgbClr val="22304A"/>
                </a:solidFill>
                <a:latin typeface="Consolas"/>
              </a:rPr>
              <a:t>i</a:t>
            </a:r>
          </a:p>
        </p:txBody>
      </p:sp>
      <p:sp>
        <p:nvSpPr>
          <p:cNvPr id="13" name="Rectangle 12"/>
          <p:cNvSpPr/>
          <p:nvPr/>
        </p:nvSpPr>
        <p:spPr>
          <a:xfrm>
            <a:off x="8412480" y="1691640"/>
            <a:ext cx="3227832" cy="8686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Scans right. Stops at the first element greater than the pivot.</a:t>
            </a:r>
          </a:p>
        </p:txBody>
      </p:sp>
      <p:sp>
        <p:nvSpPr>
          <p:cNvPr id="14" name="Rounded Rectangle 13"/>
          <p:cNvSpPr/>
          <p:nvPr/>
        </p:nvSpPr>
        <p:spPr>
          <a:xfrm>
            <a:off x="7406640" y="2857500"/>
            <a:ext cx="868680" cy="457200"/>
          </a:xfrm>
          <a:prstGeom prst="roundRect">
            <a:avLst>
              <a:gd name="adj" fmla="val 20000"/>
            </a:avLst>
          </a:prstGeom>
          <a:solidFill>
            <a:srgbClr val="BCD8F1"/>
          </a:solidFill>
          <a:ln>
            <a:noFill/>
          </a:ln>
        </p:spPr>
        <p:txBody>
          <a:bodyPr rtlCol="0" anchor="ctr" wrap="square" lIns="0" tIns="0" rIns="0" bIns="0">
            <a:noAutofit/>
          </a:bodyPr>
          <a:lstStyle/>
          <a:p>
            <a:pPr algn="ctr">
              <a:lnSpc>
                <a:spcPct val="100000"/>
              </a:lnSpc>
              <a:spcBef>
                <a:spcPts val="0"/>
              </a:spcBef>
              <a:spcAft>
                <a:spcPts val="0"/>
              </a:spcAft>
            </a:pPr>
            <a:r>
              <a:rPr sz="1600" b="1" i="0">
                <a:solidFill>
                  <a:srgbClr val="22304A"/>
                </a:solidFill>
                <a:latin typeface="Consolas"/>
              </a:rPr>
              <a:t>j</a:t>
            </a:r>
          </a:p>
        </p:txBody>
      </p:sp>
      <p:sp>
        <p:nvSpPr>
          <p:cNvPr id="15" name="Rectangle 14"/>
          <p:cNvSpPr/>
          <p:nvPr/>
        </p:nvSpPr>
        <p:spPr>
          <a:xfrm>
            <a:off x="8412480" y="2651760"/>
            <a:ext cx="3227832" cy="8686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Scans left. Stops at the first element not greater than the pivot.</a:t>
            </a:r>
          </a:p>
        </p:txBody>
      </p:sp>
      <p:sp>
        <p:nvSpPr>
          <p:cNvPr id="16" name="Rounded Rectangle 15"/>
          <p:cNvSpPr/>
          <p:nvPr/>
        </p:nvSpPr>
        <p:spPr>
          <a:xfrm>
            <a:off x="7406640" y="3817620"/>
            <a:ext cx="868680" cy="457200"/>
          </a:xfrm>
          <a:prstGeom prst="roundRect">
            <a:avLst>
              <a:gd name="adj" fmla="val 20000"/>
            </a:avLst>
          </a:prstGeom>
          <a:solidFill>
            <a:srgbClr val="BCD8F1"/>
          </a:solidFill>
          <a:ln>
            <a:noFill/>
          </a:ln>
        </p:spPr>
        <p:txBody>
          <a:bodyPr rtlCol="0" anchor="ctr" wrap="square" lIns="0" tIns="0" rIns="0" bIns="0">
            <a:noAutofit/>
          </a:bodyPr>
          <a:lstStyle/>
          <a:p>
            <a:pPr algn="ctr">
              <a:lnSpc>
                <a:spcPct val="100000"/>
              </a:lnSpc>
              <a:spcBef>
                <a:spcPts val="0"/>
              </a:spcBef>
              <a:spcAft>
                <a:spcPts val="0"/>
              </a:spcAft>
            </a:pPr>
            <a:r>
              <a:rPr sz="1600" b="1" i="0">
                <a:solidFill>
                  <a:srgbClr val="22304A"/>
                </a:solidFill>
                <a:latin typeface="Consolas"/>
              </a:rPr>
              <a:t>swap</a:t>
            </a:r>
          </a:p>
        </p:txBody>
      </p:sp>
      <p:sp>
        <p:nvSpPr>
          <p:cNvPr id="17" name="Rectangle 16"/>
          <p:cNvSpPr/>
          <p:nvPr/>
        </p:nvSpPr>
        <p:spPr>
          <a:xfrm>
            <a:off x="8412480" y="3611880"/>
            <a:ext cx="3227832" cy="8686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If i &lt; j, swap A[i] and A[j], then keep scanning.</a:t>
            </a:r>
          </a:p>
        </p:txBody>
      </p:sp>
      <p:sp>
        <p:nvSpPr>
          <p:cNvPr id="18" name="Rounded Rectangle 17"/>
          <p:cNvSpPr/>
          <p:nvPr/>
        </p:nvSpPr>
        <p:spPr>
          <a:xfrm>
            <a:off x="7406640" y="4777740"/>
            <a:ext cx="868680" cy="457200"/>
          </a:xfrm>
          <a:prstGeom prst="roundRect">
            <a:avLst>
              <a:gd name="adj" fmla="val 20000"/>
            </a:avLst>
          </a:prstGeom>
          <a:solidFill>
            <a:srgbClr val="F3A08A"/>
          </a:solidFill>
          <a:ln>
            <a:noFill/>
          </a:ln>
        </p:spPr>
        <p:txBody>
          <a:bodyPr rtlCol="0" anchor="ctr" wrap="square" lIns="0" tIns="0" rIns="0" bIns="0">
            <a:noAutofit/>
          </a:bodyPr>
          <a:lstStyle/>
          <a:p>
            <a:pPr algn="ctr">
              <a:lnSpc>
                <a:spcPct val="100000"/>
              </a:lnSpc>
              <a:spcBef>
                <a:spcPts val="0"/>
              </a:spcBef>
              <a:spcAft>
                <a:spcPts val="0"/>
              </a:spcAft>
            </a:pPr>
            <a:r>
              <a:rPr sz="1600" b="1" i="0">
                <a:solidFill>
                  <a:srgbClr val="22304A"/>
                </a:solidFill>
                <a:latin typeface="Consolas"/>
              </a:rPr>
              <a:t>end</a:t>
            </a:r>
          </a:p>
        </p:txBody>
      </p:sp>
      <p:sp>
        <p:nvSpPr>
          <p:cNvPr id="19" name="Rectangle 18"/>
          <p:cNvSpPr/>
          <p:nvPr/>
        </p:nvSpPr>
        <p:spPr>
          <a:xfrm>
            <a:off x="8412480" y="4572000"/>
            <a:ext cx="3227832" cy="8686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Once they cross, swap the pivot into A[j]. That index is final.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Partition on [65, 70, 75, 80, 85, 60, 55, 50, 45]</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02 · PARTITION</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7</a:t>
            </a:r>
          </a:p>
        </p:txBody>
      </p:sp>
      <p:sp>
        <p:nvSpPr>
          <p:cNvPr id="8" name="Rectangle 7"/>
          <p:cNvSpPr/>
          <p:nvPr/>
        </p:nvSpPr>
        <p:spPr>
          <a:xfrm>
            <a:off x="1920240"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0</a:t>
            </a:r>
          </a:p>
        </p:txBody>
      </p:sp>
      <p:sp>
        <p:nvSpPr>
          <p:cNvPr id="9" name="Rectangle 8"/>
          <p:cNvSpPr/>
          <p:nvPr/>
        </p:nvSpPr>
        <p:spPr>
          <a:xfrm>
            <a:off x="2450592"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1</a:t>
            </a:r>
          </a:p>
        </p:txBody>
      </p:sp>
      <p:sp>
        <p:nvSpPr>
          <p:cNvPr id="10" name="Rectangle 9"/>
          <p:cNvSpPr/>
          <p:nvPr/>
        </p:nvSpPr>
        <p:spPr>
          <a:xfrm>
            <a:off x="2980944"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2</a:t>
            </a:r>
          </a:p>
        </p:txBody>
      </p:sp>
      <p:sp>
        <p:nvSpPr>
          <p:cNvPr id="11" name="Rectangle 10"/>
          <p:cNvSpPr/>
          <p:nvPr/>
        </p:nvSpPr>
        <p:spPr>
          <a:xfrm>
            <a:off x="3511296"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3</a:t>
            </a:r>
          </a:p>
        </p:txBody>
      </p:sp>
      <p:sp>
        <p:nvSpPr>
          <p:cNvPr id="12" name="Rectangle 11"/>
          <p:cNvSpPr/>
          <p:nvPr/>
        </p:nvSpPr>
        <p:spPr>
          <a:xfrm>
            <a:off x="4041648"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4</a:t>
            </a:r>
          </a:p>
        </p:txBody>
      </p:sp>
      <p:sp>
        <p:nvSpPr>
          <p:cNvPr id="13" name="Rectangle 12"/>
          <p:cNvSpPr/>
          <p:nvPr/>
        </p:nvSpPr>
        <p:spPr>
          <a:xfrm>
            <a:off x="4572000"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5</a:t>
            </a:r>
          </a:p>
        </p:txBody>
      </p:sp>
      <p:sp>
        <p:nvSpPr>
          <p:cNvPr id="14" name="Rectangle 13"/>
          <p:cNvSpPr/>
          <p:nvPr/>
        </p:nvSpPr>
        <p:spPr>
          <a:xfrm>
            <a:off x="5102352"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6</a:t>
            </a:r>
          </a:p>
        </p:txBody>
      </p:sp>
      <p:sp>
        <p:nvSpPr>
          <p:cNvPr id="15" name="Rectangle 14"/>
          <p:cNvSpPr/>
          <p:nvPr/>
        </p:nvSpPr>
        <p:spPr>
          <a:xfrm>
            <a:off x="5632704"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7</a:t>
            </a:r>
          </a:p>
        </p:txBody>
      </p:sp>
      <p:sp>
        <p:nvSpPr>
          <p:cNvPr id="16" name="Rectangle 15"/>
          <p:cNvSpPr/>
          <p:nvPr/>
        </p:nvSpPr>
        <p:spPr>
          <a:xfrm>
            <a:off x="6163056"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8</a:t>
            </a:r>
          </a:p>
        </p:txBody>
      </p:sp>
      <p:sp>
        <p:nvSpPr>
          <p:cNvPr id="17" name="Rectangle 16"/>
          <p:cNvSpPr/>
          <p:nvPr/>
        </p:nvSpPr>
        <p:spPr>
          <a:xfrm>
            <a:off x="548640" y="1920240"/>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start</a:t>
            </a:r>
          </a:p>
        </p:txBody>
      </p:sp>
      <p:sp>
        <p:nvSpPr>
          <p:cNvPr id="18" name="Rectangle 17"/>
          <p:cNvSpPr/>
          <p:nvPr/>
        </p:nvSpPr>
        <p:spPr>
          <a:xfrm>
            <a:off x="1920240" y="1920240"/>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19" name="Rectangle 18"/>
          <p:cNvSpPr/>
          <p:nvPr/>
        </p:nvSpPr>
        <p:spPr>
          <a:xfrm>
            <a:off x="2450592"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70</a:t>
            </a:r>
          </a:p>
        </p:txBody>
      </p:sp>
      <p:sp>
        <p:nvSpPr>
          <p:cNvPr id="20" name="Rectangle 19"/>
          <p:cNvSpPr/>
          <p:nvPr/>
        </p:nvSpPr>
        <p:spPr>
          <a:xfrm>
            <a:off x="2980944"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75</a:t>
            </a:r>
          </a:p>
        </p:txBody>
      </p:sp>
      <p:sp>
        <p:nvSpPr>
          <p:cNvPr id="21" name="Rectangle 20"/>
          <p:cNvSpPr/>
          <p:nvPr/>
        </p:nvSpPr>
        <p:spPr>
          <a:xfrm>
            <a:off x="3511296"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80</a:t>
            </a:r>
          </a:p>
        </p:txBody>
      </p:sp>
      <p:sp>
        <p:nvSpPr>
          <p:cNvPr id="22" name="Rectangle 21"/>
          <p:cNvSpPr/>
          <p:nvPr/>
        </p:nvSpPr>
        <p:spPr>
          <a:xfrm>
            <a:off x="4041648"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85</a:t>
            </a:r>
          </a:p>
        </p:txBody>
      </p:sp>
      <p:sp>
        <p:nvSpPr>
          <p:cNvPr id="23" name="Rectangle 22"/>
          <p:cNvSpPr/>
          <p:nvPr/>
        </p:nvSpPr>
        <p:spPr>
          <a:xfrm>
            <a:off x="4572000"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60</a:t>
            </a:r>
          </a:p>
        </p:txBody>
      </p:sp>
      <p:sp>
        <p:nvSpPr>
          <p:cNvPr id="24" name="Rectangle 23"/>
          <p:cNvSpPr/>
          <p:nvPr/>
        </p:nvSpPr>
        <p:spPr>
          <a:xfrm>
            <a:off x="5102352"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55</a:t>
            </a:r>
          </a:p>
        </p:txBody>
      </p:sp>
      <p:sp>
        <p:nvSpPr>
          <p:cNvPr id="25" name="Rectangle 24"/>
          <p:cNvSpPr/>
          <p:nvPr/>
        </p:nvSpPr>
        <p:spPr>
          <a:xfrm>
            <a:off x="5632704"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50</a:t>
            </a:r>
          </a:p>
        </p:txBody>
      </p:sp>
      <p:sp>
        <p:nvSpPr>
          <p:cNvPr id="26" name="Rectangle 25"/>
          <p:cNvSpPr/>
          <p:nvPr/>
        </p:nvSpPr>
        <p:spPr>
          <a:xfrm>
            <a:off x="6163056"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45</a:t>
            </a:r>
          </a:p>
        </p:txBody>
      </p:sp>
      <p:sp>
        <p:nvSpPr>
          <p:cNvPr id="27" name="Rectangle 26"/>
          <p:cNvSpPr/>
          <p:nvPr/>
        </p:nvSpPr>
        <p:spPr>
          <a:xfrm>
            <a:off x="6949440" y="1920240"/>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Pivot = A[0] = 65</a:t>
            </a:r>
          </a:p>
        </p:txBody>
      </p:sp>
      <p:sp>
        <p:nvSpPr>
          <p:cNvPr id="28" name="Rectangle 27"/>
          <p:cNvSpPr/>
          <p:nvPr/>
        </p:nvSpPr>
        <p:spPr>
          <a:xfrm>
            <a:off x="548640" y="2560320"/>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swap 1</a:t>
            </a:r>
          </a:p>
        </p:txBody>
      </p:sp>
      <p:sp>
        <p:nvSpPr>
          <p:cNvPr id="29" name="Rectangle 28"/>
          <p:cNvSpPr/>
          <p:nvPr/>
        </p:nvSpPr>
        <p:spPr>
          <a:xfrm>
            <a:off x="1920240" y="2560320"/>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30" name="Rectangle 29"/>
          <p:cNvSpPr/>
          <p:nvPr/>
        </p:nvSpPr>
        <p:spPr>
          <a:xfrm>
            <a:off x="2450592" y="256032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45</a:t>
            </a:r>
          </a:p>
        </p:txBody>
      </p:sp>
      <p:sp>
        <p:nvSpPr>
          <p:cNvPr id="31" name="Rectangle 30"/>
          <p:cNvSpPr/>
          <p:nvPr/>
        </p:nvSpPr>
        <p:spPr>
          <a:xfrm>
            <a:off x="2980944"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75</a:t>
            </a:r>
          </a:p>
        </p:txBody>
      </p:sp>
      <p:sp>
        <p:nvSpPr>
          <p:cNvPr id="32" name="Rectangle 31"/>
          <p:cNvSpPr/>
          <p:nvPr/>
        </p:nvSpPr>
        <p:spPr>
          <a:xfrm>
            <a:off x="3511296"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80</a:t>
            </a:r>
          </a:p>
        </p:txBody>
      </p:sp>
      <p:sp>
        <p:nvSpPr>
          <p:cNvPr id="33" name="Rectangle 32"/>
          <p:cNvSpPr/>
          <p:nvPr/>
        </p:nvSpPr>
        <p:spPr>
          <a:xfrm>
            <a:off x="4041648"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85</a:t>
            </a:r>
          </a:p>
        </p:txBody>
      </p:sp>
      <p:sp>
        <p:nvSpPr>
          <p:cNvPr id="34" name="Rectangle 33"/>
          <p:cNvSpPr/>
          <p:nvPr/>
        </p:nvSpPr>
        <p:spPr>
          <a:xfrm>
            <a:off x="4572000"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60</a:t>
            </a:r>
          </a:p>
        </p:txBody>
      </p:sp>
      <p:sp>
        <p:nvSpPr>
          <p:cNvPr id="35" name="Rectangle 34"/>
          <p:cNvSpPr/>
          <p:nvPr/>
        </p:nvSpPr>
        <p:spPr>
          <a:xfrm>
            <a:off x="5102352"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55</a:t>
            </a:r>
          </a:p>
        </p:txBody>
      </p:sp>
      <p:sp>
        <p:nvSpPr>
          <p:cNvPr id="36" name="Rectangle 35"/>
          <p:cNvSpPr/>
          <p:nvPr/>
        </p:nvSpPr>
        <p:spPr>
          <a:xfrm>
            <a:off x="5632704"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50</a:t>
            </a:r>
          </a:p>
        </p:txBody>
      </p:sp>
      <p:sp>
        <p:nvSpPr>
          <p:cNvPr id="37" name="Rectangle 36"/>
          <p:cNvSpPr/>
          <p:nvPr/>
        </p:nvSpPr>
        <p:spPr>
          <a:xfrm>
            <a:off x="6163056" y="256032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70</a:t>
            </a:r>
          </a:p>
        </p:txBody>
      </p:sp>
      <p:sp>
        <p:nvSpPr>
          <p:cNvPr id="38" name="Rectangle 37"/>
          <p:cNvSpPr/>
          <p:nvPr/>
        </p:nvSpPr>
        <p:spPr>
          <a:xfrm>
            <a:off x="6949440" y="2560320"/>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i stops at 70, j stops at 45: swap</a:t>
            </a:r>
          </a:p>
        </p:txBody>
      </p:sp>
      <p:sp>
        <p:nvSpPr>
          <p:cNvPr id="39" name="Rectangle 38"/>
          <p:cNvSpPr/>
          <p:nvPr/>
        </p:nvSpPr>
        <p:spPr>
          <a:xfrm>
            <a:off x="548640" y="3200400"/>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swap 2</a:t>
            </a:r>
          </a:p>
        </p:txBody>
      </p:sp>
      <p:sp>
        <p:nvSpPr>
          <p:cNvPr id="40" name="Rectangle 39"/>
          <p:cNvSpPr/>
          <p:nvPr/>
        </p:nvSpPr>
        <p:spPr>
          <a:xfrm>
            <a:off x="1920240" y="3200400"/>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41" name="Rectangle 40"/>
          <p:cNvSpPr/>
          <p:nvPr/>
        </p:nvSpPr>
        <p:spPr>
          <a:xfrm>
            <a:off x="2450592"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45</a:t>
            </a:r>
          </a:p>
        </p:txBody>
      </p:sp>
      <p:sp>
        <p:nvSpPr>
          <p:cNvPr id="42" name="Rectangle 41"/>
          <p:cNvSpPr/>
          <p:nvPr/>
        </p:nvSpPr>
        <p:spPr>
          <a:xfrm>
            <a:off x="2980944" y="320040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50</a:t>
            </a:r>
          </a:p>
        </p:txBody>
      </p:sp>
      <p:sp>
        <p:nvSpPr>
          <p:cNvPr id="43" name="Rectangle 42"/>
          <p:cNvSpPr/>
          <p:nvPr/>
        </p:nvSpPr>
        <p:spPr>
          <a:xfrm>
            <a:off x="3511296"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80</a:t>
            </a:r>
          </a:p>
        </p:txBody>
      </p:sp>
      <p:sp>
        <p:nvSpPr>
          <p:cNvPr id="44" name="Rectangle 43"/>
          <p:cNvSpPr/>
          <p:nvPr/>
        </p:nvSpPr>
        <p:spPr>
          <a:xfrm>
            <a:off x="4041648"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85</a:t>
            </a:r>
          </a:p>
        </p:txBody>
      </p:sp>
      <p:sp>
        <p:nvSpPr>
          <p:cNvPr id="45" name="Rectangle 44"/>
          <p:cNvSpPr/>
          <p:nvPr/>
        </p:nvSpPr>
        <p:spPr>
          <a:xfrm>
            <a:off x="4572000"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60</a:t>
            </a:r>
          </a:p>
        </p:txBody>
      </p:sp>
      <p:sp>
        <p:nvSpPr>
          <p:cNvPr id="46" name="Rectangle 45"/>
          <p:cNvSpPr/>
          <p:nvPr/>
        </p:nvSpPr>
        <p:spPr>
          <a:xfrm>
            <a:off x="5102352"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55</a:t>
            </a:r>
          </a:p>
        </p:txBody>
      </p:sp>
      <p:sp>
        <p:nvSpPr>
          <p:cNvPr id="47" name="Rectangle 46"/>
          <p:cNvSpPr/>
          <p:nvPr/>
        </p:nvSpPr>
        <p:spPr>
          <a:xfrm>
            <a:off x="5632704" y="320040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75</a:t>
            </a:r>
          </a:p>
        </p:txBody>
      </p:sp>
      <p:sp>
        <p:nvSpPr>
          <p:cNvPr id="48" name="Rectangle 47"/>
          <p:cNvSpPr/>
          <p:nvPr/>
        </p:nvSpPr>
        <p:spPr>
          <a:xfrm>
            <a:off x="6163056"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70</a:t>
            </a:r>
          </a:p>
        </p:txBody>
      </p:sp>
      <p:sp>
        <p:nvSpPr>
          <p:cNvPr id="49" name="Rectangle 48"/>
          <p:cNvSpPr/>
          <p:nvPr/>
        </p:nvSpPr>
        <p:spPr>
          <a:xfrm>
            <a:off x="6949440" y="3200400"/>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i stops at 75, j stops at 50: swap</a:t>
            </a:r>
          </a:p>
        </p:txBody>
      </p:sp>
      <p:sp>
        <p:nvSpPr>
          <p:cNvPr id="50" name="Rectangle 49"/>
          <p:cNvSpPr/>
          <p:nvPr/>
        </p:nvSpPr>
        <p:spPr>
          <a:xfrm>
            <a:off x="548640" y="3840479"/>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swap 3</a:t>
            </a:r>
          </a:p>
        </p:txBody>
      </p:sp>
      <p:sp>
        <p:nvSpPr>
          <p:cNvPr id="51" name="Rectangle 50"/>
          <p:cNvSpPr/>
          <p:nvPr/>
        </p:nvSpPr>
        <p:spPr>
          <a:xfrm>
            <a:off x="1920240" y="3840479"/>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52" name="Rectangle 51"/>
          <p:cNvSpPr/>
          <p:nvPr/>
        </p:nvSpPr>
        <p:spPr>
          <a:xfrm>
            <a:off x="2450592"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45</a:t>
            </a:r>
          </a:p>
        </p:txBody>
      </p:sp>
      <p:sp>
        <p:nvSpPr>
          <p:cNvPr id="53" name="Rectangle 52"/>
          <p:cNvSpPr/>
          <p:nvPr/>
        </p:nvSpPr>
        <p:spPr>
          <a:xfrm>
            <a:off x="2980944"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50</a:t>
            </a:r>
          </a:p>
        </p:txBody>
      </p:sp>
      <p:sp>
        <p:nvSpPr>
          <p:cNvPr id="54" name="Rectangle 53"/>
          <p:cNvSpPr/>
          <p:nvPr/>
        </p:nvSpPr>
        <p:spPr>
          <a:xfrm>
            <a:off x="3511296" y="3840479"/>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55</a:t>
            </a:r>
          </a:p>
        </p:txBody>
      </p:sp>
      <p:sp>
        <p:nvSpPr>
          <p:cNvPr id="55" name="Rectangle 54"/>
          <p:cNvSpPr/>
          <p:nvPr/>
        </p:nvSpPr>
        <p:spPr>
          <a:xfrm>
            <a:off x="4041648"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85</a:t>
            </a:r>
          </a:p>
        </p:txBody>
      </p:sp>
      <p:sp>
        <p:nvSpPr>
          <p:cNvPr id="56" name="Rectangle 55"/>
          <p:cNvSpPr/>
          <p:nvPr/>
        </p:nvSpPr>
        <p:spPr>
          <a:xfrm>
            <a:off x="4572000"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60</a:t>
            </a:r>
          </a:p>
        </p:txBody>
      </p:sp>
      <p:sp>
        <p:nvSpPr>
          <p:cNvPr id="57" name="Rectangle 56"/>
          <p:cNvSpPr/>
          <p:nvPr/>
        </p:nvSpPr>
        <p:spPr>
          <a:xfrm>
            <a:off x="5102352" y="3840479"/>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80</a:t>
            </a:r>
          </a:p>
        </p:txBody>
      </p:sp>
      <p:sp>
        <p:nvSpPr>
          <p:cNvPr id="58" name="Rectangle 57"/>
          <p:cNvSpPr/>
          <p:nvPr/>
        </p:nvSpPr>
        <p:spPr>
          <a:xfrm>
            <a:off x="5632704"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75</a:t>
            </a:r>
          </a:p>
        </p:txBody>
      </p:sp>
      <p:sp>
        <p:nvSpPr>
          <p:cNvPr id="59" name="Rectangle 58"/>
          <p:cNvSpPr/>
          <p:nvPr/>
        </p:nvSpPr>
        <p:spPr>
          <a:xfrm>
            <a:off x="6163056"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70</a:t>
            </a:r>
          </a:p>
        </p:txBody>
      </p:sp>
      <p:sp>
        <p:nvSpPr>
          <p:cNvPr id="60" name="Rectangle 59"/>
          <p:cNvSpPr/>
          <p:nvPr/>
        </p:nvSpPr>
        <p:spPr>
          <a:xfrm>
            <a:off x="6949440" y="3840479"/>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i stops at 80, j stops at 55: swap</a:t>
            </a:r>
          </a:p>
        </p:txBody>
      </p:sp>
      <p:sp>
        <p:nvSpPr>
          <p:cNvPr id="61" name="Rectangle 60"/>
          <p:cNvSpPr/>
          <p:nvPr/>
        </p:nvSpPr>
        <p:spPr>
          <a:xfrm>
            <a:off x="548640" y="4480560"/>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swap 4</a:t>
            </a:r>
          </a:p>
        </p:txBody>
      </p:sp>
      <p:sp>
        <p:nvSpPr>
          <p:cNvPr id="62" name="Rectangle 61"/>
          <p:cNvSpPr/>
          <p:nvPr/>
        </p:nvSpPr>
        <p:spPr>
          <a:xfrm>
            <a:off x="1920240" y="4480560"/>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63" name="Rectangle 62"/>
          <p:cNvSpPr/>
          <p:nvPr/>
        </p:nvSpPr>
        <p:spPr>
          <a:xfrm>
            <a:off x="2450592"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45</a:t>
            </a:r>
          </a:p>
        </p:txBody>
      </p:sp>
      <p:sp>
        <p:nvSpPr>
          <p:cNvPr id="64" name="Rectangle 63"/>
          <p:cNvSpPr/>
          <p:nvPr/>
        </p:nvSpPr>
        <p:spPr>
          <a:xfrm>
            <a:off x="2980944"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50</a:t>
            </a:r>
          </a:p>
        </p:txBody>
      </p:sp>
      <p:sp>
        <p:nvSpPr>
          <p:cNvPr id="65" name="Rectangle 64"/>
          <p:cNvSpPr/>
          <p:nvPr/>
        </p:nvSpPr>
        <p:spPr>
          <a:xfrm>
            <a:off x="3511296"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55</a:t>
            </a:r>
          </a:p>
        </p:txBody>
      </p:sp>
      <p:sp>
        <p:nvSpPr>
          <p:cNvPr id="66" name="Rectangle 65"/>
          <p:cNvSpPr/>
          <p:nvPr/>
        </p:nvSpPr>
        <p:spPr>
          <a:xfrm>
            <a:off x="4041648" y="448056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60</a:t>
            </a:r>
          </a:p>
        </p:txBody>
      </p:sp>
      <p:sp>
        <p:nvSpPr>
          <p:cNvPr id="67" name="Rectangle 66"/>
          <p:cNvSpPr/>
          <p:nvPr/>
        </p:nvSpPr>
        <p:spPr>
          <a:xfrm>
            <a:off x="4572000" y="448056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85</a:t>
            </a:r>
          </a:p>
        </p:txBody>
      </p:sp>
      <p:sp>
        <p:nvSpPr>
          <p:cNvPr id="68" name="Rectangle 67"/>
          <p:cNvSpPr/>
          <p:nvPr/>
        </p:nvSpPr>
        <p:spPr>
          <a:xfrm>
            <a:off x="5102352"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80</a:t>
            </a:r>
          </a:p>
        </p:txBody>
      </p:sp>
      <p:sp>
        <p:nvSpPr>
          <p:cNvPr id="69" name="Rectangle 68"/>
          <p:cNvSpPr/>
          <p:nvPr/>
        </p:nvSpPr>
        <p:spPr>
          <a:xfrm>
            <a:off x="5632704"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75</a:t>
            </a:r>
          </a:p>
        </p:txBody>
      </p:sp>
      <p:sp>
        <p:nvSpPr>
          <p:cNvPr id="70" name="Rectangle 69"/>
          <p:cNvSpPr/>
          <p:nvPr/>
        </p:nvSpPr>
        <p:spPr>
          <a:xfrm>
            <a:off x="6163056"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70</a:t>
            </a:r>
          </a:p>
        </p:txBody>
      </p:sp>
      <p:sp>
        <p:nvSpPr>
          <p:cNvPr id="71" name="Rectangle 70"/>
          <p:cNvSpPr/>
          <p:nvPr/>
        </p:nvSpPr>
        <p:spPr>
          <a:xfrm>
            <a:off x="6949440" y="4480560"/>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i stops at 85, j stops at 60: swap</a:t>
            </a:r>
          </a:p>
        </p:txBody>
      </p:sp>
      <p:sp>
        <p:nvSpPr>
          <p:cNvPr id="72" name="Rectangle 71"/>
          <p:cNvSpPr/>
          <p:nvPr/>
        </p:nvSpPr>
        <p:spPr>
          <a:xfrm>
            <a:off x="548640" y="5120640"/>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finish</a:t>
            </a:r>
          </a:p>
        </p:txBody>
      </p:sp>
      <p:sp>
        <p:nvSpPr>
          <p:cNvPr id="73" name="Rectangle 72"/>
          <p:cNvSpPr/>
          <p:nvPr/>
        </p:nvSpPr>
        <p:spPr>
          <a:xfrm>
            <a:off x="1920240"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60</a:t>
            </a:r>
          </a:p>
        </p:txBody>
      </p:sp>
      <p:sp>
        <p:nvSpPr>
          <p:cNvPr id="74" name="Rectangle 73"/>
          <p:cNvSpPr/>
          <p:nvPr/>
        </p:nvSpPr>
        <p:spPr>
          <a:xfrm>
            <a:off x="2450592"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45</a:t>
            </a:r>
          </a:p>
        </p:txBody>
      </p:sp>
      <p:sp>
        <p:nvSpPr>
          <p:cNvPr id="75" name="Rectangle 74"/>
          <p:cNvSpPr/>
          <p:nvPr/>
        </p:nvSpPr>
        <p:spPr>
          <a:xfrm>
            <a:off x="2980944"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50</a:t>
            </a:r>
          </a:p>
        </p:txBody>
      </p:sp>
      <p:sp>
        <p:nvSpPr>
          <p:cNvPr id="76" name="Rectangle 75"/>
          <p:cNvSpPr/>
          <p:nvPr/>
        </p:nvSpPr>
        <p:spPr>
          <a:xfrm>
            <a:off x="3511296"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55</a:t>
            </a:r>
          </a:p>
        </p:txBody>
      </p:sp>
      <p:sp>
        <p:nvSpPr>
          <p:cNvPr id="77" name="Rectangle 76"/>
          <p:cNvSpPr/>
          <p:nvPr/>
        </p:nvSpPr>
        <p:spPr>
          <a:xfrm>
            <a:off x="4041648" y="5120640"/>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78" name="Rectangle 77"/>
          <p:cNvSpPr/>
          <p:nvPr/>
        </p:nvSpPr>
        <p:spPr>
          <a:xfrm>
            <a:off x="4572000"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85</a:t>
            </a:r>
          </a:p>
        </p:txBody>
      </p:sp>
      <p:sp>
        <p:nvSpPr>
          <p:cNvPr id="79" name="Rectangle 78"/>
          <p:cNvSpPr/>
          <p:nvPr/>
        </p:nvSpPr>
        <p:spPr>
          <a:xfrm>
            <a:off x="5102352"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80</a:t>
            </a:r>
          </a:p>
        </p:txBody>
      </p:sp>
      <p:sp>
        <p:nvSpPr>
          <p:cNvPr id="80" name="Rectangle 79"/>
          <p:cNvSpPr/>
          <p:nvPr/>
        </p:nvSpPr>
        <p:spPr>
          <a:xfrm>
            <a:off x="5632704"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75</a:t>
            </a:r>
          </a:p>
        </p:txBody>
      </p:sp>
      <p:sp>
        <p:nvSpPr>
          <p:cNvPr id="81" name="Rectangle 80"/>
          <p:cNvSpPr/>
          <p:nvPr/>
        </p:nvSpPr>
        <p:spPr>
          <a:xfrm>
            <a:off x="6163056"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70</a:t>
            </a:r>
          </a:p>
        </p:txBody>
      </p:sp>
      <p:sp>
        <p:nvSpPr>
          <p:cNvPr id="82" name="Rectangle 81"/>
          <p:cNvSpPr/>
          <p:nvPr/>
        </p:nvSpPr>
        <p:spPr>
          <a:xfrm>
            <a:off x="6949440" y="5120640"/>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1" i="0">
                <a:solidFill>
                  <a:srgbClr val="22304A"/>
                </a:solidFill>
                <a:latin typeface="Segoe UI"/>
              </a:rPr>
              <a:t>i = 5 has passed j = 4: swap the pivot with A[4]</a:t>
            </a:r>
          </a:p>
        </p:txBody>
      </p:sp>
      <p:sp>
        <p:nvSpPr>
          <p:cNvPr id="83" name="Rectangle 82"/>
          <p:cNvSpPr/>
          <p:nvPr/>
        </p:nvSpPr>
        <p:spPr>
          <a:xfrm>
            <a:off x="548640" y="5833872"/>
            <a:ext cx="256032" cy="256032"/>
          </a:xfrm>
          <a:prstGeom prst="rect">
            <a:avLst/>
          </a:prstGeom>
          <a:solidFill>
            <a:srgbClr val="F3A08A"/>
          </a:solidFill>
          <a:ln w="19050">
            <a:solidFill>
              <a:srgbClr val="E07A5F"/>
            </a:solidFill>
          </a:ln>
        </p:spPr>
        <p:txBody>
          <a:bodyPr rtlCol="0" anchor="ctr"/>
          <a:lstStyle/>
          <a:p>
            <a:pPr algn="ctr"/>
          </a:p>
        </p:txBody>
      </p:sp>
      <p:sp>
        <p:nvSpPr>
          <p:cNvPr id="84" name="Rectangle 83"/>
          <p:cNvSpPr/>
          <p:nvPr/>
        </p:nvSpPr>
        <p:spPr>
          <a:xfrm>
            <a:off x="896112" y="5788152"/>
            <a:ext cx="1097280" cy="347472"/>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400" b="0" i="0">
                <a:solidFill>
                  <a:srgbClr val="66758C"/>
                </a:solidFill>
                <a:latin typeface="Segoe UI"/>
              </a:rPr>
              <a:t>pivot</a:t>
            </a:r>
          </a:p>
        </p:txBody>
      </p:sp>
      <p:sp>
        <p:nvSpPr>
          <p:cNvPr id="85" name="Rectangle 84"/>
          <p:cNvSpPr/>
          <p:nvPr/>
        </p:nvSpPr>
        <p:spPr>
          <a:xfrm>
            <a:off x="2103120" y="5833872"/>
            <a:ext cx="256032" cy="256032"/>
          </a:xfrm>
          <a:prstGeom prst="rect">
            <a:avLst/>
          </a:prstGeom>
          <a:solidFill>
            <a:srgbClr val="BCD8F1"/>
          </a:solidFill>
          <a:ln w="25400">
            <a:solidFill>
              <a:srgbClr val="4F8FCB"/>
            </a:solidFill>
          </a:ln>
        </p:spPr>
        <p:txBody>
          <a:bodyPr rtlCol="0" anchor="ctr"/>
          <a:lstStyle/>
          <a:p>
            <a:pPr algn="ctr"/>
          </a:p>
        </p:txBody>
      </p:sp>
      <p:sp>
        <p:nvSpPr>
          <p:cNvPr id="86" name="Rectangle 85"/>
          <p:cNvSpPr/>
          <p:nvPr/>
        </p:nvSpPr>
        <p:spPr>
          <a:xfrm>
            <a:off x="2450592" y="5788152"/>
            <a:ext cx="2011680" cy="347472"/>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400" b="0" i="0">
                <a:solidFill>
                  <a:srgbClr val="66758C"/>
                </a:solidFill>
                <a:latin typeface="Segoe UI"/>
              </a:rPr>
              <a:t>swapped pair</a:t>
            </a:r>
          </a:p>
        </p:txBody>
      </p:sp>
      <p:sp>
        <p:nvSpPr>
          <p:cNvPr id="87" name="Rectangle 86"/>
          <p:cNvSpPr/>
          <p:nvPr/>
        </p:nvSpPr>
        <p:spPr>
          <a:xfrm>
            <a:off x="4480560" y="5833872"/>
            <a:ext cx="256032" cy="256032"/>
          </a:xfrm>
          <a:prstGeom prst="rect">
            <a:avLst/>
          </a:prstGeom>
          <a:solidFill>
            <a:srgbClr val="E8F2FB"/>
          </a:solidFill>
          <a:ln w="15875">
            <a:solidFill>
              <a:srgbClr val="4F8FCB"/>
            </a:solidFill>
          </a:ln>
        </p:spPr>
        <p:txBody>
          <a:bodyPr rtlCol="0" anchor="ctr"/>
          <a:lstStyle/>
          <a:p>
            <a:pPr algn="ctr"/>
          </a:p>
        </p:txBody>
      </p:sp>
      <p:sp>
        <p:nvSpPr>
          <p:cNvPr id="88" name="Rectangle 87"/>
          <p:cNvSpPr/>
          <p:nvPr/>
        </p:nvSpPr>
        <p:spPr>
          <a:xfrm>
            <a:off x="4828032" y="5788152"/>
            <a:ext cx="6766560" cy="347472"/>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400" b="0" i="0">
                <a:solidFill>
                  <a:srgbClr val="66758C"/>
                </a:solidFill>
                <a:latin typeface="Segoe UI"/>
              </a:rPr>
              <a:t>final row: left four ≤ 65, right four ≥ 65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The same trace, as a table</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02 · PARTITION</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8</a:t>
            </a:r>
          </a:p>
        </p:txBody>
      </p:sp>
      <p:graphicFrame>
        <p:nvGraphicFramePr>
          <p:cNvPr id="8" name="Table 7"/>
          <p:cNvGraphicFramePr>
            <a:graphicFrameLocks noGrp="1"/>
          </p:cNvGraphicFramePr>
          <p:nvPr/>
        </p:nvGraphicFramePr>
        <p:xfrm>
          <a:off x="548640" y="1691640"/>
          <a:ext cx="11094415" cy="3950208"/>
        </p:xfrm>
        <a:graphic>
          <a:graphicData uri="http://schemas.openxmlformats.org/drawingml/2006/table">
            <a:tbl>
              <a:tblPr>
                <a:tableStyleId>{2D5ABB26-0587-4C30-8999-92F81FD0307C}</a:tableStyleId>
              </a:tblPr>
              <a:tblGrid>
                <a:gridCol w="1097280"/>
                <a:gridCol w="1600200"/>
                <a:gridCol w="1600200"/>
                <a:gridCol w="2926080"/>
                <a:gridCol w="3870655"/>
              </a:tblGrid>
              <a:tr h="548640">
                <a:tc>
                  <a:txBody>
                    <a:bodyPr wrap="square"/>
                    <a:lstStyle/>
                    <a:p>
                      <a:pPr algn="l">
                        <a:lnSpc>
                          <a:spcPct val="100000"/>
                        </a:lnSpc>
                      </a:pPr>
                      <a:r>
                        <a:rPr sz="1500" b="1">
                          <a:solidFill>
                            <a:srgbClr val="22304A"/>
                          </a:solidFill>
                          <a:latin typeface="Segoe UI"/>
                        </a:rPr>
                        <a:t>Step</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500" b="1">
                          <a:solidFill>
                            <a:srgbClr val="22304A"/>
                          </a:solidFill>
                          <a:latin typeface="Segoe UI"/>
                        </a:rPr>
                        <a:t>i stops at</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500" b="1">
                          <a:solidFill>
                            <a:srgbClr val="22304A"/>
                          </a:solidFill>
                          <a:latin typeface="Segoe UI"/>
                        </a:rPr>
                        <a:t>j stops at</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500" b="1">
                          <a:solidFill>
                            <a:srgbClr val="22304A"/>
                          </a:solidFill>
                          <a:latin typeface="Segoe UI"/>
                        </a:rPr>
                        <a:t>Action</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500" b="1">
                          <a:solidFill>
                            <a:srgbClr val="22304A"/>
                          </a:solidFill>
                          <a:latin typeface="Segoe UI"/>
                        </a:rPr>
                        <a:t>Array afterwards</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r>
              <a:tr h="566928">
                <a:tc>
                  <a:txBody>
                    <a:bodyPr wrap="square"/>
                    <a:lstStyle/>
                    <a:p>
                      <a:pPr algn="l">
                        <a:lnSpc>
                          <a:spcPct val="100000"/>
                        </a:lnSpc>
                      </a:pPr>
                      <a:r>
                        <a:rPr sz="1500" b="1">
                          <a:solidFill>
                            <a:srgbClr val="22304A"/>
                          </a:solidFill>
                          <a:latin typeface="Segoe UI"/>
                        </a:rPr>
                        <a:t>start</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Consolas"/>
                        </a:rPr>
                        <a:t>-</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Consolas"/>
                        </a:rPr>
                        <a:t>-</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Segoe UI"/>
                        </a:rPr>
                        <a:t>pivot = A[0] = 65</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Consolas"/>
                        </a:rPr>
                        <a:t>65 70 75 80 85 60 55 50 45</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r>
              <a:tr h="566928">
                <a:tc>
                  <a:txBody>
                    <a:bodyPr wrap="square"/>
                    <a:lstStyle/>
                    <a:p>
                      <a:pPr algn="l">
                        <a:lnSpc>
                          <a:spcPct val="100000"/>
                        </a:lnSpc>
                      </a:pPr>
                      <a:r>
                        <a:rPr sz="1500" b="1">
                          <a:solidFill>
                            <a:srgbClr val="22304A"/>
                          </a:solidFill>
                          <a:latin typeface="Segoe UI"/>
                        </a:rPr>
                        <a:t>1</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500" b="0">
                          <a:solidFill>
                            <a:srgbClr val="22304A"/>
                          </a:solidFill>
                          <a:latin typeface="Consolas"/>
                        </a:rPr>
                        <a:t>A[1] = 70</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500" b="0">
                          <a:solidFill>
                            <a:srgbClr val="22304A"/>
                          </a:solidFill>
                          <a:latin typeface="Consolas"/>
                        </a:rPr>
                        <a:t>A[8] = 45</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500" b="0">
                          <a:solidFill>
                            <a:srgbClr val="22304A"/>
                          </a:solidFill>
                          <a:latin typeface="Segoe UI"/>
                        </a:rPr>
                        <a:t>i &lt; j: swap</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500" b="0">
                          <a:solidFill>
                            <a:srgbClr val="22304A"/>
                          </a:solidFill>
                          <a:latin typeface="Consolas"/>
                        </a:rPr>
                        <a:t>65 45 75 80 85 60 55 50 70</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r>
              <a:tr h="566928">
                <a:tc>
                  <a:txBody>
                    <a:bodyPr wrap="square"/>
                    <a:lstStyle/>
                    <a:p>
                      <a:pPr algn="l">
                        <a:lnSpc>
                          <a:spcPct val="100000"/>
                        </a:lnSpc>
                      </a:pPr>
                      <a:r>
                        <a:rPr sz="1500" b="1">
                          <a:solidFill>
                            <a:srgbClr val="22304A"/>
                          </a:solidFill>
                          <a:latin typeface="Segoe UI"/>
                        </a:rPr>
                        <a:t>2</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Consolas"/>
                        </a:rPr>
                        <a:t>A[2] = 75</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Consolas"/>
                        </a:rPr>
                        <a:t>A[7] = 50</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Segoe UI"/>
                        </a:rPr>
                        <a:t>i &lt; j: swap</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Consolas"/>
                        </a:rPr>
                        <a:t>65 45 50 80 85 60 55 75 70</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r>
              <a:tr h="566928">
                <a:tc>
                  <a:txBody>
                    <a:bodyPr wrap="square"/>
                    <a:lstStyle/>
                    <a:p>
                      <a:pPr algn="l">
                        <a:lnSpc>
                          <a:spcPct val="100000"/>
                        </a:lnSpc>
                      </a:pPr>
                      <a:r>
                        <a:rPr sz="1500" b="1">
                          <a:solidFill>
                            <a:srgbClr val="22304A"/>
                          </a:solidFill>
                          <a:latin typeface="Segoe UI"/>
                        </a:rPr>
                        <a:t>3</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500" b="0">
                          <a:solidFill>
                            <a:srgbClr val="22304A"/>
                          </a:solidFill>
                          <a:latin typeface="Consolas"/>
                        </a:rPr>
                        <a:t>A[3] = 80</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500" b="0">
                          <a:solidFill>
                            <a:srgbClr val="22304A"/>
                          </a:solidFill>
                          <a:latin typeface="Consolas"/>
                        </a:rPr>
                        <a:t>A[6] = 55</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500" b="0">
                          <a:solidFill>
                            <a:srgbClr val="22304A"/>
                          </a:solidFill>
                          <a:latin typeface="Segoe UI"/>
                        </a:rPr>
                        <a:t>i &lt; j: swap</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500" b="0">
                          <a:solidFill>
                            <a:srgbClr val="22304A"/>
                          </a:solidFill>
                          <a:latin typeface="Consolas"/>
                        </a:rPr>
                        <a:t>65 45 50 55 85 60 80 75 70</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r>
              <a:tr h="566928">
                <a:tc>
                  <a:txBody>
                    <a:bodyPr wrap="square"/>
                    <a:lstStyle/>
                    <a:p>
                      <a:pPr algn="l">
                        <a:lnSpc>
                          <a:spcPct val="100000"/>
                        </a:lnSpc>
                      </a:pPr>
                      <a:r>
                        <a:rPr sz="1500" b="1">
                          <a:solidFill>
                            <a:srgbClr val="22304A"/>
                          </a:solidFill>
                          <a:latin typeface="Segoe UI"/>
                        </a:rPr>
                        <a:t>4</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Consolas"/>
                        </a:rPr>
                        <a:t>A[4] = 85</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Consolas"/>
                        </a:rPr>
                        <a:t>A[5] = 60</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Segoe UI"/>
                        </a:rPr>
                        <a:t>i &lt; j: swap</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500" b="0">
                          <a:solidFill>
                            <a:srgbClr val="22304A"/>
                          </a:solidFill>
                          <a:latin typeface="Consolas"/>
                        </a:rPr>
                        <a:t>65 45 50 55 60 85 80 75 70</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r>
              <a:tr h="566928">
                <a:tc>
                  <a:txBody>
                    <a:bodyPr wrap="square"/>
                    <a:lstStyle/>
                    <a:p>
                      <a:pPr algn="l">
                        <a:lnSpc>
                          <a:spcPct val="100000"/>
                        </a:lnSpc>
                      </a:pPr>
                      <a:r>
                        <a:rPr sz="1500" b="1">
                          <a:solidFill>
                            <a:srgbClr val="22304A"/>
                          </a:solidFill>
                          <a:latin typeface="Segoe UI"/>
                        </a:rPr>
                        <a:t>5</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c>
                  <a:txBody>
                    <a:bodyPr wrap="square"/>
                    <a:lstStyle/>
                    <a:p>
                      <a:pPr algn="l">
                        <a:lnSpc>
                          <a:spcPct val="100000"/>
                        </a:lnSpc>
                      </a:pPr>
                      <a:r>
                        <a:rPr sz="1500" b="0">
                          <a:solidFill>
                            <a:srgbClr val="22304A"/>
                          </a:solidFill>
                          <a:latin typeface="Consolas"/>
                        </a:rPr>
                        <a:t>A[5] = 85</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c>
                  <a:txBody>
                    <a:bodyPr wrap="square"/>
                    <a:lstStyle/>
                    <a:p>
                      <a:pPr algn="l">
                        <a:lnSpc>
                          <a:spcPct val="100000"/>
                        </a:lnSpc>
                      </a:pPr>
                      <a:r>
                        <a:rPr sz="1500" b="0">
                          <a:solidFill>
                            <a:srgbClr val="22304A"/>
                          </a:solidFill>
                          <a:latin typeface="Consolas"/>
                        </a:rPr>
                        <a:t>A[4] = 60</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c>
                  <a:txBody>
                    <a:bodyPr wrap="square"/>
                    <a:lstStyle/>
                    <a:p>
                      <a:pPr algn="l">
                        <a:lnSpc>
                          <a:spcPct val="100000"/>
                        </a:lnSpc>
                      </a:pPr>
                      <a:r>
                        <a:rPr sz="1500" b="0">
                          <a:solidFill>
                            <a:srgbClr val="22304A"/>
                          </a:solidFill>
                          <a:latin typeface="Segoe UI"/>
                        </a:rPr>
                        <a:t>i &gt; j: swap A[0], A[j]</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c>
                  <a:txBody>
                    <a:bodyPr wrap="square"/>
                    <a:lstStyle/>
                    <a:p>
                      <a:pPr algn="l">
                        <a:lnSpc>
                          <a:spcPct val="100000"/>
                        </a:lnSpc>
                      </a:pPr>
                      <a:r>
                        <a:rPr sz="1500" b="1">
                          <a:solidFill>
                            <a:srgbClr val="22304A"/>
                          </a:solidFill>
                          <a:latin typeface="Consolas"/>
                        </a:rPr>
                        <a:t>60 45 50 55 65 85 80 75 70</a:t>
                      </a:r>
                    </a:p>
                  </a:txBody>
                  <a:tcPr marL="128016" marT="45720" marR="128016" marB="45720" anchor="ctr">
                    <a:lnL w="57150" cap="flat" cmpd="sng">
                      <a:solidFill>
                        <a:srgbClr val="E07A5F"/>
                      </a:solidFill>
                      <a:prstDash val="solid"/>
                    </a:lnL>
                    <a:lnR w="0">
                      <a:noFill/>
                    </a:lnR>
                    <a:lnT w="0">
                      <a:noFill/>
                    </a:lnT>
                    <a:lnB w="12700" cap="flat" cmpd="sng">
                      <a:solidFill>
                        <a:srgbClr val="4F8FCB"/>
                      </a:solidFill>
                      <a:prstDash val="solid"/>
                    </a:lnB>
                    <a:solidFill>
                      <a:srgbClr val="FBE3DB"/>
                    </a:solidFill>
                  </a:tcPr>
                </a:tc>
              </a:tr>
            </a:tbl>
          </a:graphicData>
        </a:graphic>
      </p:graphicFrame>
      <p:sp>
        <p:nvSpPr>
          <p:cNvPr id="9" name="Rectangle 8"/>
          <p:cNvSpPr/>
          <p:nvPr/>
        </p:nvSpPr>
        <p:spPr>
          <a:xfrm>
            <a:off x="548640" y="5760720"/>
            <a:ext cx="11094415"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800" b="1" i="0">
                <a:solidFill>
                  <a:srgbClr val="22304A"/>
                </a:solidFill>
                <a:latin typeface="Segoe UI"/>
              </a:rPr>
              <a:t>Returns j = 4. </a:t>
            </a:r>
            <a:r>
              <a:rPr sz="1800" b="0" i="0">
                <a:solidFill>
                  <a:srgbClr val="22304A"/>
                </a:solidFill>
                <a:latin typeface="Segoe UI"/>
              </a:rPr>
              <a:t>The pivot 65 is now in its final position.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QuickSort: partition, then recurse twice</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03 · THE ALGORITHM</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9</a:t>
            </a:r>
          </a:p>
        </p:txBody>
      </p:sp>
      <p:sp>
        <p:nvSpPr>
          <p:cNvPr id="8" name="Rounded Rectangle 7"/>
          <p:cNvSpPr/>
          <p:nvPr/>
        </p:nvSpPr>
        <p:spPr>
          <a:xfrm>
            <a:off x="548640" y="1691640"/>
            <a:ext cx="5760720" cy="2148840"/>
          </a:xfrm>
          <a:prstGeom prst="roundRect">
            <a:avLst>
              <a:gd name="adj" fmla="val 5106"/>
            </a:avLst>
          </a:prstGeom>
          <a:solidFill>
            <a:srgbClr val="E8F2FB"/>
          </a:solidFill>
          <a:ln>
            <a:noFill/>
          </a:ln>
        </p:spPr>
        <p:txBody>
          <a:bodyPr rtlCol="0" anchor="ctr"/>
          <a:lstStyle/>
          <a:p>
            <a:pPr algn="ctr"/>
          </a:p>
        </p:txBody>
      </p:sp>
      <p:sp>
        <p:nvSpPr>
          <p:cNvPr id="9" name="Rectangle 8"/>
          <p:cNvSpPr/>
          <p:nvPr/>
        </p:nvSpPr>
        <p:spPr>
          <a:xfrm>
            <a:off x="548640" y="1691640"/>
            <a:ext cx="82296" cy="2148840"/>
          </a:xfrm>
          <a:prstGeom prst="rect">
            <a:avLst/>
          </a:prstGeom>
          <a:solidFill>
            <a:srgbClr val="4F8FCB"/>
          </a:solidFill>
          <a:ln>
            <a:noFill/>
          </a:ln>
        </p:spPr>
        <p:txBody>
          <a:bodyPr rtlCol="0" anchor="ctr"/>
          <a:lstStyle/>
          <a:p>
            <a:pPr algn="ctr"/>
          </a:p>
        </p:txBody>
      </p:sp>
      <p:sp>
        <p:nvSpPr>
          <p:cNvPr id="10" name="Rectangle 9"/>
          <p:cNvSpPr/>
          <p:nvPr/>
        </p:nvSpPr>
        <p:spPr>
          <a:xfrm>
            <a:off x="822959" y="1783080"/>
            <a:ext cx="5394960" cy="1965960"/>
          </a:xfrm>
          <a:prstGeom prst="rect">
            <a:avLst/>
          </a:prstGeom>
          <a:noFill/>
          <a:ln>
            <a:noFill/>
          </a:ln>
        </p:spPr>
        <p:txBody>
          <a:bodyPr rtlCol="0" anchor="ctr" wrap="square" lIns="45720" rIns="45720">
            <a:noAutofit/>
          </a:bodyPr>
          <a:lstStyle/>
          <a:p>
            <a:pPr algn="l">
              <a:lnSpc>
                <a:spcPct val="100000"/>
              </a:lnSpc>
              <a:spcBef>
                <a:spcPts val="0"/>
              </a:spcBef>
              <a:spcAft>
                <a:spcPts val="200"/>
              </a:spcAft>
            </a:pPr>
            <a:r>
              <a:rPr sz="1700" b="0" i="0">
                <a:solidFill>
                  <a:srgbClr val="66758C"/>
                </a:solidFill>
                <a:latin typeface="Consolas"/>
              </a:rPr>
              <a:t> 1  </a:t>
            </a:r>
            <a:r>
              <a:rPr sz="1700" b="1" i="0">
                <a:solidFill>
                  <a:srgbClr val="22304A"/>
                </a:solidFill>
                <a:latin typeface="Consolas"/>
              </a:rPr>
              <a:t>QuickSort(A, low, high)</a:t>
            </a:r>
          </a:p>
          <a:p>
            <a:pPr algn="l">
              <a:lnSpc>
                <a:spcPct val="100000"/>
              </a:lnSpc>
              <a:spcBef>
                <a:spcPts val="0"/>
              </a:spcBef>
              <a:spcAft>
                <a:spcPts val="200"/>
              </a:spcAft>
            </a:pPr>
            <a:r>
              <a:rPr sz="1700" b="0" i="0">
                <a:solidFill>
                  <a:srgbClr val="66758C"/>
                </a:solidFill>
                <a:latin typeface="Consolas"/>
              </a:rPr>
              <a:t> 2  </a:t>
            </a:r>
            <a:r>
              <a:rPr sz="1700" b="0" i="0">
                <a:solidFill>
                  <a:srgbClr val="22304A"/>
                </a:solidFill>
                <a:latin typeface="Consolas"/>
              </a:rPr>
              <a:t>  if low &lt; high</a:t>
            </a:r>
          </a:p>
          <a:p>
            <a:pPr algn="l">
              <a:lnSpc>
                <a:spcPct val="100000"/>
              </a:lnSpc>
              <a:spcBef>
                <a:spcPts val="0"/>
              </a:spcBef>
              <a:spcAft>
                <a:spcPts val="200"/>
              </a:spcAft>
            </a:pPr>
            <a:r>
              <a:rPr sz="1700" b="0" i="0">
                <a:solidFill>
                  <a:srgbClr val="66758C"/>
                </a:solidFill>
                <a:latin typeface="Consolas"/>
              </a:rPr>
              <a:t> 3  </a:t>
            </a:r>
            <a:r>
              <a:rPr sz="1700" b="0" i="0">
                <a:solidFill>
                  <a:srgbClr val="22304A"/>
                </a:solidFill>
                <a:latin typeface="Consolas"/>
              </a:rPr>
              <a:t>    j = Partition(A, low, high)</a:t>
            </a:r>
          </a:p>
          <a:p>
            <a:pPr algn="l">
              <a:lnSpc>
                <a:spcPct val="100000"/>
              </a:lnSpc>
              <a:spcBef>
                <a:spcPts val="0"/>
              </a:spcBef>
              <a:spcAft>
                <a:spcPts val="200"/>
              </a:spcAft>
            </a:pPr>
            <a:r>
              <a:rPr sz="1700" b="0" i="0">
                <a:solidFill>
                  <a:srgbClr val="66758C"/>
                </a:solidFill>
                <a:latin typeface="Consolas"/>
              </a:rPr>
              <a:t> 4  </a:t>
            </a:r>
            <a:r>
              <a:rPr sz="1700" b="0" i="0">
                <a:solidFill>
                  <a:srgbClr val="22304A"/>
                </a:solidFill>
                <a:latin typeface="Consolas"/>
              </a:rPr>
              <a:t>    QuickSort(A, low, j - 1)</a:t>
            </a:r>
          </a:p>
          <a:p>
            <a:pPr algn="l">
              <a:lnSpc>
                <a:spcPct val="100000"/>
              </a:lnSpc>
              <a:spcBef>
                <a:spcPts val="0"/>
              </a:spcBef>
              <a:spcAft>
                <a:spcPts val="200"/>
              </a:spcAft>
            </a:pPr>
            <a:r>
              <a:rPr sz="1700" b="0" i="0">
                <a:solidFill>
                  <a:srgbClr val="66758C"/>
                </a:solidFill>
                <a:latin typeface="Consolas"/>
              </a:rPr>
              <a:t> 5  </a:t>
            </a:r>
            <a:r>
              <a:rPr sz="1700" b="0" i="0">
                <a:solidFill>
                  <a:srgbClr val="22304A"/>
                </a:solidFill>
                <a:latin typeface="Consolas"/>
              </a:rPr>
              <a:t>    QuickSort(A, j + 1, high)</a:t>
            </a:r>
          </a:p>
        </p:txBody>
      </p:sp>
      <p:sp>
        <p:nvSpPr>
          <p:cNvPr id="11" name="Rounded Rectangle 10"/>
          <p:cNvSpPr/>
          <p:nvPr/>
        </p:nvSpPr>
        <p:spPr>
          <a:xfrm>
            <a:off x="548640" y="4114800"/>
            <a:ext cx="5760720" cy="1554480"/>
          </a:xfrm>
          <a:prstGeom prst="roundRect">
            <a:avLst>
              <a:gd name="adj" fmla="val 7058"/>
            </a:avLst>
          </a:prstGeom>
          <a:solidFill>
            <a:srgbClr val="FBE3DB"/>
          </a:solidFill>
          <a:ln>
            <a:noFill/>
          </a:ln>
        </p:spPr>
        <p:txBody>
          <a:bodyPr rtlCol="0" anchor="ctr"/>
          <a:lstStyle/>
          <a:p>
            <a:pPr algn="ctr"/>
          </a:p>
        </p:txBody>
      </p:sp>
      <p:sp>
        <p:nvSpPr>
          <p:cNvPr id="12" name="Rectangle 11"/>
          <p:cNvSpPr/>
          <p:nvPr/>
        </p:nvSpPr>
        <p:spPr>
          <a:xfrm>
            <a:off x="548640" y="4114800"/>
            <a:ext cx="82296" cy="1554480"/>
          </a:xfrm>
          <a:prstGeom prst="rect">
            <a:avLst/>
          </a:prstGeom>
          <a:solidFill>
            <a:srgbClr val="E07A5F"/>
          </a:solidFill>
          <a:ln>
            <a:noFill/>
          </a:ln>
        </p:spPr>
        <p:txBody>
          <a:bodyPr rtlCol="0" anchor="ctr"/>
          <a:lstStyle/>
          <a:p>
            <a:pPr algn="ctr"/>
          </a:p>
        </p:txBody>
      </p:sp>
      <p:sp>
        <p:nvSpPr>
          <p:cNvPr id="13" name="Rectangle 12"/>
          <p:cNvSpPr/>
          <p:nvPr/>
        </p:nvSpPr>
        <p:spPr>
          <a:xfrm>
            <a:off x="822959" y="4206240"/>
            <a:ext cx="5303520" cy="1371600"/>
          </a:xfrm>
          <a:prstGeom prst="rect">
            <a:avLst/>
          </a:prstGeom>
          <a:noFill/>
          <a:ln>
            <a:noFill/>
          </a:ln>
        </p:spPr>
        <p:txBody>
          <a:bodyPr rtlCol="0" anchor="ctr" wrap="square" lIns="45720" tIns="27432" rIns="45720" bIns="27432">
            <a:noAutofit/>
          </a:bodyPr>
          <a:lstStyle/>
          <a:p>
            <a:pPr algn="l">
              <a:lnSpc>
                <a:spcPct val="100000"/>
              </a:lnSpc>
              <a:spcBef>
                <a:spcPts val="0"/>
              </a:spcBef>
              <a:spcAft>
                <a:spcPts val="600"/>
              </a:spcAft>
            </a:pPr>
            <a:r>
              <a:rPr sz="2200" b="1" i="0">
                <a:solidFill>
                  <a:srgbClr val="22304A"/>
                </a:solidFill>
                <a:latin typeface="Georgia"/>
              </a:rPr>
              <a:t>No combine step</a:t>
            </a:r>
          </a:p>
          <a:p>
            <a:pPr algn="l">
              <a:lnSpc>
                <a:spcPct val="100000"/>
              </a:lnSpc>
              <a:spcBef>
                <a:spcPts val="0"/>
              </a:spcBef>
              <a:spcAft>
                <a:spcPts val="0"/>
              </a:spcAft>
            </a:pPr>
            <a:r>
              <a:rPr sz="1600" b="0" i="0">
                <a:solidFill>
                  <a:srgbClr val="22304A"/>
                </a:solidFill>
                <a:latin typeface="Segoe UI"/>
              </a:rPr>
              <a:t>When both recursive calls return, the whole range is already sorted. This is the key difference from merge sort.</a:t>
            </a:r>
          </a:p>
        </p:txBody>
      </p:sp>
      <p:sp>
        <p:nvSpPr>
          <p:cNvPr id="14" name="Rounded Rectangle 13"/>
          <p:cNvSpPr/>
          <p:nvPr/>
        </p:nvSpPr>
        <p:spPr>
          <a:xfrm>
            <a:off x="6675120" y="1645920"/>
            <a:ext cx="3108960" cy="457200"/>
          </a:xfrm>
          <a:prstGeom prst="roundRect">
            <a:avLst>
              <a:gd name="adj" fmla="val 50000"/>
            </a:avLst>
          </a:prstGeom>
          <a:solidFill>
            <a:srgbClr val="BCD8F1"/>
          </a:solidFill>
          <a:ln w="15875">
            <a:solidFill>
              <a:srgbClr val="4F8FCB"/>
            </a:solidFill>
          </a:ln>
        </p:spPr>
        <p:txBody>
          <a:bodyPr rtlCol="0" anchor="ctr" wrap="none" lIns="45720" tIns="0" rIns="45720" bIns="0">
            <a:noAutofit/>
          </a:bodyPr>
          <a:lstStyle/>
          <a:p>
            <a:pPr algn="ctr">
              <a:lnSpc>
                <a:spcPct val="100000"/>
              </a:lnSpc>
              <a:spcBef>
                <a:spcPts val="0"/>
              </a:spcBef>
              <a:spcAft>
                <a:spcPts val="0"/>
              </a:spcAft>
            </a:pPr>
            <a:r>
              <a:rPr sz="1400" b="1" i="0">
                <a:solidFill>
                  <a:srgbClr val="22304A"/>
                </a:solidFill>
                <a:latin typeface="Consolas"/>
              </a:rPr>
              <a:t>QuickSort(A, low, high)</a:t>
            </a:r>
          </a:p>
        </p:txBody>
      </p:sp>
      <p:cxnSp>
        <p:nvCxnSpPr>
          <p:cNvPr id="15" name="Connector 14"/>
          <p:cNvCxnSpPr/>
          <p:nvPr/>
        </p:nvCxnSpPr>
        <p:spPr>
          <a:xfrm>
            <a:off x="8229600" y="2103120"/>
            <a:ext cx="0" cy="228600"/>
          </a:xfrm>
          <a:prstGeom prst="line">
            <a:avLst/>
          </a:prstGeom>
          <a:ln w="19050">
            <a:solidFill>
              <a:srgbClr val="4F8FCB"/>
            </a:solidFill>
            <a:tailEnd type="triangle" w="med" len="med"/>
          </a:ln>
        </p:spPr>
      </p:cxnSp>
      <p:sp>
        <p:nvSpPr>
          <p:cNvPr id="16" name="Diamond 15"/>
          <p:cNvSpPr/>
          <p:nvPr/>
        </p:nvSpPr>
        <p:spPr>
          <a:xfrm>
            <a:off x="6675120" y="2331720"/>
            <a:ext cx="3108960" cy="868680"/>
          </a:xfrm>
          <a:prstGeom prst="diamond">
            <a:avLst/>
          </a:prstGeom>
          <a:solidFill>
            <a:srgbClr val="E8F2FB"/>
          </a:solidFill>
          <a:ln w="19050">
            <a:solidFill>
              <a:srgbClr val="4F8FCB"/>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Consolas"/>
              </a:rPr>
              <a:t>low &lt; high ?</a:t>
            </a:r>
          </a:p>
        </p:txBody>
      </p:sp>
      <p:cxnSp>
        <p:nvCxnSpPr>
          <p:cNvPr id="17" name="Connector 16"/>
          <p:cNvCxnSpPr/>
          <p:nvPr/>
        </p:nvCxnSpPr>
        <p:spPr>
          <a:xfrm>
            <a:off x="8229600" y="3200400"/>
            <a:ext cx="0" cy="274320"/>
          </a:xfrm>
          <a:prstGeom prst="line">
            <a:avLst/>
          </a:prstGeom>
          <a:ln w="19050">
            <a:solidFill>
              <a:srgbClr val="4F8FCB"/>
            </a:solidFill>
            <a:tailEnd type="triangle" w="med" len="med"/>
          </a:ln>
        </p:spPr>
      </p:cxnSp>
      <p:sp>
        <p:nvSpPr>
          <p:cNvPr id="18" name="Rectangle 17"/>
          <p:cNvSpPr/>
          <p:nvPr/>
        </p:nvSpPr>
        <p:spPr>
          <a:xfrm>
            <a:off x="8339327" y="3218688"/>
            <a:ext cx="548640" cy="237744"/>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200" b="1" i="0">
                <a:solidFill>
                  <a:srgbClr val="66758C"/>
                </a:solidFill>
                <a:latin typeface="Segoe UI"/>
              </a:rPr>
              <a:t>Yes</a:t>
            </a:r>
          </a:p>
        </p:txBody>
      </p:sp>
      <p:sp>
        <p:nvSpPr>
          <p:cNvPr id="19" name="Rectangle 18"/>
          <p:cNvSpPr/>
          <p:nvPr/>
        </p:nvSpPr>
        <p:spPr>
          <a:xfrm>
            <a:off x="6675120" y="3474720"/>
            <a:ext cx="3108960" cy="457200"/>
          </a:xfrm>
          <a:prstGeom prst="rect">
            <a:avLst/>
          </a:prstGeom>
          <a:solidFill>
            <a:srgbClr val="FFFFFF"/>
          </a:solidFill>
          <a:ln w="19050">
            <a:solidFill>
              <a:srgbClr val="4F8FCB"/>
            </a:solidFill>
          </a:ln>
        </p:spPr>
        <p:txBody>
          <a:bodyPr rtlCol="0" anchor="ctr" wrap="none" lIns="45720" tIns="0" rIns="45720" bIns="0">
            <a:noAutofit/>
          </a:bodyPr>
          <a:lstStyle/>
          <a:p>
            <a:pPr algn="ctr">
              <a:lnSpc>
                <a:spcPct val="100000"/>
              </a:lnSpc>
              <a:spcBef>
                <a:spcPts val="0"/>
              </a:spcBef>
              <a:spcAft>
                <a:spcPts val="0"/>
              </a:spcAft>
            </a:pPr>
            <a:r>
              <a:rPr sz="1300" b="0" i="0">
                <a:solidFill>
                  <a:srgbClr val="22304A"/>
                </a:solidFill>
                <a:latin typeface="Consolas"/>
              </a:rPr>
              <a:t>j = Partition(A, low, high)</a:t>
            </a:r>
          </a:p>
        </p:txBody>
      </p:sp>
      <p:cxnSp>
        <p:nvCxnSpPr>
          <p:cNvPr id="20" name="Connector 19"/>
          <p:cNvCxnSpPr/>
          <p:nvPr/>
        </p:nvCxnSpPr>
        <p:spPr>
          <a:xfrm>
            <a:off x="8229600" y="3931920"/>
            <a:ext cx="0" cy="228600"/>
          </a:xfrm>
          <a:prstGeom prst="line">
            <a:avLst/>
          </a:prstGeom>
          <a:ln w="19050">
            <a:solidFill>
              <a:srgbClr val="4F8FCB"/>
            </a:solidFill>
            <a:tailEnd type="triangle" w="med" len="med"/>
          </a:ln>
        </p:spPr>
      </p:cxnSp>
      <p:sp>
        <p:nvSpPr>
          <p:cNvPr id="21" name="Rectangle 20"/>
          <p:cNvSpPr/>
          <p:nvPr/>
        </p:nvSpPr>
        <p:spPr>
          <a:xfrm>
            <a:off x="6675120" y="4160520"/>
            <a:ext cx="3108960" cy="457200"/>
          </a:xfrm>
          <a:prstGeom prst="rect">
            <a:avLst/>
          </a:prstGeom>
          <a:solidFill>
            <a:srgbClr val="FFFFFF"/>
          </a:solidFill>
          <a:ln w="19050">
            <a:solidFill>
              <a:srgbClr val="4F8FCB"/>
            </a:solidFill>
          </a:ln>
        </p:spPr>
        <p:txBody>
          <a:bodyPr rtlCol="0" anchor="ctr" wrap="none" lIns="45720" tIns="0" rIns="45720" bIns="0">
            <a:noAutofit/>
          </a:bodyPr>
          <a:lstStyle/>
          <a:p>
            <a:pPr algn="ctr">
              <a:lnSpc>
                <a:spcPct val="100000"/>
              </a:lnSpc>
              <a:spcBef>
                <a:spcPts val="0"/>
              </a:spcBef>
              <a:spcAft>
                <a:spcPts val="0"/>
              </a:spcAft>
            </a:pPr>
            <a:r>
              <a:rPr sz="1300" b="0" i="0">
                <a:solidFill>
                  <a:srgbClr val="22304A"/>
                </a:solidFill>
                <a:latin typeface="Consolas"/>
              </a:rPr>
              <a:t>QuickSort(A, low, j - 1)</a:t>
            </a:r>
          </a:p>
        </p:txBody>
      </p:sp>
      <p:cxnSp>
        <p:nvCxnSpPr>
          <p:cNvPr id="22" name="Connector 21"/>
          <p:cNvCxnSpPr/>
          <p:nvPr/>
        </p:nvCxnSpPr>
        <p:spPr>
          <a:xfrm>
            <a:off x="8229600" y="4617720"/>
            <a:ext cx="0" cy="228600"/>
          </a:xfrm>
          <a:prstGeom prst="line">
            <a:avLst/>
          </a:prstGeom>
          <a:ln w="19050">
            <a:solidFill>
              <a:srgbClr val="4F8FCB"/>
            </a:solidFill>
            <a:tailEnd type="triangle" w="med" len="med"/>
          </a:ln>
        </p:spPr>
      </p:cxnSp>
      <p:sp>
        <p:nvSpPr>
          <p:cNvPr id="23" name="Rectangle 22"/>
          <p:cNvSpPr/>
          <p:nvPr/>
        </p:nvSpPr>
        <p:spPr>
          <a:xfrm>
            <a:off x="6675120" y="4846320"/>
            <a:ext cx="3108960" cy="457200"/>
          </a:xfrm>
          <a:prstGeom prst="rect">
            <a:avLst/>
          </a:prstGeom>
          <a:solidFill>
            <a:srgbClr val="FFFFFF"/>
          </a:solidFill>
          <a:ln w="19050">
            <a:solidFill>
              <a:srgbClr val="4F8FCB"/>
            </a:solidFill>
          </a:ln>
        </p:spPr>
        <p:txBody>
          <a:bodyPr rtlCol="0" anchor="ctr" wrap="none" lIns="45720" tIns="0" rIns="45720" bIns="0">
            <a:noAutofit/>
          </a:bodyPr>
          <a:lstStyle/>
          <a:p>
            <a:pPr algn="ctr">
              <a:lnSpc>
                <a:spcPct val="100000"/>
              </a:lnSpc>
              <a:spcBef>
                <a:spcPts val="0"/>
              </a:spcBef>
              <a:spcAft>
                <a:spcPts val="0"/>
              </a:spcAft>
            </a:pPr>
            <a:r>
              <a:rPr sz="1300" b="0" i="0">
                <a:solidFill>
                  <a:srgbClr val="22304A"/>
                </a:solidFill>
                <a:latin typeface="Consolas"/>
              </a:rPr>
              <a:t>QuickSort(A, j + 1, high)</a:t>
            </a:r>
          </a:p>
        </p:txBody>
      </p:sp>
      <p:cxnSp>
        <p:nvCxnSpPr>
          <p:cNvPr id="24" name="Connector 23"/>
          <p:cNvCxnSpPr/>
          <p:nvPr/>
        </p:nvCxnSpPr>
        <p:spPr>
          <a:xfrm>
            <a:off x="8229600" y="5303520"/>
            <a:ext cx="0" cy="228600"/>
          </a:xfrm>
          <a:prstGeom prst="line">
            <a:avLst/>
          </a:prstGeom>
          <a:ln w="19050">
            <a:solidFill>
              <a:srgbClr val="4F8FCB"/>
            </a:solidFill>
            <a:tailEnd type="triangle" w="med" len="med"/>
          </a:ln>
        </p:spPr>
      </p:cxnSp>
      <p:sp>
        <p:nvSpPr>
          <p:cNvPr id="25" name="Rounded Rectangle 24"/>
          <p:cNvSpPr/>
          <p:nvPr/>
        </p:nvSpPr>
        <p:spPr>
          <a:xfrm>
            <a:off x="6675120" y="5532120"/>
            <a:ext cx="3108960" cy="457200"/>
          </a:xfrm>
          <a:prstGeom prst="roundRect">
            <a:avLst>
              <a:gd name="adj" fmla="val 50000"/>
            </a:avLst>
          </a:prstGeom>
          <a:solidFill>
            <a:srgbClr val="BCD8F1"/>
          </a:solidFill>
          <a:ln w="15875">
            <a:solidFill>
              <a:srgbClr val="4F8FCB"/>
            </a:solidFill>
          </a:ln>
        </p:spPr>
        <p:txBody>
          <a:bodyPr rtlCol="0" anchor="ctr" wrap="none" lIns="45720" tIns="0" rIns="45720" bIns="0">
            <a:noAutofit/>
          </a:bodyPr>
          <a:lstStyle/>
          <a:p>
            <a:pPr algn="ctr">
              <a:lnSpc>
                <a:spcPct val="100000"/>
              </a:lnSpc>
              <a:spcBef>
                <a:spcPts val="0"/>
              </a:spcBef>
              <a:spcAft>
                <a:spcPts val="0"/>
              </a:spcAft>
            </a:pPr>
            <a:r>
              <a:rPr sz="1400" b="1" i="0">
                <a:solidFill>
                  <a:srgbClr val="22304A"/>
                </a:solidFill>
                <a:latin typeface="Consolas"/>
              </a:rPr>
              <a:t>return</a:t>
            </a:r>
          </a:p>
        </p:txBody>
      </p:sp>
      <p:cxnSp>
        <p:nvCxnSpPr>
          <p:cNvPr id="26" name="Connector 25"/>
          <p:cNvCxnSpPr/>
          <p:nvPr/>
        </p:nvCxnSpPr>
        <p:spPr>
          <a:xfrm>
            <a:off x="9784080" y="2766060"/>
            <a:ext cx="1371600" cy="0"/>
          </a:xfrm>
          <a:prstGeom prst="line">
            <a:avLst/>
          </a:prstGeom>
          <a:ln w="19050">
            <a:solidFill>
              <a:srgbClr val="4F8FCB"/>
            </a:solidFill>
          </a:ln>
        </p:spPr>
      </p:cxnSp>
      <p:cxnSp>
        <p:nvCxnSpPr>
          <p:cNvPr id="27" name="Connector 26"/>
          <p:cNvCxnSpPr/>
          <p:nvPr/>
        </p:nvCxnSpPr>
        <p:spPr>
          <a:xfrm>
            <a:off x="11155680" y="2766060"/>
            <a:ext cx="0" cy="2994660"/>
          </a:xfrm>
          <a:prstGeom prst="line">
            <a:avLst/>
          </a:prstGeom>
          <a:ln w="19050">
            <a:solidFill>
              <a:srgbClr val="4F8FCB"/>
            </a:solidFill>
          </a:ln>
        </p:spPr>
      </p:cxnSp>
      <p:cxnSp>
        <p:nvCxnSpPr>
          <p:cNvPr id="28" name="Connector 27"/>
          <p:cNvCxnSpPr/>
          <p:nvPr/>
        </p:nvCxnSpPr>
        <p:spPr>
          <a:xfrm flipH="1">
            <a:off x="9784080" y="5760720"/>
            <a:ext cx="1371600" cy="0"/>
          </a:xfrm>
          <a:prstGeom prst="line">
            <a:avLst/>
          </a:prstGeom>
          <a:ln w="19050">
            <a:solidFill>
              <a:srgbClr val="4F8FCB"/>
            </a:solidFill>
            <a:tailEnd type="triangle" w="med" len="med"/>
          </a:ln>
        </p:spPr>
      </p:cxnSp>
      <p:sp>
        <p:nvSpPr>
          <p:cNvPr id="29" name="Rectangle 28"/>
          <p:cNvSpPr/>
          <p:nvPr/>
        </p:nvSpPr>
        <p:spPr>
          <a:xfrm>
            <a:off x="9893807" y="2487168"/>
            <a:ext cx="548640" cy="237744"/>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200" b="1" i="0">
                <a:solidFill>
                  <a:srgbClr val="66758C"/>
                </a:solidFill>
                <a:latin typeface="Segoe UI"/>
              </a:rPr>
              <a:t>No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How the recursion unfolds</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03 · THE ALGORITHM</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10</a:t>
            </a:r>
          </a:p>
        </p:txBody>
      </p:sp>
      <p:sp>
        <p:nvSpPr>
          <p:cNvPr id="8" name="Rectangle 7"/>
          <p:cNvSpPr/>
          <p:nvPr/>
        </p:nvSpPr>
        <p:spPr>
          <a:xfrm>
            <a:off x="548640" y="1783080"/>
            <a:ext cx="1005840" cy="420624"/>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200" b="1" i="0">
                <a:solidFill>
                  <a:srgbClr val="66758C"/>
                </a:solidFill>
                <a:latin typeface="Segoe UI"/>
              </a:rPr>
              <a:t>Level 0</a:t>
            </a:r>
          </a:p>
        </p:txBody>
      </p:sp>
      <p:sp>
        <p:nvSpPr>
          <p:cNvPr id="9" name="Rectangle 8"/>
          <p:cNvSpPr/>
          <p:nvPr/>
        </p:nvSpPr>
        <p:spPr>
          <a:xfrm>
            <a:off x="548640" y="3108960"/>
            <a:ext cx="1005840" cy="420624"/>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200" b="1" i="0">
                <a:solidFill>
                  <a:srgbClr val="66758C"/>
                </a:solidFill>
                <a:latin typeface="Segoe UI"/>
              </a:rPr>
              <a:t>Level 1</a:t>
            </a:r>
          </a:p>
        </p:txBody>
      </p:sp>
      <p:sp>
        <p:nvSpPr>
          <p:cNvPr id="10" name="Rectangle 9"/>
          <p:cNvSpPr/>
          <p:nvPr/>
        </p:nvSpPr>
        <p:spPr>
          <a:xfrm>
            <a:off x="548640" y="4434840"/>
            <a:ext cx="1005840" cy="420624"/>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200" b="1" i="0">
                <a:solidFill>
                  <a:srgbClr val="66758C"/>
                </a:solidFill>
                <a:latin typeface="Segoe UI"/>
              </a:rPr>
              <a:t>Level 2</a:t>
            </a:r>
          </a:p>
        </p:txBody>
      </p:sp>
      <p:sp>
        <p:nvSpPr>
          <p:cNvPr id="11" name="Rectangle 10"/>
          <p:cNvSpPr/>
          <p:nvPr/>
        </p:nvSpPr>
        <p:spPr>
          <a:xfrm>
            <a:off x="4059935" y="1783080"/>
            <a:ext cx="420624" cy="420624"/>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Consolas"/>
              </a:rPr>
              <a:t>65</a:t>
            </a:r>
          </a:p>
        </p:txBody>
      </p:sp>
      <p:sp>
        <p:nvSpPr>
          <p:cNvPr id="12" name="Rectangle 11"/>
          <p:cNvSpPr/>
          <p:nvPr/>
        </p:nvSpPr>
        <p:spPr>
          <a:xfrm>
            <a:off x="4517136" y="178308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70</a:t>
            </a:r>
          </a:p>
        </p:txBody>
      </p:sp>
      <p:sp>
        <p:nvSpPr>
          <p:cNvPr id="13" name="Rectangle 12"/>
          <p:cNvSpPr/>
          <p:nvPr/>
        </p:nvSpPr>
        <p:spPr>
          <a:xfrm>
            <a:off x="4974336" y="178308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75</a:t>
            </a:r>
          </a:p>
        </p:txBody>
      </p:sp>
      <p:sp>
        <p:nvSpPr>
          <p:cNvPr id="14" name="Rectangle 13"/>
          <p:cNvSpPr/>
          <p:nvPr/>
        </p:nvSpPr>
        <p:spPr>
          <a:xfrm>
            <a:off x="5431536" y="178308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80</a:t>
            </a:r>
          </a:p>
        </p:txBody>
      </p:sp>
      <p:sp>
        <p:nvSpPr>
          <p:cNvPr id="15" name="Rectangle 14"/>
          <p:cNvSpPr/>
          <p:nvPr/>
        </p:nvSpPr>
        <p:spPr>
          <a:xfrm>
            <a:off x="5888736" y="178308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85</a:t>
            </a:r>
          </a:p>
        </p:txBody>
      </p:sp>
      <p:sp>
        <p:nvSpPr>
          <p:cNvPr id="16" name="Rectangle 15"/>
          <p:cNvSpPr/>
          <p:nvPr/>
        </p:nvSpPr>
        <p:spPr>
          <a:xfrm>
            <a:off x="6345936" y="178308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60</a:t>
            </a:r>
          </a:p>
        </p:txBody>
      </p:sp>
      <p:sp>
        <p:nvSpPr>
          <p:cNvPr id="17" name="Rectangle 16"/>
          <p:cNvSpPr/>
          <p:nvPr/>
        </p:nvSpPr>
        <p:spPr>
          <a:xfrm>
            <a:off x="6803136" y="178308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55</a:t>
            </a:r>
          </a:p>
        </p:txBody>
      </p:sp>
      <p:sp>
        <p:nvSpPr>
          <p:cNvPr id="18" name="Rectangle 17"/>
          <p:cNvSpPr/>
          <p:nvPr/>
        </p:nvSpPr>
        <p:spPr>
          <a:xfrm>
            <a:off x="7260336" y="178308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50</a:t>
            </a:r>
          </a:p>
        </p:txBody>
      </p:sp>
      <p:sp>
        <p:nvSpPr>
          <p:cNvPr id="19" name="Rectangle 18"/>
          <p:cNvSpPr/>
          <p:nvPr/>
        </p:nvSpPr>
        <p:spPr>
          <a:xfrm>
            <a:off x="7717536" y="178308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45</a:t>
            </a:r>
          </a:p>
        </p:txBody>
      </p:sp>
      <p:sp>
        <p:nvSpPr>
          <p:cNvPr id="20" name="Rectangle 19"/>
          <p:cNvSpPr/>
          <p:nvPr/>
        </p:nvSpPr>
        <p:spPr>
          <a:xfrm>
            <a:off x="2487168" y="3108960"/>
            <a:ext cx="420624" cy="420624"/>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Consolas"/>
              </a:rPr>
              <a:t>60</a:t>
            </a:r>
          </a:p>
        </p:txBody>
      </p:sp>
      <p:sp>
        <p:nvSpPr>
          <p:cNvPr id="21" name="Rectangle 20"/>
          <p:cNvSpPr/>
          <p:nvPr/>
        </p:nvSpPr>
        <p:spPr>
          <a:xfrm>
            <a:off x="2944368" y="310896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45</a:t>
            </a:r>
          </a:p>
        </p:txBody>
      </p:sp>
      <p:sp>
        <p:nvSpPr>
          <p:cNvPr id="22" name="Rectangle 21"/>
          <p:cNvSpPr/>
          <p:nvPr/>
        </p:nvSpPr>
        <p:spPr>
          <a:xfrm>
            <a:off x="3401568" y="310896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50</a:t>
            </a:r>
          </a:p>
        </p:txBody>
      </p:sp>
      <p:sp>
        <p:nvSpPr>
          <p:cNvPr id="23" name="Rectangle 22"/>
          <p:cNvSpPr/>
          <p:nvPr/>
        </p:nvSpPr>
        <p:spPr>
          <a:xfrm>
            <a:off x="3858768" y="310896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55</a:t>
            </a:r>
          </a:p>
        </p:txBody>
      </p:sp>
      <p:sp>
        <p:nvSpPr>
          <p:cNvPr id="24" name="Rectangle 23"/>
          <p:cNvSpPr/>
          <p:nvPr/>
        </p:nvSpPr>
        <p:spPr>
          <a:xfrm>
            <a:off x="7882127" y="3108960"/>
            <a:ext cx="420624" cy="420624"/>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Consolas"/>
              </a:rPr>
              <a:t>85</a:t>
            </a:r>
          </a:p>
        </p:txBody>
      </p:sp>
      <p:sp>
        <p:nvSpPr>
          <p:cNvPr id="25" name="Rectangle 24"/>
          <p:cNvSpPr/>
          <p:nvPr/>
        </p:nvSpPr>
        <p:spPr>
          <a:xfrm>
            <a:off x="8339327" y="310896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80</a:t>
            </a:r>
          </a:p>
        </p:txBody>
      </p:sp>
      <p:sp>
        <p:nvSpPr>
          <p:cNvPr id="26" name="Rectangle 25"/>
          <p:cNvSpPr/>
          <p:nvPr/>
        </p:nvSpPr>
        <p:spPr>
          <a:xfrm>
            <a:off x="8796528" y="310896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75</a:t>
            </a:r>
          </a:p>
        </p:txBody>
      </p:sp>
      <p:sp>
        <p:nvSpPr>
          <p:cNvPr id="27" name="Rectangle 26"/>
          <p:cNvSpPr/>
          <p:nvPr/>
        </p:nvSpPr>
        <p:spPr>
          <a:xfrm>
            <a:off x="9253728" y="310896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70</a:t>
            </a:r>
          </a:p>
        </p:txBody>
      </p:sp>
      <p:cxnSp>
        <p:nvCxnSpPr>
          <p:cNvPr id="28" name="Connector 27"/>
          <p:cNvCxnSpPr/>
          <p:nvPr/>
        </p:nvCxnSpPr>
        <p:spPr>
          <a:xfrm flipH="1">
            <a:off x="3383280" y="2203704"/>
            <a:ext cx="2715768" cy="905256"/>
          </a:xfrm>
          <a:prstGeom prst="line">
            <a:avLst/>
          </a:prstGeom>
          <a:ln w="19050">
            <a:solidFill>
              <a:srgbClr val="4F8FCB"/>
            </a:solidFill>
          </a:ln>
        </p:spPr>
      </p:cxnSp>
      <p:cxnSp>
        <p:nvCxnSpPr>
          <p:cNvPr id="29" name="Connector 28"/>
          <p:cNvCxnSpPr/>
          <p:nvPr/>
        </p:nvCxnSpPr>
        <p:spPr>
          <a:xfrm>
            <a:off x="6099048" y="2203704"/>
            <a:ext cx="2679192" cy="905256"/>
          </a:xfrm>
          <a:prstGeom prst="line">
            <a:avLst/>
          </a:prstGeom>
          <a:ln w="19050">
            <a:solidFill>
              <a:srgbClr val="4F8FCB"/>
            </a:solidFill>
          </a:ln>
        </p:spPr>
      </p:cxnSp>
      <p:sp>
        <p:nvSpPr>
          <p:cNvPr id="30" name="Rectangle 29"/>
          <p:cNvSpPr/>
          <p:nvPr/>
        </p:nvSpPr>
        <p:spPr>
          <a:xfrm>
            <a:off x="1709928" y="4434840"/>
            <a:ext cx="420624" cy="420624"/>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Consolas"/>
              </a:rPr>
              <a:t>55</a:t>
            </a:r>
          </a:p>
        </p:txBody>
      </p:sp>
      <p:sp>
        <p:nvSpPr>
          <p:cNvPr id="31" name="Rectangle 30"/>
          <p:cNvSpPr/>
          <p:nvPr/>
        </p:nvSpPr>
        <p:spPr>
          <a:xfrm>
            <a:off x="2167128" y="443484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45</a:t>
            </a:r>
          </a:p>
        </p:txBody>
      </p:sp>
      <p:sp>
        <p:nvSpPr>
          <p:cNvPr id="32" name="Rectangle 31"/>
          <p:cNvSpPr/>
          <p:nvPr/>
        </p:nvSpPr>
        <p:spPr>
          <a:xfrm>
            <a:off x="2624328" y="443484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50</a:t>
            </a:r>
          </a:p>
        </p:txBody>
      </p:sp>
      <p:sp>
        <p:nvSpPr>
          <p:cNvPr id="33" name="Rectangle 32"/>
          <p:cNvSpPr/>
          <p:nvPr/>
        </p:nvSpPr>
        <p:spPr>
          <a:xfrm>
            <a:off x="7104888" y="4434840"/>
            <a:ext cx="420624" cy="420624"/>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Consolas"/>
              </a:rPr>
              <a:t>70</a:t>
            </a:r>
          </a:p>
        </p:txBody>
      </p:sp>
      <p:sp>
        <p:nvSpPr>
          <p:cNvPr id="34" name="Rectangle 33"/>
          <p:cNvSpPr/>
          <p:nvPr/>
        </p:nvSpPr>
        <p:spPr>
          <a:xfrm>
            <a:off x="7562088" y="443484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80</a:t>
            </a:r>
          </a:p>
        </p:txBody>
      </p:sp>
      <p:sp>
        <p:nvSpPr>
          <p:cNvPr id="35" name="Rectangle 34"/>
          <p:cNvSpPr/>
          <p:nvPr/>
        </p:nvSpPr>
        <p:spPr>
          <a:xfrm>
            <a:off x="8019288" y="4434840"/>
            <a:ext cx="420624" cy="420624"/>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0" i="0">
                <a:solidFill>
                  <a:srgbClr val="22304A"/>
                </a:solidFill>
                <a:latin typeface="Consolas"/>
              </a:rPr>
              <a:t>75</a:t>
            </a:r>
          </a:p>
        </p:txBody>
      </p:sp>
      <p:cxnSp>
        <p:nvCxnSpPr>
          <p:cNvPr id="36" name="Connector 35"/>
          <p:cNvCxnSpPr/>
          <p:nvPr/>
        </p:nvCxnSpPr>
        <p:spPr>
          <a:xfrm flipH="1">
            <a:off x="2377440" y="3529584"/>
            <a:ext cx="1005840" cy="905256"/>
          </a:xfrm>
          <a:prstGeom prst="line">
            <a:avLst/>
          </a:prstGeom>
          <a:ln w="19050">
            <a:solidFill>
              <a:srgbClr val="4F8FCB"/>
            </a:solidFill>
          </a:ln>
        </p:spPr>
      </p:cxnSp>
      <p:cxnSp>
        <p:nvCxnSpPr>
          <p:cNvPr id="37" name="Connector 36"/>
          <p:cNvCxnSpPr/>
          <p:nvPr/>
        </p:nvCxnSpPr>
        <p:spPr>
          <a:xfrm>
            <a:off x="3383280" y="3529584"/>
            <a:ext cx="1143000" cy="905256"/>
          </a:xfrm>
          <a:prstGeom prst="line">
            <a:avLst/>
          </a:prstGeom>
          <a:ln w="19050">
            <a:solidFill>
              <a:srgbClr val="66758C"/>
            </a:solidFill>
            <a:prstDash val="dash"/>
          </a:ln>
        </p:spPr>
      </p:cxnSp>
      <p:cxnSp>
        <p:nvCxnSpPr>
          <p:cNvPr id="38" name="Connector 37"/>
          <p:cNvCxnSpPr/>
          <p:nvPr/>
        </p:nvCxnSpPr>
        <p:spPr>
          <a:xfrm flipH="1">
            <a:off x="7772400" y="3529584"/>
            <a:ext cx="1005840" cy="905256"/>
          </a:xfrm>
          <a:prstGeom prst="line">
            <a:avLst/>
          </a:prstGeom>
          <a:ln w="19050">
            <a:solidFill>
              <a:srgbClr val="4F8FCB"/>
            </a:solidFill>
          </a:ln>
        </p:spPr>
      </p:cxnSp>
      <p:cxnSp>
        <p:nvCxnSpPr>
          <p:cNvPr id="39" name="Connector 38"/>
          <p:cNvCxnSpPr/>
          <p:nvPr/>
        </p:nvCxnSpPr>
        <p:spPr>
          <a:xfrm>
            <a:off x="8778240" y="3529584"/>
            <a:ext cx="1143000" cy="905256"/>
          </a:xfrm>
          <a:prstGeom prst="line">
            <a:avLst/>
          </a:prstGeom>
          <a:ln w="19050">
            <a:solidFill>
              <a:srgbClr val="66758C"/>
            </a:solidFill>
            <a:prstDash val="dash"/>
          </a:ln>
        </p:spPr>
      </p:cxnSp>
      <p:sp>
        <p:nvSpPr>
          <p:cNvPr id="40" name="Rectangle 39"/>
          <p:cNvSpPr/>
          <p:nvPr/>
        </p:nvSpPr>
        <p:spPr>
          <a:xfrm>
            <a:off x="4069080" y="4434840"/>
            <a:ext cx="914400" cy="420624"/>
          </a:xfrm>
          <a:prstGeom prst="rect">
            <a:avLst/>
          </a:prstGeom>
          <a:noFill/>
          <a:ln w="15875">
            <a:solidFill>
              <a:srgbClr val="66758C"/>
            </a:solidFill>
            <a:prstDash val="dash"/>
          </a:ln>
        </p:spPr>
        <p:txBody>
          <a:bodyPr rtlCol="0" anchor="ctr" wrap="none" lIns="0" tIns="0" rIns="0" bIns="0">
            <a:noAutofit/>
          </a:bodyPr>
          <a:lstStyle/>
          <a:p>
            <a:pPr algn="ctr">
              <a:lnSpc>
                <a:spcPct val="100000"/>
              </a:lnSpc>
              <a:spcBef>
                <a:spcPts val="0"/>
              </a:spcBef>
              <a:spcAft>
                <a:spcPts val="0"/>
              </a:spcAft>
            </a:pPr>
            <a:r>
              <a:rPr sz="1200" b="0" i="0">
                <a:solidFill>
                  <a:srgbClr val="66758C"/>
                </a:solidFill>
                <a:latin typeface="Segoe UI"/>
              </a:rPr>
              <a:t>empty</a:t>
            </a:r>
          </a:p>
        </p:txBody>
      </p:sp>
      <p:sp>
        <p:nvSpPr>
          <p:cNvPr id="41" name="Rectangle 40"/>
          <p:cNvSpPr/>
          <p:nvPr/>
        </p:nvSpPr>
        <p:spPr>
          <a:xfrm>
            <a:off x="9464040" y="4434840"/>
            <a:ext cx="914400" cy="420624"/>
          </a:xfrm>
          <a:prstGeom prst="rect">
            <a:avLst/>
          </a:prstGeom>
          <a:noFill/>
          <a:ln w="15875">
            <a:solidFill>
              <a:srgbClr val="66758C"/>
            </a:solidFill>
            <a:prstDash val="dash"/>
          </a:ln>
        </p:spPr>
        <p:txBody>
          <a:bodyPr rtlCol="0" anchor="ctr" wrap="none" lIns="0" tIns="0" rIns="0" bIns="0">
            <a:noAutofit/>
          </a:bodyPr>
          <a:lstStyle/>
          <a:p>
            <a:pPr algn="ctr">
              <a:lnSpc>
                <a:spcPct val="100000"/>
              </a:lnSpc>
              <a:spcBef>
                <a:spcPts val="0"/>
              </a:spcBef>
              <a:spcAft>
                <a:spcPts val="0"/>
              </a:spcAft>
            </a:pPr>
            <a:r>
              <a:rPr sz="1200" b="0" i="0">
                <a:solidFill>
                  <a:srgbClr val="66758C"/>
                </a:solidFill>
                <a:latin typeface="Segoe UI"/>
              </a:rPr>
              <a:t>empty</a:t>
            </a:r>
          </a:p>
        </p:txBody>
      </p:sp>
      <p:sp>
        <p:nvSpPr>
          <p:cNvPr id="42" name="Rectangle 41"/>
          <p:cNvSpPr/>
          <p:nvPr/>
        </p:nvSpPr>
        <p:spPr>
          <a:xfrm>
            <a:off x="548640" y="5440680"/>
            <a:ext cx="11094415" cy="5486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800" b="1" i="0">
                <a:solidFill>
                  <a:srgbClr val="22304A"/>
                </a:solidFill>
                <a:latin typeface="Segoe UI"/>
              </a:rPr>
              <a:t>Each call fixes one pivot for good. </a:t>
            </a:r>
            <a:r>
              <a:rPr sz="1800" b="0" i="0">
                <a:solidFill>
                  <a:srgbClr val="22304A"/>
                </a:solidFill>
                <a:latin typeface="Segoe UI"/>
              </a:rPr>
              <a:t>The height of this tree decides the running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A boundary bug hiding in the notes</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03 · THE ALGORITHM</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11</a:t>
            </a:r>
          </a:p>
        </p:txBody>
      </p:sp>
      <p:sp>
        <p:nvSpPr>
          <p:cNvPr id="8" name="Rounded Rectangle 7"/>
          <p:cNvSpPr/>
          <p:nvPr/>
        </p:nvSpPr>
        <p:spPr>
          <a:xfrm>
            <a:off x="548640" y="1600200"/>
            <a:ext cx="5394960" cy="4526280"/>
          </a:xfrm>
          <a:prstGeom prst="roundRect">
            <a:avLst>
              <a:gd name="adj" fmla="val 3030"/>
            </a:avLst>
          </a:prstGeom>
          <a:solidFill>
            <a:srgbClr val="FFFFFF"/>
          </a:solidFill>
          <a:ln w="19050">
            <a:solidFill>
              <a:srgbClr val="BCD8F1"/>
            </a:solidFill>
          </a:ln>
        </p:spPr>
        <p:txBody>
          <a:bodyPr rtlCol="0" anchor="ctr"/>
          <a:lstStyle/>
          <a:p>
            <a:pPr algn="ctr"/>
          </a:p>
        </p:txBody>
      </p:sp>
      <p:sp>
        <p:nvSpPr>
          <p:cNvPr id="9" name="Rounded Rectangle 8"/>
          <p:cNvSpPr/>
          <p:nvPr/>
        </p:nvSpPr>
        <p:spPr>
          <a:xfrm>
            <a:off x="777240" y="1783080"/>
            <a:ext cx="3291840" cy="365760"/>
          </a:xfrm>
          <a:prstGeom prst="roundRect">
            <a:avLst>
              <a:gd name="adj" fmla="val 25000"/>
            </a:avLst>
          </a:prstGeom>
          <a:solidFill>
            <a:srgbClr val="FBE3DB"/>
          </a:solidFill>
          <a:ln>
            <a:noFill/>
          </a:ln>
        </p:spPr>
        <p:txBody>
          <a:bodyPr rtlCol="0" anchor="ctr" wrap="none" lIns="137160" tIns="0" rIns="137160" bIns="0">
            <a:noAutofit/>
          </a:bodyPr>
          <a:lstStyle/>
          <a:p>
            <a:pPr algn="l">
              <a:lnSpc>
                <a:spcPct val="100000"/>
              </a:lnSpc>
              <a:spcBef>
                <a:spcPts val="0"/>
              </a:spcBef>
              <a:spcAft>
                <a:spcPts val="0"/>
              </a:spcAft>
            </a:pPr>
            <a:r>
              <a:rPr sz="1100" b="1" i="0" spc="100">
                <a:solidFill>
                  <a:srgbClr val="22304A"/>
                </a:solidFill>
                <a:latin typeface="Segoe UI"/>
              </a:rPr>
              <a:t>AS WRITTEN IN THE NOTES</a:t>
            </a:r>
          </a:p>
        </p:txBody>
      </p:sp>
      <p:sp>
        <p:nvSpPr>
          <p:cNvPr id="10" name="Rounded Rectangle 9"/>
          <p:cNvSpPr/>
          <p:nvPr/>
        </p:nvSpPr>
        <p:spPr>
          <a:xfrm>
            <a:off x="6248095" y="1600200"/>
            <a:ext cx="5394960" cy="4526280"/>
          </a:xfrm>
          <a:prstGeom prst="roundRect">
            <a:avLst>
              <a:gd name="adj" fmla="val 3030"/>
            </a:avLst>
          </a:prstGeom>
          <a:solidFill>
            <a:srgbClr val="FFFFFF"/>
          </a:solidFill>
          <a:ln w="19050">
            <a:solidFill>
              <a:srgbClr val="BCD8F1"/>
            </a:solidFill>
          </a:ln>
        </p:spPr>
        <p:txBody>
          <a:bodyPr rtlCol="0" anchor="ctr"/>
          <a:lstStyle/>
          <a:p>
            <a:pPr algn="ctr"/>
          </a:p>
        </p:txBody>
      </p:sp>
      <p:sp>
        <p:nvSpPr>
          <p:cNvPr id="11" name="Rounded Rectangle 10"/>
          <p:cNvSpPr/>
          <p:nvPr/>
        </p:nvSpPr>
        <p:spPr>
          <a:xfrm>
            <a:off x="6476695" y="1783080"/>
            <a:ext cx="3291840" cy="365760"/>
          </a:xfrm>
          <a:prstGeom prst="roundRect">
            <a:avLst>
              <a:gd name="adj" fmla="val 25000"/>
            </a:avLst>
          </a:prstGeom>
          <a:solidFill>
            <a:srgbClr val="BCD8F1"/>
          </a:solidFill>
          <a:ln>
            <a:noFill/>
          </a:ln>
        </p:spPr>
        <p:txBody>
          <a:bodyPr rtlCol="0" anchor="ctr" wrap="none" lIns="137160" tIns="0" rIns="137160" bIns="0">
            <a:noAutofit/>
          </a:bodyPr>
          <a:lstStyle/>
          <a:p>
            <a:pPr algn="l">
              <a:lnSpc>
                <a:spcPct val="100000"/>
              </a:lnSpc>
              <a:spcBef>
                <a:spcPts val="0"/>
              </a:spcBef>
              <a:spcAft>
                <a:spcPts val="0"/>
              </a:spcAft>
            </a:pPr>
            <a:r>
              <a:rPr sz="1100" b="1" i="0" spc="100">
                <a:solidFill>
                  <a:srgbClr val="22304A"/>
                </a:solidFill>
                <a:latin typeface="Segoe UI"/>
              </a:rPr>
              <a:t>WITH A BOUNDS CHECK</a:t>
            </a:r>
          </a:p>
        </p:txBody>
      </p:sp>
      <p:sp>
        <p:nvSpPr>
          <p:cNvPr id="12" name="Rounded Rectangle 11"/>
          <p:cNvSpPr/>
          <p:nvPr/>
        </p:nvSpPr>
        <p:spPr>
          <a:xfrm>
            <a:off x="777240" y="2286000"/>
            <a:ext cx="4937760" cy="548640"/>
          </a:xfrm>
          <a:prstGeom prst="roundRect">
            <a:avLst>
              <a:gd name="adj" fmla="val 13333"/>
            </a:avLst>
          </a:prstGeom>
          <a:solidFill>
            <a:srgbClr val="E8F2FB"/>
          </a:solidFill>
          <a:ln>
            <a:noFill/>
          </a:ln>
        </p:spPr>
        <p:txBody>
          <a:bodyPr rtlCol="0" anchor="ctr" wrap="none" lIns="182880" tIns="0" bIns="0">
            <a:noAutofit/>
          </a:bodyPr>
          <a:lstStyle/>
          <a:p>
            <a:pPr algn="l">
              <a:lnSpc>
                <a:spcPct val="100000"/>
              </a:lnSpc>
              <a:spcBef>
                <a:spcPts val="0"/>
              </a:spcBef>
              <a:spcAft>
                <a:spcPts val="0"/>
              </a:spcAft>
            </a:pPr>
            <a:r>
              <a:rPr sz="1600" b="1" i="0">
                <a:solidFill>
                  <a:srgbClr val="22304A"/>
                </a:solidFill>
                <a:latin typeface="Consolas"/>
              </a:rPr>
              <a:t>while A[i] &lt;= pivot: i++</a:t>
            </a:r>
          </a:p>
        </p:txBody>
      </p:sp>
      <p:sp>
        <p:nvSpPr>
          <p:cNvPr id="13" name="Rounded Rectangle 12"/>
          <p:cNvSpPr/>
          <p:nvPr/>
        </p:nvSpPr>
        <p:spPr>
          <a:xfrm>
            <a:off x="6476695" y="2286000"/>
            <a:ext cx="4937760" cy="548640"/>
          </a:xfrm>
          <a:prstGeom prst="roundRect">
            <a:avLst>
              <a:gd name="adj" fmla="val 13333"/>
            </a:avLst>
          </a:prstGeom>
          <a:solidFill>
            <a:srgbClr val="E8F2FB"/>
          </a:solidFill>
          <a:ln>
            <a:noFill/>
          </a:ln>
        </p:spPr>
        <p:txBody>
          <a:bodyPr rtlCol="0" anchor="ctr" wrap="none" lIns="182880" tIns="0" bIns="0">
            <a:noAutofit/>
          </a:bodyPr>
          <a:lstStyle/>
          <a:p>
            <a:pPr algn="l">
              <a:lnSpc>
                <a:spcPct val="100000"/>
              </a:lnSpc>
              <a:spcBef>
                <a:spcPts val="0"/>
              </a:spcBef>
              <a:spcAft>
                <a:spcPts val="0"/>
              </a:spcAft>
            </a:pPr>
            <a:r>
              <a:rPr sz="1500" b="1" i="0">
                <a:solidFill>
                  <a:srgbClr val="22304A"/>
                </a:solidFill>
                <a:latin typeface="Consolas"/>
              </a:rPr>
              <a:t>while i &lt;= high and A[i] &lt;= pivot: i++</a:t>
            </a:r>
          </a:p>
        </p:txBody>
      </p:sp>
      <p:sp>
        <p:nvSpPr>
          <p:cNvPr id="14" name="Rectangle 13"/>
          <p:cNvSpPr/>
          <p:nvPr/>
        </p:nvSpPr>
        <p:spPr>
          <a:xfrm>
            <a:off x="1490472" y="3017520"/>
            <a:ext cx="338328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300" b="1" i="0">
                <a:solidFill>
                  <a:srgbClr val="66758C"/>
                </a:solidFill>
                <a:latin typeface="Segoe UI"/>
              </a:rPr>
              <a:t>i keeps moving right</a:t>
            </a:r>
          </a:p>
        </p:txBody>
      </p:sp>
      <p:cxnSp>
        <p:nvCxnSpPr>
          <p:cNvPr id="15" name="Connector 14"/>
          <p:cNvCxnSpPr/>
          <p:nvPr/>
        </p:nvCxnSpPr>
        <p:spPr>
          <a:xfrm>
            <a:off x="1819655" y="3429000"/>
            <a:ext cx="2852929" cy="0"/>
          </a:xfrm>
          <a:prstGeom prst="line">
            <a:avLst/>
          </a:prstGeom>
          <a:ln w="28575">
            <a:solidFill>
              <a:srgbClr val="E07A5F"/>
            </a:solidFill>
            <a:tailEnd type="triangle" w="med" len="med"/>
          </a:ln>
        </p:spPr>
      </p:cxnSp>
      <p:sp>
        <p:nvSpPr>
          <p:cNvPr id="16" name="Rectangle 15"/>
          <p:cNvSpPr/>
          <p:nvPr/>
        </p:nvSpPr>
        <p:spPr>
          <a:xfrm>
            <a:off x="1490472" y="3566160"/>
            <a:ext cx="658368" cy="65836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800" b="1" i="0">
                <a:solidFill>
                  <a:srgbClr val="22304A"/>
                </a:solidFill>
                <a:latin typeface="Consolas"/>
              </a:rPr>
              <a:t>85</a:t>
            </a:r>
          </a:p>
        </p:txBody>
      </p:sp>
      <p:sp>
        <p:nvSpPr>
          <p:cNvPr id="17" name="Rectangle 16"/>
          <p:cNvSpPr/>
          <p:nvPr/>
        </p:nvSpPr>
        <p:spPr>
          <a:xfrm>
            <a:off x="1490472" y="4251960"/>
            <a:ext cx="65836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5</a:t>
            </a:r>
          </a:p>
        </p:txBody>
      </p:sp>
      <p:sp>
        <p:nvSpPr>
          <p:cNvPr id="18" name="Rectangle 17"/>
          <p:cNvSpPr/>
          <p:nvPr/>
        </p:nvSpPr>
        <p:spPr>
          <a:xfrm>
            <a:off x="2203704" y="3566160"/>
            <a:ext cx="658368" cy="65836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800" b="0" i="0">
                <a:solidFill>
                  <a:srgbClr val="22304A"/>
                </a:solidFill>
                <a:latin typeface="Consolas"/>
              </a:rPr>
              <a:t>80</a:t>
            </a:r>
          </a:p>
        </p:txBody>
      </p:sp>
      <p:sp>
        <p:nvSpPr>
          <p:cNvPr id="19" name="Rectangle 18"/>
          <p:cNvSpPr/>
          <p:nvPr/>
        </p:nvSpPr>
        <p:spPr>
          <a:xfrm>
            <a:off x="2203704" y="4251960"/>
            <a:ext cx="65836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6</a:t>
            </a:r>
          </a:p>
        </p:txBody>
      </p:sp>
      <p:sp>
        <p:nvSpPr>
          <p:cNvPr id="20" name="Rectangle 19"/>
          <p:cNvSpPr/>
          <p:nvPr/>
        </p:nvSpPr>
        <p:spPr>
          <a:xfrm>
            <a:off x="2916936" y="3566160"/>
            <a:ext cx="658368" cy="65836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800" b="0" i="0">
                <a:solidFill>
                  <a:srgbClr val="22304A"/>
                </a:solidFill>
                <a:latin typeface="Consolas"/>
              </a:rPr>
              <a:t>75</a:t>
            </a:r>
          </a:p>
        </p:txBody>
      </p:sp>
      <p:sp>
        <p:nvSpPr>
          <p:cNvPr id="21" name="Rectangle 20"/>
          <p:cNvSpPr/>
          <p:nvPr/>
        </p:nvSpPr>
        <p:spPr>
          <a:xfrm>
            <a:off x="2916936" y="4251960"/>
            <a:ext cx="65836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7</a:t>
            </a:r>
          </a:p>
        </p:txBody>
      </p:sp>
      <p:sp>
        <p:nvSpPr>
          <p:cNvPr id="22" name="Rectangle 21"/>
          <p:cNvSpPr/>
          <p:nvPr/>
        </p:nvSpPr>
        <p:spPr>
          <a:xfrm>
            <a:off x="3630168" y="3566160"/>
            <a:ext cx="658368" cy="65836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800" b="0" i="0">
                <a:solidFill>
                  <a:srgbClr val="22304A"/>
                </a:solidFill>
                <a:latin typeface="Consolas"/>
              </a:rPr>
              <a:t>70</a:t>
            </a:r>
          </a:p>
        </p:txBody>
      </p:sp>
      <p:sp>
        <p:nvSpPr>
          <p:cNvPr id="23" name="Rectangle 22"/>
          <p:cNvSpPr/>
          <p:nvPr/>
        </p:nvSpPr>
        <p:spPr>
          <a:xfrm>
            <a:off x="3630168" y="4251960"/>
            <a:ext cx="65836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8</a:t>
            </a:r>
          </a:p>
        </p:txBody>
      </p:sp>
      <p:sp>
        <p:nvSpPr>
          <p:cNvPr id="24" name="Rectangle 23"/>
          <p:cNvSpPr/>
          <p:nvPr/>
        </p:nvSpPr>
        <p:spPr>
          <a:xfrm>
            <a:off x="4343400" y="3566160"/>
            <a:ext cx="658368" cy="658368"/>
          </a:xfrm>
          <a:prstGeom prst="rect">
            <a:avLst/>
          </a:prstGeom>
          <a:noFill/>
          <a:ln w="15875">
            <a:solidFill>
              <a:srgbClr val="66758C"/>
            </a:solidFill>
            <a:prstDash val="dash"/>
          </a:ln>
        </p:spPr>
        <p:txBody>
          <a:bodyPr rtlCol="0" anchor="ctr" wrap="none" lIns="0" tIns="0" rIns="0" bIns="0">
            <a:noAutofit/>
          </a:bodyPr>
          <a:lstStyle/>
          <a:p>
            <a:pPr algn="ctr">
              <a:lnSpc>
                <a:spcPct val="100000"/>
              </a:lnSpc>
              <a:spcBef>
                <a:spcPts val="0"/>
              </a:spcBef>
              <a:spcAft>
                <a:spcPts val="0"/>
              </a:spcAft>
            </a:pPr>
            <a:r>
              <a:rPr sz="1800" b="0" i="0">
                <a:solidFill>
                  <a:srgbClr val="66758C"/>
                </a:solidFill>
                <a:latin typeface="Consolas"/>
              </a:rPr>
              <a:t>?</a:t>
            </a:r>
          </a:p>
        </p:txBody>
      </p:sp>
      <p:sp>
        <p:nvSpPr>
          <p:cNvPr id="25" name="Rectangle 24"/>
          <p:cNvSpPr/>
          <p:nvPr/>
        </p:nvSpPr>
        <p:spPr>
          <a:xfrm>
            <a:off x="4343400" y="4251960"/>
            <a:ext cx="65836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9</a:t>
            </a:r>
          </a:p>
        </p:txBody>
      </p:sp>
      <p:sp>
        <p:nvSpPr>
          <p:cNvPr id="26" name="Rectangle 25"/>
          <p:cNvSpPr/>
          <p:nvPr/>
        </p:nvSpPr>
        <p:spPr>
          <a:xfrm>
            <a:off x="777240" y="4754880"/>
            <a:ext cx="4937760" cy="1234440"/>
          </a:xfrm>
          <a:prstGeom prst="rect">
            <a:avLst/>
          </a:prstGeom>
          <a:noFill/>
          <a:ln>
            <a:noFill/>
          </a:ln>
        </p:spPr>
        <p:txBody>
          <a:bodyPr rtlCol="0" anchor="t" wrap="square" tIns="0" bIns="0">
            <a:noAutofit/>
          </a:bodyPr>
          <a:lstStyle/>
          <a:p>
            <a:pPr algn="l">
              <a:lnSpc>
                <a:spcPct val="100000"/>
              </a:lnSpc>
              <a:spcBef>
                <a:spcPts val="0"/>
              </a:spcBef>
              <a:spcAft>
                <a:spcPts val="0"/>
              </a:spcAft>
            </a:pPr>
            <a:r>
              <a:rPr sz="1600" b="0" i="0">
                <a:solidFill>
                  <a:srgbClr val="22304A"/>
                </a:solidFill>
                <a:latin typeface="Segoe UI"/>
              </a:rPr>
              <a:t>Every element is ≤ 85, so i never stops. It walks off the end and reads A[9], which is not part of the array.</a:t>
            </a:r>
          </a:p>
        </p:txBody>
      </p:sp>
      <p:sp>
        <p:nvSpPr>
          <p:cNvPr id="27" name="Rectangle 26"/>
          <p:cNvSpPr/>
          <p:nvPr/>
        </p:nvSpPr>
        <p:spPr>
          <a:xfrm>
            <a:off x="7546543" y="3017520"/>
            <a:ext cx="36576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300" b="1" i="0">
                <a:solidFill>
                  <a:srgbClr val="66758C"/>
                </a:solidFill>
                <a:latin typeface="Segoe UI"/>
              </a:rPr>
              <a:t>after the final swap</a:t>
            </a:r>
          </a:p>
        </p:txBody>
      </p:sp>
      <p:sp>
        <p:nvSpPr>
          <p:cNvPr id="28" name="Rectangle 27"/>
          <p:cNvSpPr/>
          <p:nvPr/>
        </p:nvSpPr>
        <p:spPr>
          <a:xfrm>
            <a:off x="7546543" y="3566160"/>
            <a:ext cx="658368" cy="65836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800" b="0" i="0">
                <a:solidFill>
                  <a:srgbClr val="22304A"/>
                </a:solidFill>
                <a:latin typeface="Consolas"/>
              </a:rPr>
              <a:t>70</a:t>
            </a:r>
          </a:p>
        </p:txBody>
      </p:sp>
      <p:sp>
        <p:nvSpPr>
          <p:cNvPr id="29" name="Rectangle 28"/>
          <p:cNvSpPr/>
          <p:nvPr/>
        </p:nvSpPr>
        <p:spPr>
          <a:xfrm>
            <a:off x="7546543" y="4251960"/>
            <a:ext cx="65836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5</a:t>
            </a:r>
          </a:p>
        </p:txBody>
      </p:sp>
      <p:sp>
        <p:nvSpPr>
          <p:cNvPr id="30" name="Rectangle 29"/>
          <p:cNvSpPr/>
          <p:nvPr/>
        </p:nvSpPr>
        <p:spPr>
          <a:xfrm>
            <a:off x="8259775" y="3566160"/>
            <a:ext cx="658368" cy="65836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800" b="0" i="0">
                <a:solidFill>
                  <a:srgbClr val="22304A"/>
                </a:solidFill>
                <a:latin typeface="Consolas"/>
              </a:rPr>
              <a:t>80</a:t>
            </a:r>
          </a:p>
        </p:txBody>
      </p:sp>
      <p:sp>
        <p:nvSpPr>
          <p:cNvPr id="31" name="Rectangle 30"/>
          <p:cNvSpPr/>
          <p:nvPr/>
        </p:nvSpPr>
        <p:spPr>
          <a:xfrm>
            <a:off x="8259775" y="4251960"/>
            <a:ext cx="65836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6</a:t>
            </a:r>
          </a:p>
        </p:txBody>
      </p:sp>
      <p:sp>
        <p:nvSpPr>
          <p:cNvPr id="32" name="Rectangle 31"/>
          <p:cNvSpPr/>
          <p:nvPr/>
        </p:nvSpPr>
        <p:spPr>
          <a:xfrm>
            <a:off x="8973007" y="3566160"/>
            <a:ext cx="658368" cy="65836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800" b="0" i="0">
                <a:solidFill>
                  <a:srgbClr val="22304A"/>
                </a:solidFill>
                <a:latin typeface="Consolas"/>
              </a:rPr>
              <a:t>75</a:t>
            </a:r>
          </a:p>
        </p:txBody>
      </p:sp>
      <p:sp>
        <p:nvSpPr>
          <p:cNvPr id="33" name="Rectangle 32"/>
          <p:cNvSpPr/>
          <p:nvPr/>
        </p:nvSpPr>
        <p:spPr>
          <a:xfrm>
            <a:off x="8973007" y="4251960"/>
            <a:ext cx="65836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7</a:t>
            </a:r>
          </a:p>
        </p:txBody>
      </p:sp>
      <p:sp>
        <p:nvSpPr>
          <p:cNvPr id="34" name="Rectangle 33"/>
          <p:cNvSpPr/>
          <p:nvPr/>
        </p:nvSpPr>
        <p:spPr>
          <a:xfrm>
            <a:off x="9686239" y="3566160"/>
            <a:ext cx="658368" cy="65836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800" b="1" i="0">
                <a:solidFill>
                  <a:srgbClr val="22304A"/>
                </a:solidFill>
                <a:latin typeface="Consolas"/>
              </a:rPr>
              <a:t>85</a:t>
            </a:r>
          </a:p>
        </p:txBody>
      </p:sp>
      <p:sp>
        <p:nvSpPr>
          <p:cNvPr id="35" name="Rectangle 34"/>
          <p:cNvSpPr/>
          <p:nvPr/>
        </p:nvSpPr>
        <p:spPr>
          <a:xfrm>
            <a:off x="9686239" y="4251960"/>
            <a:ext cx="65836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8</a:t>
            </a:r>
          </a:p>
        </p:txBody>
      </p:sp>
      <p:sp>
        <p:nvSpPr>
          <p:cNvPr id="36" name="Rectangle 35"/>
          <p:cNvSpPr/>
          <p:nvPr/>
        </p:nvSpPr>
        <p:spPr>
          <a:xfrm>
            <a:off x="6476695" y="4754880"/>
            <a:ext cx="4937760" cy="1234440"/>
          </a:xfrm>
          <a:prstGeom prst="rect">
            <a:avLst/>
          </a:prstGeom>
          <a:noFill/>
          <a:ln>
            <a:noFill/>
          </a:ln>
        </p:spPr>
        <p:txBody>
          <a:bodyPr rtlCol="0" anchor="t" wrap="square" tIns="0" bIns="0">
            <a:noAutofit/>
          </a:bodyPr>
          <a:lstStyle/>
          <a:p>
            <a:pPr algn="l">
              <a:lnSpc>
                <a:spcPct val="100000"/>
              </a:lnSpc>
              <a:spcBef>
                <a:spcPts val="0"/>
              </a:spcBef>
              <a:spcAft>
                <a:spcPts val="0"/>
              </a:spcAft>
            </a:pPr>
            <a:r>
              <a:rPr sz="1600" b="0" i="0">
                <a:solidFill>
                  <a:srgbClr val="22304A"/>
                </a:solidFill>
                <a:latin typeface="Segoe UI"/>
              </a:rPr>
              <a:t>i now stops at high + 1. j finds the pivot, and the last swap puts 85 at index 8, its final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Best case: the pivot splits evenly</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04 · ANALYSIS</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12</a:t>
            </a:r>
          </a:p>
        </p:txBody>
      </p:sp>
      <p:sp>
        <p:nvSpPr>
          <p:cNvPr id="8" name="Rounded Rectangle 7"/>
          <p:cNvSpPr/>
          <p:nvPr/>
        </p:nvSpPr>
        <p:spPr>
          <a:xfrm>
            <a:off x="548640" y="1691640"/>
            <a:ext cx="5212080" cy="4434840"/>
          </a:xfrm>
          <a:prstGeom prst="roundRect">
            <a:avLst>
              <a:gd name="adj" fmla="val 3092"/>
            </a:avLst>
          </a:prstGeom>
          <a:solidFill>
            <a:srgbClr val="E8F2FB"/>
          </a:solidFill>
          <a:ln>
            <a:noFill/>
          </a:ln>
        </p:spPr>
        <p:txBody>
          <a:bodyPr rtlCol="0" anchor="ctr"/>
          <a:lstStyle/>
          <a:p>
            <a:pPr algn="ctr"/>
          </a:p>
        </p:txBody>
      </p:sp>
      <p:sp>
        <p:nvSpPr>
          <p:cNvPr id="9" name="Rectangle 8"/>
          <p:cNvSpPr/>
          <p:nvPr/>
        </p:nvSpPr>
        <p:spPr>
          <a:xfrm>
            <a:off x="822959" y="1828800"/>
            <a:ext cx="466344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RECURRENCE</a:t>
            </a:r>
          </a:p>
        </p:txBody>
      </p:sp>
      <p:sp>
        <p:nvSpPr>
          <p:cNvPr id="10" name="Rectangle 9"/>
          <p:cNvSpPr/>
          <p:nvPr/>
        </p:nvSpPr>
        <p:spPr>
          <a:xfrm>
            <a:off x="822959" y="2148840"/>
            <a:ext cx="4663440" cy="68580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3000" b="1" i="0">
                <a:solidFill>
                  <a:srgbClr val="22304A"/>
                </a:solidFill>
                <a:latin typeface="Georgia"/>
              </a:rPr>
              <a:t>T(n) = 2T(n/2) + n</a:t>
            </a:r>
          </a:p>
        </p:txBody>
      </p:sp>
      <p:sp>
        <p:nvSpPr>
          <p:cNvPr id="11" name="Rectangle 10"/>
          <p:cNvSpPr/>
          <p:nvPr/>
        </p:nvSpPr>
        <p:spPr>
          <a:xfrm>
            <a:off x="822959" y="2880360"/>
            <a:ext cx="4663440" cy="731520"/>
          </a:xfrm>
          <a:prstGeom prst="rect">
            <a:avLst/>
          </a:prstGeom>
          <a:noFill/>
          <a:ln>
            <a:noFill/>
          </a:ln>
        </p:spPr>
        <p:txBody>
          <a:bodyPr rtlCol="0" anchor="t" wrap="square" lIns="0" tIns="18288" rIns="0" bIns="0">
            <a:noAutofit/>
          </a:bodyPr>
          <a:lstStyle/>
          <a:p>
            <a:pPr algn="l">
              <a:lnSpc>
                <a:spcPct val="100000"/>
              </a:lnSpc>
              <a:spcBef>
                <a:spcPts val="0"/>
              </a:spcBef>
              <a:spcAft>
                <a:spcPts val="0"/>
              </a:spcAft>
            </a:pPr>
            <a:r>
              <a:rPr sz="1600" b="0" i="0">
                <a:solidFill>
                  <a:srgbClr val="22304A"/>
                </a:solidFill>
                <a:latin typeface="Segoe UI"/>
              </a:rPr>
              <a:t>The pivot lands in the middle every time, so both parts have size n/2.</a:t>
            </a:r>
          </a:p>
        </p:txBody>
      </p:sp>
      <p:sp>
        <p:nvSpPr>
          <p:cNvPr id="12" name="Rectangle 11"/>
          <p:cNvSpPr/>
          <p:nvPr/>
        </p:nvSpPr>
        <p:spPr>
          <a:xfrm>
            <a:off x="822959" y="3749039"/>
            <a:ext cx="4663440" cy="18288"/>
          </a:xfrm>
          <a:prstGeom prst="rect">
            <a:avLst/>
          </a:prstGeom>
          <a:solidFill>
            <a:srgbClr val="BCD8F1"/>
          </a:solidFill>
          <a:ln>
            <a:noFill/>
          </a:ln>
        </p:spPr>
        <p:txBody>
          <a:bodyPr rtlCol="0" anchor="ctr"/>
          <a:lstStyle/>
          <a:p>
            <a:pPr algn="ctr"/>
          </a:p>
        </p:txBody>
      </p:sp>
      <p:sp>
        <p:nvSpPr>
          <p:cNvPr id="13" name="Rectangle 12"/>
          <p:cNvSpPr/>
          <p:nvPr/>
        </p:nvSpPr>
        <p:spPr>
          <a:xfrm>
            <a:off x="822959" y="3886200"/>
            <a:ext cx="4663440" cy="91440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4600" b="1" i="0">
                <a:solidFill>
                  <a:srgbClr val="22304A"/>
                </a:solidFill>
                <a:latin typeface="Georgia"/>
              </a:rPr>
              <a:t>Θ(n log n)</a:t>
            </a:r>
          </a:p>
        </p:txBody>
      </p:sp>
      <p:sp>
        <p:nvSpPr>
          <p:cNvPr id="14" name="Rectangle 13"/>
          <p:cNvSpPr/>
          <p:nvPr/>
        </p:nvSpPr>
        <p:spPr>
          <a:xfrm>
            <a:off x="822959" y="4846320"/>
            <a:ext cx="4663440" cy="1097280"/>
          </a:xfrm>
          <a:prstGeom prst="rect">
            <a:avLst/>
          </a:prstGeom>
          <a:noFill/>
          <a:ln>
            <a:noFill/>
          </a:ln>
        </p:spPr>
        <p:txBody>
          <a:bodyPr rtlCol="0" anchor="t" wrap="square" lIns="0" tIns="18288" rIns="0" bIns="0">
            <a:noAutofit/>
          </a:bodyPr>
          <a:lstStyle/>
          <a:p>
            <a:pPr algn="l">
              <a:lnSpc>
                <a:spcPct val="100000"/>
              </a:lnSpc>
              <a:spcBef>
                <a:spcPts val="0"/>
              </a:spcBef>
              <a:spcAft>
                <a:spcPts val="0"/>
              </a:spcAft>
            </a:pPr>
            <a:r>
              <a:rPr sz="1600" b="0" i="0">
                <a:solidFill>
                  <a:srgbClr val="22304A"/>
                </a:solidFill>
                <a:latin typeface="Segoe UI"/>
              </a:rPr>
              <a:t>log n levels (base 2), each doing n work.</a:t>
            </a:r>
          </a:p>
        </p:txBody>
      </p:sp>
      <p:sp>
        <p:nvSpPr>
          <p:cNvPr id="15" name="Rectangle 14"/>
          <p:cNvSpPr/>
          <p:nvPr/>
        </p:nvSpPr>
        <p:spPr>
          <a:xfrm>
            <a:off x="6217920" y="1691640"/>
            <a:ext cx="539496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WORK PER LEVEL</a:t>
            </a:r>
          </a:p>
        </p:txBody>
      </p:sp>
      <p:sp>
        <p:nvSpPr>
          <p:cNvPr id="16" name="Rectangle 15"/>
          <p:cNvSpPr/>
          <p:nvPr/>
        </p:nvSpPr>
        <p:spPr>
          <a:xfrm>
            <a:off x="6217920" y="2148840"/>
            <a:ext cx="4206240" cy="548640"/>
          </a:xfrm>
          <a:prstGeom prst="rect">
            <a:avLst/>
          </a:prstGeom>
          <a:solidFill>
            <a:srgbClr val="F3A08A"/>
          </a:solidFill>
          <a:ln w="15875">
            <a:solidFill>
              <a:srgbClr val="E07A5F"/>
            </a:solidFill>
          </a:ln>
        </p:spPr>
        <p:txBody>
          <a:bodyPr rtlCol="0" anchor="ctr" wrap="none" lIns="0" tIns="0" rIns="0" bIns="0">
            <a:noAutofit/>
          </a:bodyPr>
          <a:lstStyle/>
          <a:p>
            <a:pPr algn="ctr">
              <a:lnSpc>
                <a:spcPct val="100000"/>
              </a:lnSpc>
              <a:spcBef>
                <a:spcPts val="0"/>
              </a:spcBef>
              <a:spcAft>
                <a:spcPts val="0"/>
              </a:spcAft>
            </a:pPr>
            <a:r>
              <a:rPr sz="1300" b="1" i="0">
                <a:solidFill>
                  <a:srgbClr val="22304A"/>
                </a:solidFill>
                <a:latin typeface="Segoe UI"/>
              </a:rPr>
              <a:t>n</a:t>
            </a:r>
          </a:p>
        </p:txBody>
      </p:sp>
      <p:sp>
        <p:nvSpPr>
          <p:cNvPr id="17" name="Rectangle 16"/>
          <p:cNvSpPr/>
          <p:nvPr/>
        </p:nvSpPr>
        <p:spPr>
          <a:xfrm>
            <a:off x="10607039" y="2148840"/>
            <a:ext cx="1005840" cy="54864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2000" b="1" i="0">
                <a:solidFill>
                  <a:srgbClr val="22304A"/>
                </a:solidFill>
                <a:latin typeface="Georgia"/>
              </a:rPr>
              <a:t>= n</a:t>
            </a:r>
          </a:p>
        </p:txBody>
      </p:sp>
      <p:sp>
        <p:nvSpPr>
          <p:cNvPr id="18" name="Rectangle 17"/>
          <p:cNvSpPr/>
          <p:nvPr/>
        </p:nvSpPr>
        <p:spPr>
          <a:xfrm>
            <a:off x="6217920" y="2926080"/>
            <a:ext cx="2080260"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300" b="1" i="0">
                <a:solidFill>
                  <a:srgbClr val="22304A"/>
                </a:solidFill>
                <a:latin typeface="Segoe UI"/>
              </a:rPr>
              <a:t>n/2</a:t>
            </a:r>
          </a:p>
        </p:txBody>
      </p:sp>
      <p:sp>
        <p:nvSpPr>
          <p:cNvPr id="19" name="Rectangle 18"/>
          <p:cNvSpPr/>
          <p:nvPr/>
        </p:nvSpPr>
        <p:spPr>
          <a:xfrm>
            <a:off x="8343900" y="2926080"/>
            <a:ext cx="2080260"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300" b="1" i="0">
                <a:solidFill>
                  <a:srgbClr val="22304A"/>
                </a:solidFill>
                <a:latin typeface="Segoe UI"/>
              </a:rPr>
              <a:t>n/2</a:t>
            </a:r>
          </a:p>
        </p:txBody>
      </p:sp>
      <p:sp>
        <p:nvSpPr>
          <p:cNvPr id="20" name="Rectangle 19"/>
          <p:cNvSpPr/>
          <p:nvPr/>
        </p:nvSpPr>
        <p:spPr>
          <a:xfrm>
            <a:off x="10607039" y="2926080"/>
            <a:ext cx="1005840" cy="54864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2000" b="1" i="0">
                <a:solidFill>
                  <a:srgbClr val="22304A"/>
                </a:solidFill>
                <a:latin typeface="Georgia"/>
              </a:rPr>
              <a:t>= n</a:t>
            </a:r>
          </a:p>
        </p:txBody>
      </p:sp>
      <p:sp>
        <p:nvSpPr>
          <p:cNvPr id="21" name="Rectangle 20"/>
          <p:cNvSpPr/>
          <p:nvPr/>
        </p:nvSpPr>
        <p:spPr>
          <a:xfrm>
            <a:off x="6217920" y="3703320"/>
            <a:ext cx="1017269"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300" b="1" i="0">
                <a:solidFill>
                  <a:srgbClr val="22304A"/>
                </a:solidFill>
                <a:latin typeface="Segoe UI"/>
              </a:rPr>
              <a:t>n/4</a:t>
            </a:r>
          </a:p>
        </p:txBody>
      </p:sp>
      <p:sp>
        <p:nvSpPr>
          <p:cNvPr id="22" name="Rectangle 21"/>
          <p:cNvSpPr/>
          <p:nvPr/>
        </p:nvSpPr>
        <p:spPr>
          <a:xfrm>
            <a:off x="7280909" y="3703320"/>
            <a:ext cx="1017269"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300" b="1" i="0">
                <a:solidFill>
                  <a:srgbClr val="22304A"/>
                </a:solidFill>
                <a:latin typeface="Segoe UI"/>
              </a:rPr>
              <a:t>n/4</a:t>
            </a:r>
          </a:p>
        </p:txBody>
      </p:sp>
      <p:sp>
        <p:nvSpPr>
          <p:cNvPr id="23" name="Rectangle 22"/>
          <p:cNvSpPr/>
          <p:nvPr/>
        </p:nvSpPr>
        <p:spPr>
          <a:xfrm>
            <a:off x="8343900" y="3703320"/>
            <a:ext cx="1017269"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300" b="1" i="0">
                <a:solidFill>
                  <a:srgbClr val="22304A"/>
                </a:solidFill>
                <a:latin typeface="Segoe UI"/>
              </a:rPr>
              <a:t>n/4</a:t>
            </a:r>
          </a:p>
        </p:txBody>
      </p:sp>
      <p:sp>
        <p:nvSpPr>
          <p:cNvPr id="24" name="Rectangle 23"/>
          <p:cNvSpPr/>
          <p:nvPr/>
        </p:nvSpPr>
        <p:spPr>
          <a:xfrm>
            <a:off x="9406890" y="3703320"/>
            <a:ext cx="1017269"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300" b="1" i="0">
                <a:solidFill>
                  <a:srgbClr val="22304A"/>
                </a:solidFill>
                <a:latin typeface="Segoe UI"/>
              </a:rPr>
              <a:t>n/4</a:t>
            </a:r>
          </a:p>
        </p:txBody>
      </p:sp>
      <p:sp>
        <p:nvSpPr>
          <p:cNvPr id="25" name="Rectangle 24"/>
          <p:cNvSpPr/>
          <p:nvPr/>
        </p:nvSpPr>
        <p:spPr>
          <a:xfrm>
            <a:off x="10607039" y="3703320"/>
            <a:ext cx="1005840" cy="54864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2000" b="1" i="0">
                <a:solidFill>
                  <a:srgbClr val="22304A"/>
                </a:solidFill>
                <a:latin typeface="Georgia"/>
              </a:rPr>
              <a:t>= n</a:t>
            </a:r>
          </a:p>
        </p:txBody>
      </p:sp>
      <p:sp>
        <p:nvSpPr>
          <p:cNvPr id="26" name="Rectangle 25"/>
          <p:cNvSpPr/>
          <p:nvPr/>
        </p:nvSpPr>
        <p:spPr>
          <a:xfrm>
            <a:off x="6217920" y="4480560"/>
            <a:ext cx="485775"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100" b="1" i="0">
                <a:solidFill>
                  <a:srgbClr val="22304A"/>
                </a:solidFill>
                <a:latin typeface="Segoe UI"/>
              </a:rPr>
              <a:t>n/8</a:t>
            </a:r>
          </a:p>
        </p:txBody>
      </p:sp>
      <p:sp>
        <p:nvSpPr>
          <p:cNvPr id="27" name="Rectangle 26"/>
          <p:cNvSpPr/>
          <p:nvPr/>
        </p:nvSpPr>
        <p:spPr>
          <a:xfrm>
            <a:off x="6749415" y="4480560"/>
            <a:ext cx="485775"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100" b="1" i="0">
                <a:solidFill>
                  <a:srgbClr val="22304A"/>
                </a:solidFill>
                <a:latin typeface="Segoe UI"/>
              </a:rPr>
              <a:t>n/8</a:t>
            </a:r>
          </a:p>
        </p:txBody>
      </p:sp>
      <p:sp>
        <p:nvSpPr>
          <p:cNvPr id="28" name="Rectangle 27"/>
          <p:cNvSpPr/>
          <p:nvPr/>
        </p:nvSpPr>
        <p:spPr>
          <a:xfrm>
            <a:off x="7280910" y="4480560"/>
            <a:ext cx="485775"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100" b="1" i="0">
                <a:solidFill>
                  <a:srgbClr val="22304A"/>
                </a:solidFill>
                <a:latin typeface="Segoe UI"/>
              </a:rPr>
              <a:t>n/8</a:t>
            </a:r>
          </a:p>
        </p:txBody>
      </p:sp>
      <p:sp>
        <p:nvSpPr>
          <p:cNvPr id="29" name="Rectangle 28"/>
          <p:cNvSpPr/>
          <p:nvPr/>
        </p:nvSpPr>
        <p:spPr>
          <a:xfrm>
            <a:off x="7812404" y="4480560"/>
            <a:ext cx="485775"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100" b="1" i="0">
                <a:solidFill>
                  <a:srgbClr val="22304A"/>
                </a:solidFill>
                <a:latin typeface="Segoe UI"/>
              </a:rPr>
              <a:t>n/8</a:t>
            </a:r>
          </a:p>
        </p:txBody>
      </p:sp>
      <p:sp>
        <p:nvSpPr>
          <p:cNvPr id="30" name="Rectangle 29"/>
          <p:cNvSpPr/>
          <p:nvPr/>
        </p:nvSpPr>
        <p:spPr>
          <a:xfrm>
            <a:off x="8343900" y="4480560"/>
            <a:ext cx="485775"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100" b="1" i="0">
                <a:solidFill>
                  <a:srgbClr val="22304A"/>
                </a:solidFill>
                <a:latin typeface="Segoe UI"/>
              </a:rPr>
              <a:t>n/8</a:t>
            </a:r>
          </a:p>
        </p:txBody>
      </p:sp>
      <p:sp>
        <p:nvSpPr>
          <p:cNvPr id="31" name="Rectangle 30"/>
          <p:cNvSpPr/>
          <p:nvPr/>
        </p:nvSpPr>
        <p:spPr>
          <a:xfrm>
            <a:off x="8875395" y="4480560"/>
            <a:ext cx="485775"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100" b="1" i="0">
                <a:solidFill>
                  <a:srgbClr val="22304A"/>
                </a:solidFill>
                <a:latin typeface="Segoe UI"/>
              </a:rPr>
              <a:t>n/8</a:t>
            </a:r>
          </a:p>
        </p:txBody>
      </p:sp>
      <p:sp>
        <p:nvSpPr>
          <p:cNvPr id="32" name="Rectangle 31"/>
          <p:cNvSpPr/>
          <p:nvPr/>
        </p:nvSpPr>
        <p:spPr>
          <a:xfrm>
            <a:off x="9406890" y="4480560"/>
            <a:ext cx="485775"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100" b="1" i="0">
                <a:solidFill>
                  <a:srgbClr val="22304A"/>
                </a:solidFill>
                <a:latin typeface="Segoe UI"/>
              </a:rPr>
              <a:t>n/8</a:t>
            </a:r>
          </a:p>
        </p:txBody>
      </p:sp>
      <p:sp>
        <p:nvSpPr>
          <p:cNvPr id="33" name="Rectangle 32"/>
          <p:cNvSpPr/>
          <p:nvPr/>
        </p:nvSpPr>
        <p:spPr>
          <a:xfrm>
            <a:off x="9938385" y="4480560"/>
            <a:ext cx="485775" cy="54864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100" b="1" i="0">
                <a:solidFill>
                  <a:srgbClr val="22304A"/>
                </a:solidFill>
                <a:latin typeface="Segoe UI"/>
              </a:rPr>
              <a:t>n/8</a:t>
            </a:r>
          </a:p>
        </p:txBody>
      </p:sp>
      <p:sp>
        <p:nvSpPr>
          <p:cNvPr id="34" name="Rectangle 33"/>
          <p:cNvSpPr/>
          <p:nvPr/>
        </p:nvSpPr>
        <p:spPr>
          <a:xfrm>
            <a:off x="10607039" y="4480560"/>
            <a:ext cx="1005840" cy="54864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2000" b="1" i="0">
                <a:solidFill>
                  <a:srgbClr val="22304A"/>
                </a:solidFill>
                <a:latin typeface="Georgia"/>
              </a:rPr>
              <a:t>= n</a:t>
            </a:r>
          </a:p>
        </p:txBody>
      </p:sp>
      <p:sp>
        <p:nvSpPr>
          <p:cNvPr id="35" name="Rectangle 34"/>
          <p:cNvSpPr/>
          <p:nvPr/>
        </p:nvSpPr>
        <p:spPr>
          <a:xfrm>
            <a:off x="6217920" y="5212080"/>
            <a:ext cx="5394960"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600" b="0" i="0">
                <a:solidFill>
                  <a:srgbClr val="66758C"/>
                </a:solidFill>
                <a:latin typeface="Segoe UI"/>
              </a:rPr>
              <a:t>... down to size 1</a:t>
            </a:r>
          </a:p>
        </p:txBody>
      </p:sp>
      <p:sp>
        <p:nvSpPr>
          <p:cNvPr id="36" name="Rectangle 35"/>
          <p:cNvSpPr/>
          <p:nvPr/>
        </p:nvSpPr>
        <p:spPr>
          <a:xfrm>
            <a:off x="6217920" y="5669280"/>
            <a:ext cx="5394960" cy="45720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800" b="1" i="0">
                <a:solidFill>
                  <a:srgbClr val="22304A"/>
                </a:solidFill>
                <a:latin typeface="Segoe UI"/>
              </a:rPr>
              <a:t>n work × log 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Worst case: every split is lopsided</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04 · ANALYSIS</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13</a:t>
            </a:r>
          </a:p>
        </p:txBody>
      </p:sp>
      <p:sp>
        <p:nvSpPr>
          <p:cNvPr id="8" name="Rounded Rectangle 7"/>
          <p:cNvSpPr/>
          <p:nvPr/>
        </p:nvSpPr>
        <p:spPr>
          <a:xfrm>
            <a:off x="548640" y="1691640"/>
            <a:ext cx="5212080" cy="3200400"/>
          </a:xfrm>
          <a:prstGeom prst="roundRect">
            <a:avLst>
              <a:gd name="adj" fmla="val 4285"/>
            </a:avLst>
          </a:prstGeom>
          <a:solidFill>
            <a:srgbClr val="E8F2FB"/>
          </a:solidFill>
          <a:ln>
            <a:noFill/>
          </a:ln>
        </p:spPr>
        <p:txBody>
          <a:bodyPr rtlCol="0" anchor="ctr"/>
          <a:lstStyle/>
          <a:p>
            <a:pPr algn="ctr"/>
          </a:p>
        </p:txBody>
      </p:sp>
      <p:sp>
        <p:nvSpPr>
          <p:cNvPr id="9" name="Rectangle 8"/>
          <p:cNvSpPr/>
          <p:nvPr/>
        </p:nvSpPr>
        <p:spPr>
          <a:xfrm>
            <a:off x="822959" y="1801368"/>
            <a:ext cx="466344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RECURRENCE</a:t>
            </a:r>
          </a:p>
        </p:txBody>
      </p:sp>
      <p:sp>
        <p:nvSpPr>
          <p:cNvPr id="10" name="Rectangle 9"/>
          <p:cNvSpPr/>
          <p:nvPr/>
        </p:nvSpPr>
        <p:spPr>
          <a:xfrm>
            <a:off x="822959" y="2103120"/>
            <a:ext cx="4663440" cy="6400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3000" b="1" i="0">
                <a:solidFill>
                  <a:srgbClr val="22304A"/>
                </a:solidFill>
                <a:latin typeface="Georgia"/>
              </a:rPr>
              <a:t>T(n) = T(n − 1) + n</a:t>
            </a:r>
          </a:p>
        </p:txBody>
      </p:sp>
      <p:sp>
        <p:nvSpPr>
          <p:cNvPr id="11" name="Rectangle 10"/>
          <p:cNvSpPr/>
          <p:nvPr/>
        </p:nvSpPr>
        <p:spPr>
          <a:xfrm>
            <a:off x="822959" y="2788920"/>
            <a:ext cx="4663440" cy="45720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800" b="0" i="0">
                <a:solidFill>
                  <a:srgbClr val="22304A"/>
                </a:solidFill>
                <a:latin typeface="Consolas"/>
              </a:rPr>
              <a:t>n + (n−1) + … + 1  =  n(n−1)/2</a:t>
            </a:r>
          </a:p>
        </p:txBody>
      </p:sp>
      <p:sp>
        <p:nvSpPr>
          <p:cNvPr id="12" name="Rectangle 11"/>
          <p:cNvSpPr/>
          <p:nvPr/>
        </p:nvSpPr>
        <p:spPr>
          <a:xfrm>
            <a:off x="822959" y="3383280"/>
            <a:ext cx="4663440" cy="18288"/>
          </a:xfrm>
          <a:prstGeom prst="rect">
            <a:avLst/>
          </a:prstGeom>
          <a:solidFill>
            <a:srgbClr val="BCD8F1"/>
          </a:solidFill>
          <a:ln>
            <a:noFill/>
          </a:ln>
        </p:spPr>
        <p:txBody>
          <a:bodyPr rtlCol="0" anchor="ctr"/>
          <a:lstStyle/>
          <a:p>
            <a:pPr algn="ctr"/>
          </a:p>
        </p:txBody>
      </p:sp>
      <p:sp>
        <p:nvSpPr>
          <p:cNvPr id="13" name="Rectangle 12"/>
          <p:cNvSpPr/>
          <p:nvPr/>
        </p:nvSpPr>
        <p:spPr>
          <a:xfrm>
            <a:off x="822959" y="3474720"/>
            <a:ext cx="4663440" cy="91440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5000" b="1" i="0">
                <a:solidFill>
                  <a:srgbClr val="22304A"/>
                </a:solidFill>
                <a:latin typeface="Georgia"/>
              </a:rPr>
              <a:t>Θ(n²)</a:t>
            </a:r>
          </a:p>
        </p:txBody>
      </p:sp>
      <p:sp>
        <p:nvSpPr>
          <p:cNvPr id="14" name="Rectangle 13"/>
          <p:cNvSpPr/>
          <p:nvPr/>
        </p:nvSpPr>
        <p:spPr>
          <a:xfrm>
            <a:off x="822959" y="4434840"/>
            <a:ext cx="4663440" cy="36576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400" b="0" i="0">
                <a:solidFill>
                  <a:srgbClr val="66758C"/>
                </a:solidFill>
                <a:latin typeface="Segoe UI"/>
              </a:rPr>
              <a:t>n levels deep, about n/2 work on average per level</a:t>
            </a:r>
          </a:p>
        </p:txBody>
      </p:sp>
      <p:sp>
        <p:nvSpPr>
          <p:cNvPr id="15" name="Rounded Rectangle 14"/>
          <p:cNvSpPr/>
          <p:nvPr/>
        </p:nvSpPr>
        <p:spPr>
          <a:xfrm>
            <a:off x="548640" y="5029200"/>
            <a:ext cx="5212080" cy="1097280"/>
          </a:xfrm>
          <a:prstGeom prst="roundRect">
            <a:avLst>
              <a:gd name="adj" fmla="val 12500"/>
            </a:avLst>
          </a:prstGeom>
          <a:solidFill>
            <a:srgbClr val="FBE3DB"/>
          </a:solidFill>
          <a:ln>
            <a:noFill/>
          </a:ln>
        </p:spPr>
        <p:txBody>
          <a:bodyPr rtlCol="0" anchor="ctr"/>
          <a:lstStyle/>
          <a:p>
            <a:pPr algn="ctr"/>
          </a:p>
        </p:txBody>
      </p:sp>
      <p:sp>
        <p:nvSpPr>
          <p:cNvPr id="16" name="Rectangle 15"/>
          <p:cNvSpPr/>
          <p:nvPr/>
        </p:nvSpPr>
        <p:spPr>
          <a:xfrm>
            <a:off x="548640" y="5029200"/>
            <a:ext cx="82296" cy="1097280"/>
          </a:xfrm>
          <a:prstGeom prst="rect">
            <a:avLst/>
          </a:prstGeom>
          <a:solidFill>
            <a:srgbClr val="E07A5F"/>
          </a:solidFill>
          <a:ln>
            <a:noFill/>
          </a:ln>
        </p:spPr>
        <p:txBody>
          <a:bodyPr rtlCol="0" anchor="ctr"/>
          <a:lstStyle/>
          <a:p>
            <a:pPr algn="ctr"/>
          </a:p>
        </p:txBody>
      </p:sp>
      <p:sp>
        <p:nvSpPr>
          <p:cNvPr id="17" name="Rectangle 16"/>
          <p:cNvSpPr/>
          <p:nvPr/>
        </p:nvSpPr>
        <p:spPr>
          <a:xfrm>
            <a:off x="822959" y="5074920"/>
            <a:ext cx="4800600" cy="1005840"/>
          </a:xfrm>
          <a:prstGeom prst="rect">
            <a:avLst/>
          </a:prstGeom>
          <a:noFill/>
          <a:ln>
            <a:noFill/>
          </a:ln>
        </p:spPr>
        <p:txBody>
          <a:bodyPr rtlCol="0" anchor="ctr" wrap="square" lIns="45720" tIns="27432" rIns="45720" bIns="27432">
            <a:noAutofit/>
          </a:bodyPr>
          <a:lstStyle/>
          <a:p>
            <a:pPr algn="l">
              <a:lnSpc>
                <a:spcPct val="100000"/>
              </a:lnSpc>
              <a:spcBef>
                <a:spcPts val="0"/>
              </a:spcBef>
              <a:spcAft>
                <a:spcPts val="0"/>
              </a:spcAft>
            </a:pPr>
            <a:r>
              <a:rPr sz="1700" b="1" i="0">
                <a:solidFill>
                  <a:srgbClr val="22304A"/>
                </a:solidFill>
                <a:latin typeface="Segoe UI"/>
              </a:rPr>
              <a:t>Already sorted input </a:t>
            </a:r>
            <a:r>
              <a:rPr sz="1700" b="0" i="0">
                <a:solidFill>
                  <a:srgbClr val="22304A"/>
                </a:solidFill>
                <a:latin typeface="Segoe UI"/>
              </a:rPr>
              <a:t>with a first-element pivot is the worst case.</a:t>
            </a:r>
          </a:p>
        </p:txBody>
      </p:sp>
      <p:sp>
        <p:nvSpPr>
          <p:cNvPr id="18" name="Rectangle 17"/>
          <p:cNvSpPr/>
          <p:nvPr/>
        </p:nvSpPr>
        <p:spPr>
          <a:xfrm>
            <a:off x="6217920" y="1691640"/>
            <a:ext cx="539496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EACH CALL REMOVES ONE ELEMENT</a:t>
            </a:r>
          </a:p>
        </p:txBody>
      </p:sp>
      <p:sp>
        <p:nvSpPr>
          <p:cNvPr id="19" name="Rectangle 18"/>
          <p:cNvSpPr/>
          <p:nvPr/>
        </p:nvSpPr>
        <p:spPr>
          <a:xfrm>
            <a:off x="6217920" y="2148840"/>
            <a:ext cx="320040" cy="411480"/>
          </a:xfrm>
          <a:prstGeom prst="rect">
            <a:avLst/>
          </a:prstGeom>
          <a:solidFill>
            <a:srgbClr val="F3A08A"/>
          </a:solidFill>
          <a:ln w="15875">
            <a:solidFill>
              <a:srgbClr val="E07A5F"/>
            </a:solidFill>
          </a:ln>
        </p:spPr>
        <p:txBody>
          <a:bodyPr rtlCol="0" anchor="ctr"/>
          <a:lstStyle/>
          <a:p>
            <a:pPr algn="ctr"/>
          </a:p>
        </p:txBody>
      </p:sp>
      <p:sp>
        <p:nvSpPr>
          <p:cNvPr id="20" name="Rectangle 19"/>
          <p:cNvSpPr/>
          <p:nvPr/>
        </p:nvSpPr>
        <p:spPr>
          <a:xfrm>
            <a:off x="6537959" y="2148840"/>
            <a:ext cx="4709160" cy="41148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Segoe UI"/>
              </a:rPr>
              <a:t>n</a:t>
            </a:r>
          </a:p>
        </p:txBody>
      </p:sp>
      <p:sp>
        <p:nvSpPr>
          <p:cNvPr id="21" name="Rectangle 20"/>
          <p:cNvSpPr/>
          <p:nvPr/>
        </p:nvSpPr>
        <p:spPr>
          <a:xfrm>
            <a:off x="6217920" y="2651760"/>
            <a:ext cx="320040" cy="411480"/>
          </a:xfrm>
          <a:prstGeom prst="rect">
            <a:avLst/>
          </a:prstGeom>
          <a:solidFill>
            <a:srgbClr val="F3A08A"/>
          </a:solidFill>
          <a:ln w="15875">
            <a:solidFill>
              <a:srgbClr val="E07A5F"/>
            </a:solidFill>
          </a:ln>
        </p:spPr>
        <p:txBody>
          <a:bodyPr rtlCol="0" anchor="ctr"/>
          <a:lstStyle/>
          <a:p>
            <a:pPr algn="ctr"/>
          </a:p>
        </p:txBody>
      </p:sp>
      <p:sp>
        <p:nvSpPr>
          <p:cNvPr id="22" name="Rectangle 21"/>
          <p:cNvSpPr/>
          <p:nvPr/>
        </p:nvSpPr>
        <p:spPr>
          <a:xfrm>
            <a:off x="6537959" y="2651760"/>
            <a:ext cx="3977640" cy="41148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Segoe UI"/>
              </a:rPr>
              <a:t>n − 1</a:t>
            </a:r>
          </a:p>
        </p:txBody>
      </p:sp>
      <p:sp>
        <p:nvSpPr>
          <p:cNvPr id="23" name="Rectangle 22"/>
          <p:cNvSpPr/>
          <p:nvPr/>
        </p:nvSpPr>
        <p:spPr>
          <a:xfrm>
            <a:off x="6217920" y="3154680"/>
            <a:ext cx="320040" cy="411480"/>
          </a:xfrm>
          <a:prstGeom prst="rect">
            <a:avLst/>
          </a:prstGeom>
          <a:solidFill>
            <a:srgbClr val="F3A08A"/>
          </a:solidFill>
          <a:ln w="15875">
            <a:solidFill>
              <a:srgbClr val="E07A5F"/>
            </a:solidFill>
          </a:ln>
        </p:spPr>
        <p:txBody>
          <a:bodyPr rtlCol="0" anchor="ctr"/>
          <a:lstStyle/>
          <a:p>
            <a:pPr algn="ctr"/>
          </a:p>
        </p:txBody>
      </p:sp>
      <p:sp>
        <p:nvSpPr>
          <p:cNvPr id="24" name="Rectangle 23"/>
          <p:cNvSpPr/>
          <p:nvPr/>
        </p:nvSpPr>
        <p:spPr>
          <a:xfrm>
            <a:off x="6537959" y="3154680"/>
            <a:ext cx="3246120" cy="41148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Segoe UI"/>
              </a:rPr>
              <a:t>n − 2</a:t>
            </a:r>
          </a:p>
        </p:txBody>
      </p:sp>
      <p:sp>
        <p:nvSpPr>
          <p:cNvPr id="25" name="Rectangle 24"/>
          <p:cNvSpPr/>
          <p:nvPr/>
        </p:nvSpPr>
        <p:spPr>
          <a:xfrm>
            <a:off x="6217920" y="3657600"/>
            <a:ext cx="320040" cy="411480"/>
          </a:xfrm>
          <a:prstGeom prst="rect">
            <a:avLst/>
          </a:prstGeom>
          <a:solidFill>
            <a:srgbClr val="F3A08A"/>
          </a:solidFill>
          <a:ln w="15875">
            <a:solidFill>
              <a:srgbClr val="E07A5F"/>
            </a:solidFill>
          </a:ln>
        </p:spPr>
        <p:txBody>
          <a:bodyPr rtlCol="0" anchor="ctr"/>
          <a:lstStyle/>
          <a:p>
            <a:pPr algn="ctr"/>
          </a:p>
        </p:txBody>
      </p:sp>
      <p:sp>
        <p:nvSpPr>
          <p:cNvPr id="26" name="Rectangle 25"/>
          <p:cNvSpPr/>
          <p:nvPr/>
        </p:nvSpPr>
        <p:spPr>
          <a:xfrm>
            <a:off x="6537959" y="3657600"/>
            <a:ext cx="2514600" cy="41148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Segoe UI"/>
              </a:rPr>
              <a:t>n − 3</a:t>
            </a:r>
          </a:p>
        </p:txBody>
      </p:sp>
      <p:sp>
        <p:nvSpPr>
          <p:cNvPr id="27" name="Rectangle 26"/>
          <p:cNvSpPr/>
          <p:nvPr/>
        </p:nvSpPr>
        <p:spPr>
          <a:xfrm>
            <a:off x="6217920" y="4160520"/>
            <a:ext cx="914400" cy="45720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2000" b="1" i="0">
                <a:solidFill>
                  <a:srgbClr val="66758C"/>
                </a:solidFill>
                <a:latin typeface="Segoe UI"/>
              </a:rPr>
              <a:t>...</a:t>
            </a:r>
          </a:p>
        </p:txBody>
      </p:sp>
      <p:sp>
        <p:nvSpPr>
          <p:cNvPr id="28" name="Rectangle 27"/>
          <p:cNvSpPr/>
          <p:nvPr/>
        </p:nvSpPr>
        <p:spPr>
          <a:xfrm>
            <a:off x="6217920" y="4663440"/>
            <a:ext cx="320040" cy="411480"/>
          </a:xfrm>
          <a:prstGeom prst="rect">
            <a:avLst/>
          </a:prstGeom>
          <a:solidFill>
            <a:srgbClr val="F3A08A"/>
          </a:solidFill>
          <a:ln w="15875">
            <a:solidFill>
              <a:srgbClr val="E07A5F"/>
            </a:solidFill>
          </a:ln>
        </p:spPr>
        <p:txBody>
          <a:bodyPr rtlCol="0" anchor="ctr"/>
          <a:lstStyle/>
          <a:p>
            <a:pPr algn="ctr"/>
          </a:p>
        </p:txBody>
      </p:sp>
      <p:sp>
        <p:nvSpPr>
          <p:cNvPr id="29" name="Rectangle 28"/>
          <p:cNvSpPr/>
          <p:nvPr/>
        </p:nvSpPr>
        <p:spPr>
          <a:xfrm>
            <a:off x="6537959" y="4663440"/>
            <a:ext cx="594360" cy="411480"/>
          </a:xfrm>
          <a:prstGeom prst="rect">
            <a:avLst/>
          </a:prstGeom>
          <a:solidFill>
            <a:srgbClr val="BCD8F1"/>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Segoe UI"/>
              </a:rPr>
              <a:t>1</a:t>
            </a:r>
          </a:p>
        </p:txBody>
      </p:sp>
      <p:sp>
        <p:nvSpPr>
          <p:cNvPr id="30" name="Rounded Rectangle 29"/>
          <p:cNvSpPr/>
          <p:nvPr/>
        </p:nvSpPr>
        <p:spPr>
          <a:xfrm>
            <a:off x="6217920" y="5257800"/>
            <a:ext cx="5422392" cy="868680"/>
          </a:xfrm>
          <a:prstGeom prst="roundRect">
            <a:avLst>
              <a:gd name="adj" fmla="val 12631"/>
            </a:avLst>
          </a:prstGeom>
          <a:solidFill>
            <a:srgbClr val="E8F2FB"/>
          </a:solidFill>
          <a:ln>
            <a:noFill/>
          </a:ln>
        </p:spPr>
        <p:txBody>
          <a:bodyPr rtlCol="0" anchor="ctr"/>
          <a:lstStyle/>
          <a:p>
            <a:pPr algn="ctr"/>
          </a:p>
        </p:txBody>
      </p:sp>
      <p:sp>
        <p:nvSpPr>
          <p:cNvPr id="31" name="Rectangle 30"/>
          <p:cNvSpPr/>
          <p:nvPr/>
        </p:nvSpPr>
        <p:spPr>
          <a:xfrm>
            <a:off x="6400800" y="5285232"/>
            <a:ext cx="5074920" cy="813816"/>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1" i="0">
                <a:solidFill>
                  <a:srgbClr val="22304A"/>
                </a:solidFill>
                <a:latin typeface="Segoe UI"/>
              </a:rPr>
              <a:t>5,000 sorted values: </a:t>
            </a:r>
            <a:r>
              <a:rPr sz="1500" b="0" i="0">
                <a:solidFill>
                  <a:srgbClr val="22304A"/>
                </a:solidFill>
                <a:latin typeface="Segoe UI"/>
              </a:rPr>
              <a:t>12,497,500 comparisons, against about 61,000 for n log 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Average case: close to the best case</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04 · ANALYSIS</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14</a:t>
            </a:r>
          </a:p>
        </p:txBody>
      </p:sp>
      <p:sp>
        <p:nvSpPr>
          <p:cNvPr id="8" name="Rounded Rectangle 7"/>
          <p:cNvSpPr/>
          <p:nvPr/>
        </p:nvSpPr>
        <p:spPr>
          <a:xfrm>
            <a:off x="548640" y="1691640"/>
            <a:ext cx="5669280" cy="4434840"/>
          </a:xfrm>
          <a:prstGeom prst="roundRect">
            <a:avLst>
              <a:gd name="adj" fmla="val 3092"/>
            </a:avLst>
          </a:prstGeom>
          <a:solidFill>
            <a:srgbClr val="E8F2FB"/>
          </a:solidFill>
          <a:ln>
            <a:noFill/>
          </a:ln>
        </p:spPr>
        <p:txBody>
          <a:bodyPr rtlCol="0" anchor="ctr"/>
          <a:lstStyle/>
          <a:p>
            <a:pPr algn="ctr"/>
          </a:p>
        </p:txBody>
      </p:sp>
      <p:sp>
        <p:nvSpPr>
          <p:cNvPr id="9" name="Rectangle 8"/>
          <p:cNvSpPr/>
          <p:nvPr/>
        </p:nvSpPr>
        <p:spPr>
          <a:xfrm>
            <a:off x="868680" y="1874519"/>
            <a:ext cx="50292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EXPECTED COMPARISONS</a:t>
            </a:r>
          </a:p>
        </p:txBody>
      </p:sp>
      <p:sp>
        <p:nvSpPr>
          <p:cNvPr id="10" name="Rectangle 9"/>
          <p:cNvSpPr/>
          <p:nvPr/>
        </p:nvSpPr>
        <p:spPr>
          <a:xfrm>
            <a:off x="868680" y="2286000"/>
            <a:ext cx="5029200" cy="10058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4200" b="1" i="0">
                <a:solidFill>
                  <a:srgbClr val="22304A"/>
                </a:solidFill>
                <a:latin typeface="Georgia"/>
              </a:rPr>
              <a:t>≈ 1.39 n log n</a:t>
            </a:r>
          </a:p>
        </p:txBody>
      </p:sp>
      <p:sp>
        <p:nvSpPr>
          <p:cNvPr id="11" name="Rectangle 10"/>
          <p:cNvSpPr/>
          <p:nvPr/>
        </p:nvSpPr>
        <p:spPr>
          <a:xfrm>
            <a:off x="868680" y="3383280"/>
            <a:ext cx="5029200" cy="45720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000" b="0" i="0">
                <a:solidFill>
                  <a:srgbClr val="22304A"/>
                </a:solidFill>
                <a:latin typeface="Segoe UI"/>
              </a:rPr>
              <a:t>which is about 2 n ln n</a:t>
            </a:r>
          </a:p>
        </p:txBody>
      </p:sp>
      <p:sp>
        <p:nvSpPr>
          <p:cNvPr id="12" name="Rectangle 11"/>
          <p:cNvSpPr/>
          <p:nvPr/>
        </p:nvSpPr>
        <p:spPr>
          <a:xfrm>
            <a:off x="868680" y="4069080"/>
            <a:ext cx="5029200" cy="18288"/>
          </a:xfrm>
          <a:prstGeom prst="rect">
            <a:avLst/>
          </a:prstGeom>
          <a:solidFill>
            <a:srgbClr val="BCD8F1"/>
          </a:solidFill>
          <a:ln>
            <a:noFill/>
          </a:ln>
        </p:spPr>
        <p:txBody>
          <a:bodyPr rtlCol="0" anchor="ctr"/>
          <a:lstStyle/>
          <a:p>
            <a:pPr algn="ctr"/>
          </a:p>
        </p:txBody>
      </p:sp>
      <p:sp>
        <p:nvSpPr>
          <p:cNvPr id="13" name="Rectangle 12"/>
          <p:cNvSpPr/>
          <p:nvPr/>
        </p:nvSpPr>
        <p:spPr>
          <a:xfrm>
            <a:off x="868680" y="4206240"/>
            <a:ext cx="5029200" cy="1737360"/>
          </a:xfrm>
          <a:prstGeom prst="rect">
            <a:avLst/>
          </a:prstGeom>
          <a:noFill/>
          <a:ln>
            <a:noFill/>
          </a:ln>
        </p:spPr>
        <p:txBody>
          <a:bodyPr rtlCol="0" anchor="t" wrap="square" lIns="0" tIns="18288" rIns="0" bIns="0">
            <a:noAutofit/>
          </a:bodyPr>
          <a:lstStyle/>
          <a:p>
            <a:pPr algn="l">
              <a:lnSpc>
                <a:spcPct val="100000"/>
              </a:lnSpc>
              <a:spcBef>
                <a:spcPts val="0"/>
              </a:spcBef>
              <a:spcAft>
                <a:spcPts val="0"/>
              </a:spcAft>
            </a:pPr>
            <a:r>
              <a:rPr sz="1600" b="0" i="0">
                <a:solidFill>
                  <a:srgbClr val="22304A"/>
                </a:solidFill>
                <a:latin typeface="Segoe UI"/>
              </a:rPr>
              <a:t>Random pivot, or random input order. This is not the case where the pivot is the median: that is the best case.</a:t>
            </a:r>
          </a:p>
        </p:txBody>
      </p:sp>
      <p:sp>
        <p:nvSpPr>
          <p:cNvPr id="14" name="Rounded Rectangle 13"/>
          <p:cNvSpPr/>
          <p:nvPr/>
        </p:nvSpPr>
        <p:spPr>
          <a:xfrm>
            <a:off x="6492240" y="1691640"/>
            <a:ext cx="5148072" cy="1371600"/>
          </a:xfrm>
          <a:prstGeom prst="roundRect">
            <a:avLst>
              <a:gd name="adj" fmla="val 10000"/>
            </a:avLst>
          </a:prstGeom>
          <a:solidFill>
            <a:srgbClr val="FFFFFF"/>
          </a:solidFill>
          <a:ln w="19050">
            <a:solidFill>
              <a:srgbClr val="BCD8F1"/>
            </a:solidFill>
          </a:ln>
        </p:spPr>
        <p:txBody>
          <a:bodyPr rtlCol="0" anchor="ctr"/>
          <a:lstStyle/>
          <a:p>
            <a:pPr algn="ctr"/>
          </a:p>
        </p:txBody>
      </p:sp>
      <p:sp>
        <p:nvSpPr>
          <p:cNvPr id="15" name="Rectangle 14"/>
          <p:cNvSpPr/>
          <p:nvPr/>
        </p:nvSpPr>
        <p:spPr>
          <a:xfrm>
            <a:off x="6492240" y="1920240"/>
            <a:ext cx="82296" cy="914400"/>
          </a:xfrm>
          <a:prstGeom prst="rect">
            <a:avLst/>
          </a:prstGeom>
          <a:solidFill>
            <a:srgbClr val="E07A5F"/>
          </a:solidFill>
          <a:ln>
            <a:noFill/>
          </a:ln>
        </p:spPr>
        <p:txBody>
          <a:bodyPr rtlCol="0" anchor="ctr"/>
          <a:lstStyle/>
          <a:p>
            <a:pPr algn="ctr"/>
          </a:p>
        </p:txBody>
      </p:sp>
      <p:sp>
        <p:nvSpPr>
          <p:cNvPr id="16" name="Rectangle 15"/>
          <p:cNvSpPr/>
          <p:nvPr/>
        </p:nvSpPr>
        <p:spPr>
          <a:xfrm>
            <a:off x="6766560" y="1783080"/>
            <a:ext cx="4754880"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900" b="1" i="0">
                <a:solidFill>
                  <a:srgbClr val="22304A"/>
                </a:solidFill>
                <a:latin typeface="Georgia"/>
              </a:rPr>
              <a:t>Only 39% above the floor</a:t>
            </a:r>
          </a:p>
        </p:txBody>
      </p:sp>
      <p:sp>
        <p:nvSpPr>
          <p:cNvPr id="17" name="Rectangle 16"/>
          <p:cNvSpPr/>
          <p:nvPr/>
        </p:nvSpPr>
        <p:spPr>
          <a:xfrm>
            <a:off x="6766560" y="2221992"/>
            <a:ext cx="4754880" cy="777240"/>
          </a:xfrm>
          <a:prstGeom prst="rect">
            <a:avLst/>
          </a:prstGeom>
          <a:noFill/>
          <a:ln>
            <a:noFill/>
          </a:ln>
        </p:spPr>
        <p:txBody>
          <a:bodyPr rtlCol="0" anchor="t" wrap="square" lIns="0" tIns="0" rIns="0" bIns="0">
            <a:noAutofit/>
          </a:bodyPr>
          <a:lstStyle/>
          <a:p>
            <a:pPr algn="l">
              <a:lnSpc>
                <a:spcPct val="100000"/>
              </a:lnSpc>
              <a:spcBef>
                <a:spcPts val="0"/>
              </a:spcBef>
              <a:spcAft>
                <a:spcPts val="0"/>
              </a:spcAft>
            </a:pPr>
            <a:r>
              <a:rPr sz="1500" b="0" i="0">
                <a:solidFill>
                  <a:srgbClr val="22304A"/>
                </a:solidFill>
                <a:latin typeface="Segoe UI"/>
              </a:rPr>
              <a:t>No comparison sort can beat n log n. Quick sort is about 39% above it.</a:t>
            </a:r>
          </a:p>
        </p:txBody>
      </p:sp>
      <p:sp>
        <p:nvSpPr>
          <p:cNvPr id="18" name="Rounded Rectangle 17"/>
          <p:cNvSpPr/>
          <p:nvPr/>
        </p:nvSpPr>
        <p:spPr>
          <a:xfrm>
            <a:off x="6492240" y="3227832"/>
            <a:ext cx="5148072" cy="1371600"/>
          </a:xfrm>
          <a:prstGeom prst="roundRect">
            <a:avLst>
              <a:gd name="adj" fmla="val 10000"/>
            </a:avLst>
          </a:prstGeom>
          <a:solidFill>
            <a:srgbClr val="FFFFFF"/>
          </a:solidFill>
          <a:ln w="19050">
            <a:solidFill>
              <a:srgbClr val="BCD8F1"/>
            </a:solidFill>
          </a:ln>
        </p:spPr>
        <p:txBody>
          <a:bodyPr rtlCol="0" anchor="ctr"/>
          <a:lstStyle/>
          <a:p>
            <a:pPr algn="ctr"/>
          </a:p>
        </p:txBody>
      </p:sp>
      <p:sp>
        <p:nvSpPr>
          <p:cNvPr id="19" name="Rectangle 18"/>
          <p:cNvSpPr/>
          <p:nvPr/>
        </p:nvSpPr>
        <p:spPr>
          <a:xfrm>
            <a:off x="6492240" y="3456432"/>
            <a:ext cx="82296" cy="914400"/>
          </a:xfrm>
          <a:prstGeom prst="rect">
            <a:avLst/>
          </a:prstGeom>
          <a:solidFill>
            <a:srgbClr val="E07A5F"/>
          </a:solidFill>
          <a:ln>
            <a:noFill/>
          </a:ln>
        </p:spPr>
        <p:txBody>
          <a:bodyPr rtlCol="0" anchor="ctr"/>
          <a:lstStyle/>
          <a:p>
            <a:pPr algn="ctr"/>
          </a:p>
        </p:txBody>
      </p:sp>
      <p:sp>
        <p:nvSpPr>
          <p:cNvPr id="20" name="Rectangle 19"/>
          <p:cNvSpPr/>
          <p:nvPr/>
        </p:nvSpPr>
        <p:spPr>
          <a:xfrm>
            <a:off x="6766560" y="3319272"/>
            <a:ext cx="4754880"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900" b="1" i="0">
                <a:solidFill>
                  <a:srgbClr val="22304A"/>
                </a:solidFill>
                <a:latin typeface="Georgia"/>
              </a:rPr>
              <a:t>Uneven splits are fine</a:t>
            </a:r>
          </a:p>
        </p:txBody>
      </p:sp>
      <p:sp>
        <p:nvSpPr>
          <p:cNvPr id="21" name="Rectangle 20"/>
          <p:cNvSpPr/>
          <p:nvPr/>
        </p:nvSpPr>
        <p:spPr>
          <a:xfrm>
            <a:off x="6766560" y="3758184"/>
            <a:ext cx="4754880" cy="777240"/>
          </a:xfrm>
          <a:prstGeom prst="rect">
            <a:avLst/>
          </a:prstGeom>
          <a:noFill/>
          <a:ln>
            <a:noFill/>
          </a:ln>
        </p:spPr>
        <p:txBody>
          <a:bodyPr rtlCol="0" anchor="t" wrap="square" lIns="0" tIns="0" rIns="0" bIns="0">
            <a:noAutofit/>
          </a:bodyPr>
          <a:lstStyle/>
          <a:p>
            <a:pPr algn="l">
              <a:lnSpc>
                <a:spcPct val="100000"/>
              </a:lnSpc>
              <a:spcBef>
                <a:spcPts val="0"/>
              </a:spcBef>
              <a:spcAft>
                <a:spcPts val="0"/>
              </a:spcAft>
            </a:pPr>
            <a:r>
              <a:rPr sz="1500" b="0" i="0">
                <a:solidFill>
                  <a:srgbClr val="22304A"/>
                </a:solidFill>
                <a:latin typeface="Segoe UI"/>
              </a:rPr>
              <a:t>Even a 9 to 1 split at every level still gives O(n log n).</a:t>
            </a:r>
          </a:p>
        </p:txBody>
      </p:sp>
      <p:sp>
        <p:nvSpPr>
          <p:cNvPr id="22" name="Rounded Rectangle 21"/>
          <p:cNvSpPr/>
          <p:nvPr/>
        </p:nvSpPr>
        <p:spPr>
          <a:xfrm>
            <a:off x="6492240" y="4764024"/>
            <a:ext cx="5148072" cy="1371600"/>
          </a:xfrm>
          <a:prstGeom prst="roundRect">
            <a:avLst>
              <a:gd name="adj" fmla="val 10000"/>
            </a:avLst>
          </a:prstGeom>
          <a:solidFill>
            <a:srgbClr val="FFFFFF"/>
          </a:solidFill>
          <a:ln w="19050">
            <a:solidFill>
              <a:srgbClr val="BCD8F1"/>
            </a:solidFill>
          </a:ln>
        </p:spPr>
        <p:txBody>
          <a:bodyPr rtlCol="0" anchor="ctr"/>
          <a:lstStyle/>
          <a:p>
            <a:pPr algn="ctr"/>
          </a:p>
        </p:txBody>
      </p:sp>
      <p:sp>
        <p:nvSpPr>
          <p:cNvPr id="23" name="Rectangle 22"/>
          <p:cNvSpPr/>
          <p:nvPr/>
        </p:nvSpPr>
        <p:spPr>
          <a:xfrm>
            <a:off x="6492240" y="4992624"/>
            <a:ext cx="82296" cy="914400"/>
          </a:xfrm>
          <a:prstGeom prst="rect">
            <a:avLst/>
          </a:prstGeom>
          <a:solidFill>
            <a:srgbClr val="E07A5F"/>
          </a:solidFill>
          <a:ln>
            <a:noFill/>
          </a:ln>
        </p:spPr>
        <p:txBody>
          <a:bodyPr rtlCol="0" anchor="ctr"/>
          <a:lstStyle/>
          <a:p>
            <a:pPr algn="ctr"/>
          </a:p>
        </p:txBody>
      </p:sp>
      <p:sp>
        <p:nvSpPr>
          <p:cNvPr id="24" name="Rectangle 23"/>
          <p:cNvSpPr/>
          <p:nvPr/>
        </p:nvSpPr>
        <p:spPr>
          <a:xfrm>
            <a:off x="6766560" y="4855464"/>
            <a:ext cx="4754880"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900" b="1" i="0">
                <a:solidFill>
                  <a:srgbClr val="22304A"/>
                </a:solidFill>
                <a:latin typeface="Georgia"/>
              </a:rPr>
              <a:t>No bad inputs</a:t>
            </a:r>
          </a:p>
        </p:txBody>
      </p:sp>
      <p:sp>
        <p:nvSpPr>
          <p:cNvPr id="25" name="Rectangle 24"/>
          <p:cNvSpPr/>
          <p:nvPr/>
        </p:nvSpPr>
        <p:spPr>
          <a:xfrm>
            <a:off x="6766560" y="5294376"/>
            <a:ext cx="4754880" cy="777240"/>
          </a:xfrm>
          <a:prstGeom prst="rect">
            <a:avLst/>
          </a:prstGeom>
          <a:noFill/>
          <a:ln>
            <a:noFill/>
          </a:ln>
        </p:spPr>
        <p:txBody>
          <a:bodyPr rtlCol="0" anchor="t" wrap="square" lIns="0" tIns="0" rIns="0" bIns="0">
            <a:noAutofit/>
          </a:bodyPr>
          <a:lstStyle/>
          <a:p>
            <a:pPr algn="l">
              <a:lnSpc>
                <a:spcPct val="100000"/>
              </a:lnSpc>
              <a:spcBef>
                <a:spcPts val="0"/>
              </a:spcBef>
              <a:spcAft>
                <a:spcPts val="0"/>
              </a:spcAft>
            </a:pPr>
            <a:r>
              <a:rPr sz="1500" b="0" i="0">
                <a:solidFill>
                  <a:srgbClr val="22304A"/>
                </a:solidFill>
                <a:latin typeface="Segoe UI"/>
              </a:rPr>
              <a:t>With a random pivot the expected time is O(n log n) on every input.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Choosing the pivot</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04 · ANALYSIS</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15</a:t>
            </a:r>
          </a:p>
        </p:txBody>
      </p:sp>
      <p:graphicFrame>
        <p:nvGraphicFramePr>
          <p:cNvPr id="8" name="Table 7"/>
          <p:cNvGraphicFramePr>
            <a:graphicFrameLocks noGrp="1"/>
          </p:cNvGraphicFramePr>
          <p:nvPr/>
        </p:nvGraphicFramePr>
        <p:xfrm>
          <a:off x="548640" y="1691640"/>
          <a:ext cx="11094415" cy="4206240"/>
        </p:xfrm>
        <a:graphic>
          <a:graphicData uri="http://schemas.openxmlformats.org/drawingml/2006/table">
            <a:tbl>
              <a:tblPr>
                <a:tableStyleId>{2D5ABB26-0587-4C30-8999-92F81FD0307C}</a:tableStyleId>
              </a:tblPr>
              <a:tblGrid>
                <a:gridCol w="2194560"/>
                <a:gridCol w="3291840"/>
                <a:gridCol w="3017520"/>
                <a:gridCol w="2590495"/>
              </a:tblGrid>
              <a:tr h="548640">
                <a:tc>
                  <a:txBody>
                    <a:bodyPr wrap="square"/>
                    <a:lstStyle/>
                    <a:p>
                      <a:pPr algn="l">
                        <a:lnSpc>
                          <a:spcPct val="100000"/>
                        </a:lnSpc>
                      </a:pPr>
                      <a:r>
                        <a:rPr sz="1500" b="1">
                          <a:solidFill>
                            <a:srgbClr val="22304A"/>
                          </a:solidFill>
                          <a:latin typeface="Segoe UI"/>
                        </a:rPr>
                        <a:t>Strategy</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500" b="1">
                          <a:solidFill>
                            <a:srgbClr val="22304A"/>
                          </a:solidFill>
                          <a:latin typeface="Segoe UI"/>
                        </a:rPr>
                        <a:t>How it works</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500" b="1">
                          <a:solidFill>
                            <a:srgbClr val="22304A"/>
                          </a:solidFill>
                          <a:latin typeface="Segoe UI"/>
                        </a:rPr>
                        <a:t>Comparisons</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500" b="1">
                          <a:solidFill>
                            <a:srgbClr val="22304A"/>
                          </a:solidFill>
                          <a:latin typeface="Segoe UI"/>
                        </a:rPr>
                        <a:t>Weakness</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r>
              <a:tr h="914400">
                <a:tc>
                  <a:txBody>
                    <a:bodyPr wrap="square"/>
                    <a:lstStyle/>
                    <a:p>
                      <a:pPr algn="l">
                        <a:lnSpc>
                          <a:spcPct val="100000"/>
                        </a:lnSpc>
                      </a:pPr>
                      <a:r>
                        <a:rPr sz="1600" b="1">
                          <a:solidFill>
                            <a:srgbClr val="22304A"/>
                          </a:solidFill>
                          <a:latin typeface="Segoe UI"/>
                        </a:rPr>
                        <a:t>First element</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0">
                          <a:solidFill>
                            <a:srgbClr val="22304A"/>
                          </a:solidFill>
                          <a:latin typeface="Segoe UI"/>
                        </a:rPr>
                        <a:t>Take A[low], as in our notes</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0">
                          <a:solidFill>
                            <a:srgbClr val="22304A"/>
                          </a:solidFill>
                          <a:latin typeface="Segoe UI"/>
                        </a:rPr>
                        <a:t>≈ 1.39 n log n on random data</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1">
                          <a:solidFill>
                            <a:srgbClr val="22304A"/>
                          </a:solidFill>
                          <a:latin typeface="Segoe UI"/>
                        </a:rPr>
                        <a:t>Sorted input gives n²</a:t>
                      </a:r>
                    </a:p>
                  </a:txBody>
                  <a:tcPr marL="128016" marT="45720" marR="128016" marB="45720" anchor="ctr">
                    <a:lnL w="57150" cap="flat" cmpd="sng">
                      <a:solidFill>
                        <a:srgbClr val="E07A5F"/>
                      </a:solidFill>
                      <a:prstDash val="solid"/>
                    </a:lnL>
                    <a:lnR w="0">
                      <a:noFill/>
                    </a:lnR>
                    <a:lnT w="0">
                      <a:noFill/>
                    </a:lnT>
                    <a:lnB w="9525" cap="flat" cmpd="sng">
                      <a:solidFill>
                        <a:srgbClr val="BCD8F1"/>
                      </a:solidFill>
                      <a:prstDash val="solid"/>
                    </a:lnB>
                    <a:solidFill>
                      <a:srgbClr val="FBE3DB"/>
                    </a:solidFill>
                  </a:tcPr>
                </a:tc>
              </a:tr>
              <a:tr h="914400">
                <a:tc>
                  <a:txBody>
                    <a:bodyPr wrap="square"/>
                    <a:lstStyle/>
                    <a:p>
                      <a:pPr algn="l">
                        <a:lnSpc>
                          <a:spcPct val="100000"/>
                        </a:lnSpc>
                      </a:pPr>
                      <a:r>
                        <a:rPr sz="1600" b="1">
                          <a:solidFill>
                            <a:srgbClr val="22304A"/>
                          </a:solidFill>
                          <a:latin typeface="Segoe UI"/>
                        </a:rPr>
                        <a:t>Random element</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600" b="0">
                          <a:solidFill>
                            <a:srgbClr val="22304A"/>
                          </a:solidFill>
                          <a:latin typeface="Segoe UI"/>
                        </a:rPr>
                        <a:t>Pick an index at random</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600" b="0">
                          <a:solidFill>
                            <a:srgbClr val="22304A"/>
                          </a:solidFill>
                          <a:latin typeface="Segoe UI"/>
                        </a:rPr>
                        <a:t>≈ 1.39 n log n, any input</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600" b="0">
                          <a:solidFill>
                            <a:srgbClr val="22304A"/>
                          </a:solidFill>
                          <a:latin typeface="Segoe UI"/>
                        </a:rPr>
                        <a:t>Needs random numbers</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r>
              <a:tr h="914400">
                <a:tc>
                  <a:txBody>
                    <a:bodyPr wrap="square"/>
                    <a:lstStyle/>
                    <a:p>
                      <a:pPr algn="l">
                        <a:lnSpc>
                          <a:spcPct val="100000"/>
                        </a:lnSpc>
                      </a:pPr>
                      <a:r>
                        <a:rPr sz="1600" b="1">
                          <a:solidFill>
                            <a:srgbClr val="22304A"/>
                          </a:solidFill>
                          <a:latin typeface="Segoe UI"/>
                        </a:rPr>
                        <a:t>Median of three</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0">
                          <a:solidFill>
                            <a:srgbClr val="22304A"/>
                          </a:solidFill>
                          <a:latin typeface="Segoe UI"/>
                        </a:rPr>
                        <a:t>Median of first, middle, last</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0">
                          <a:solidFill>
                            <a:srgbClr val="22304A"/>
                          </a:solidFill>
                          <a:latin typeface="Segoe UI"/>
                        </a:rPr>
                        <a:t>≈ 1.19 n log n</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0">
                          <a:solidFill>
                            <a:srgbClr val="22304A"/>
                          </a:solidFill>
                          <a:latin typeface="Segoe UI"/>
                        </a:rPr>
                        <a:t>Tricky inputs still exist</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r>
              <a:tr h="914400">
                <a:tc>
                  <a:txBody>
                    <a:bodyPr wrap="square"/>
                    <a:lstStyle/>
                    <a:p>
                      <a:pPr algn="l">
                        <a:lnSpc>
                          <a:spcPct val="100000"/>
                        </a:lnSpc>
                      </a:pPr>
                      <a:r>
                        <a:rPr sz="1600" b="1">
                          <a:solidFill>
                            <a:srgbClr val="22304A"/>
                          </a:solidFill>
                          <a:latin typeface="Segoe UI"/>
                        </a:rPr>
                        <a:t>Ninther</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c>
                  <a:txBody>
                    <a:bodyPr wrap="square"/>
                    <a:lstStyle/>
                    <a:p>
                      <a:pPr algn="l">
                        <a:lnSpc>
                          <a:spcPct val="100000"/>
                        </a:lnSpc>
                      </a:pPr>
                      <a:r>
                        <a:rPr sz="1600" b="0">
                          <a:solidFill>
                            <a:srgbClr val="22304A"/>
                          </a:solidFill>
                          <a:latin typeface="Segoe UI"/>
                        </a:rPr>
                        <a:t>Median of three medians of three</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c>
                  <a:txBody>
                    <a:bodyPr wrap="square"/>
                    <a:lstStyle/>
                    <a:p>
                      <a:pPr algn="l">
                        <a:lnSpc>
                          <a:spcPct val="100000"/>
                        </a:lnSpc>
                      </a:pPr>
                      <a:r>
                        <a:rPr sz="1600" b="0">
                          <a:solidFill>
                            <a:srgbClr val="22304A"/>
                          </a:solidFill>
                          <a:latin typeface="Segoe UI"/>
                        </a:rPr>
                        <a:t>Splits closer to even</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c>
                  <a:txBody>
                    <a:bodyPr wrap="square"/>
                    <a:lstStyle/>
                    <a:p>
                      <a:pPr algn="l">
                        <a:lnSpc>
                          <a:spcPct val="100000"/>
                        </a:lnSpc>
                      </a:pPr>
                      <a:r>
                        <a:rPr sz="1600" b="0">
                          <a:solidFill>
                            <a:srgbClr val="22304A"/>
                          </a:solidFill>
                          <a:latin typeface="Segoe UI"/>
                        </a:rPr>
                        <a:t>Extra work per partition</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Quick sort against merge sort and heap sort</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04 · ANALYSIS</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16</a:t>
            </a:r>
          </a:p>
        </p:txBody>
      </p:sp>
      <p:graphicFrame>
        <p:nvGraphicFramePr>
          <p:cNvPr id="8" name="Table 7"/>
          <p:cNvGraphicFramePr>
            <a:graphicFrameLocks noGrp="1"/>
          </p:cNvGraphicFramePr>
          <p:nvPr/>
        </p:nvGraphicFramePr>
        <p:xfrm>
          <a:off x="548640" y="1691640"/>
          <a:ext cx="11094415" cy="2926080"/>
        </p:xfrm>
        <a:graphic>
          <a:graphicData uri="http://schemas.openxmlformats.org/drawingml/2006/table">
            <a:tbl>
              <a:tblPr>
                <a:tableStyleId>{2D5ABB26-0587-4C30-8999-92F81FD0307C}</a:tableStyleId>
              </a:tblPr>
              <a:tblGrid>
                <a:gridCol w="2103120"/>
                <a:gridCol w="1554480"/>
                <a:gridCol w="1600200"/>
                <a:gridCol w="1554480"/>
                <a:gridCol w="1737360"/>
                <a:gridCol w="1280160"/>
                <a:gridCol w="1264615"/>
              </a:tblGrid>
              <a:tr h="594360">
                <a:tc>
                  <a:txBody>
                    <a:bodyPr wrap="square"/>
                    <a:lstStyle/>
                    <a:p>
                      <a:pPr algn="l">
                        <a:lnSpc>
                          <a:spcPct val="100000"/>
                        </a:lnSpc>
                      </a:pPr>
                      <a:r>
                        <a:rPr sz="1500" b="1">
                          <a:solidFill>
                            <a:srgbClr val="22304A"/>
                          </a:solidFill>
                          <a:latin typeface="Segoe UI"/>
                        </a:rPr>
                        <a:t>Algorithm</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ctr">
                        <a:lnSpc>
                          <a:spcPct val="100000"/>
                        </a:lnSpc>
                      </a:pPr>
                      <a:r>
                        <a:rPr sz="1500" b="1">
                          <a:solidFill>
                            <a:srgbClr val="22304A"/>
                          </a:solidFill>
                          <a:latin typeface="Segoe UI"/>
                        </a:rPr>
                        <a:t>Best</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ctr">
                        <a:lnSpc>
                          <a:spcPct val="100000"/>
                        </a:lnSpc>
                      </a:pPr>
                      <a:r>
                        <a:rPr sz="1500" b="1">
                          <a:solidFill>
                            <a:srgbClr val="22304A"/>
                          </a:solidFill>
                          <a:latin typeface="Segoe UI"/>
                        </a:rPr>
                        <a:t>Average</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ctr">
                        <a:lnSpc>
                          <a:spcPct val="100000"/>
                        </a:lnSpc>
                      </a:pPr>
                      <a:r>
                        <a:rPr sz="1500" b="1">
                          <a:solidFill>
                            <a:srgbClr val="22304A"/>
                          </a:solidFill>
                          <a:latin typeface="Segoe UI"/>
                        </a:rPr>
                        <a:t>Worst</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ctr">
                        <a:lnSpc>
                          <a:spcPct val="100000"/>
                        </a:lnSpc>
                      </a:pPr>
                      <a:r>
                        <a:rPr sz="1500" b="1">
                          <a:solidFill>
                            <a:srgbClr val="22304A"/>
                          </a:solidFill>
                          <a:latin typeface="Segoe UI"/>
                        </a:rPr>
                        <a:t>Extra space</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ctr">
                        <a:lnSpc>
                          <a:spcPct val="100000"/>
                        </a:lnSpc>
                      </a:pPr>
                      <a:r>
                        <a:rPr sz="1500" b="1">
                          <a:solidFill>
                            <a:srgbClr val="22304A"/>
                          </a:solidFill>
                          <a:latin typeface="Segoe UI"/>
                        </a:rPr>
                        <a:t>Stable</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ctr">
                        <a:lnSpc>
                          <a:spcPct val="100000"/>
                        </a:lnSpc>
                      </a:pPr>
                      <a:r>
                        <a:rPr sz="1500" b="1">
                          <a:solidFill>
                            <a:srgbClr val="22304A"/>
                          </a:solidFill>
                          <a:latin typeface="Segoe UI"/>
                        </a:rPr>
                        <a:t>In place</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r>
              <a:tr h="777240">
                <a:tc>
                  <a:txBody>
                    <a:bodyPr wrap="square"/>
                    <a:lstStyle/>
                    <a:p>
                      <a:pPr algn="l">
                        <a:lnSpc>
                          <a:spcPct val="100000"/>
                        </a:lnSpc>
                      </a:pPr>
                      <a:r>
                        <a:rPr sz="1700" b="1">
                          <a:solidFill>
                            <a:srgbClr val="22304A"/>
                          </a:solidFill>
                          <a:latin typeface="Segoe UI"/>
                        </a:rPr>
                        <a:t>Quick sort</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ctr">
                        <a:lnSpc>
                          <a:spcPct val="100000"/>
                        </a:lnSpc>
                      </a:pPr>
                      <a:r>
                        <a:rPr sz="1700" b="0">
                          <a:solidFill>
                            <a:srgbClr val="22304A"/>
                          </a:solidFill>
                          <a:latin typeface="Segoe UI"/>
                        </a:rPr>
                        <a:t>n log n</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ctr">
                        <a:lnSpc>
                          <a:spcPct val="100000"/>
                        </a:lnSpc>
                      </a:pPr>
                      <a:r>
                        <a:rPr sz="1700" b="0">
                          <a:solidFill>
                            <a:srgbClr val="22304A"/>
                          </a:solidFill>
                          <a:latin typeface="Segoe UI"/>
                        </a:rPr>
                        <a:t>n log n</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ctr">
                        <a:lnSpc>
                          <a:spcPct val="100000"/>
                        </a:lnSpc>
                      </a:pPr>
                      <a:r>
                        <a:rPr sz="1700" b="1">
                          <a:solidFill>
                            <a:srgbClr val="22304A"/>
                          </a:solidFill>
                          <a:latin typeface="Segoe UI"/>
                        </a:rPr>
                        <a:t>n²</a:t>
                      </a:r>
                    </a:p>
                  </a:txBody>
                  <a:tcPr marL="128016" marT="45720" marR="128016" marB="45720" anchor="ctr">
                    <a:lnL w="57150" cap="flat" cmpd="sng">
                      <a:solidFill>
                        <a:srgbClr val="E07A5F"/>
                      </a:solidFill>
                      <a:prstDash val="solid"/>
                    </a:lnL>
                    <a:lnR w="0">
                      <a:noFill/>
                    </a:lnR>
                    <a:lnT w="0">
                      <a:noFill/>
                    </a:lnT>
                    <a:lnB w="9525" cap="flat" cmpd="sng">
                      <a:solidFill>
                        <a:srgbClr val="BCD8F1"/>
                      </a:solidFill>
                      <a:prstDash val="solid"/>
                    </a:lnB>
                    <a:solidFill>
                      <a:srgbClr val="FBE3DB"/>
                    </a:solidFill>
                  </a:tcPr>
                </a:tc>
                <a:tc>
                  <a:txBody>
                    <a:bodyPr wrap="square"/>
                    <a:lstStyle/>
                    <a:p>
                      <a:pPr algn="ctr">
                        <a:lnSpc>
                          <a:spcPct val="100000"/>
                        </a:lnSpc>
                      </a:pPr>
                      <a:r>
                        <a:rPr sz="1700" b="0">
                          <a:solidFill>
                            <a:srgbClr val="22304A"/>
                          </a:solidFill>
                          <a:latin typeface="Segoe UI"/>
                        </a:rPr>
                        <a:t>log n *</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ctr">
                        <a:lnSpc>
                          <a:spcPct val="100000"/>
                        </a:lnSpc>
                      </a:pPr>
                      <a:r>
                        <a:rPr sz="1700" b="0">
                          <a:solidFill>
                            <a:srgbClr val="22304A"/>
                          </a:solidFill>
                          <a:latin typeface="Segoe UI"/>
                        </a:rPr>
                        <a:t>No</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ctr">
                        <a:lnSpc>
                          <a:spcPct val="100000"/>
                        </a:lnSpc>
                      </a:pPr>
                      <a:r>
                        <a:rPr sz="1700" b="0">
                          <a:solidFill>
                            <a:srgbClr val="22304A"/>
                          </a:solidFill>
                          <a:latin typeface="Segoe UI"/>
                        </a:rPr>
                        <a:t>Yes</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r>
              <a:tr h="777240">
                <a:tc>
                  <a:txBody>
                    <a:bodyPr wrap="square"/>
                    <a:lstStyle/>
                    <a:p>
                      <a:pPr algn="l">
                        <a:lnSpc>
                          <a:spcPct val="100000"/>
                        </a:lnSpc>
                      </a:pPr>
                      <a:r>
                        <a:rPr sz="1700" b="1">
                          <a:solidFill>
                            <a:srgbClr val="22304A"/>
                          </a:solidFill>
                          <a:latin typeface="Segoe UI"/>
                        </a:rPr>
                        <a:t>Merge sort</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ctr">
                        <a:lnSpc>
                          <a:spcPct val="100000"/>
                        </a:lnSpc>
                      </a:pPr>
                      <a:r>
                        <a:rPr sz="1700" b="0">
                          <a:solidFill>
                            <a:srgbClr val="22304A"/>
                          </a:solidFill>
                          <a:latin typeface="Segoe UI"/>
                        </a:rPr>
                        <a:t>n log n</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ctr">
                        <a:lnSpc>
                          <a:spcPct val="100000"/>
                        </a:lnSpc>
                      </a:pPr>
                      <a:r>
                        <a:rPr sz="1700" b="0">
                          <a:solidFill>
                            <a:srgbClr val="22304A"/>
                          </a:solidFill>
                          <a:latin typeface="Segoe UI"/>
                        </a:rPr>
                        <a:t>n log n</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ctr">
                        <a:lnSpc>
                          <a:spcPct val="100000"/>
                        </a:lnSpc>
                      </a:pPr>
                      <a:r>
                        <a:rPr sz="1700" b="0">
                          <a:solidFill>
                            <a:srgbClr val="22304A"/>
                          </a:solidFill>
                          <a:latin typeface="Segoe UI"/>
                        </a:rPr>
                        <a:t>n log n</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ctr">
                        <a:lnSpc>
                          <a:spcPct val="100000"/>
                        </a:lnSpc>
                      </a:pPr>
                      <a:r>
                        <a:rPr sz="1700" b="0">
                          <a:solidFill>
                            <a:srgbClr val="22304A"/>
                          </a:solidFill>
                          <a:latin typeface="Segoe UI"/>
                        </a:rPr>
                        <a:t>n</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ctr">
                        <a:lnSpc>
                          <a:spcPct val="100000"/>
                        </a:lnSpc>
                      </a:pPr>
                      <a:r>
                        <a:rPr sz="1700" b="0">
                          <a:solidFill>
                            <a:srgbClr val="22304A"/>
                          </a:solidFill>
                          <a:latin typeface="Segoe UI"/>
                        </a:rPr>
                        <a:t>Yes</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ctr">
                        <a:lnSpc>
                          <a:spcPct val="100000"/>
                        </a:lnSpc>
                      </a:pPr>
                      <a:r>
                        <a:rPr sz="1700" b="0">
                          <a:solidFill>
                            <a:srgbClr val="22304A"/>
                          </a:solidFill>
                          <a:latin typeface="Segoe UI"/>
                        </a:rPr>
                        <a:t>No</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r>
              <a:tr h="777240">
                <a:tc>
                  <a:txBody>
                    <a:bodyPr wrap="square"/>
                    <a:lstStyle/>
                    <a:p>
                      <a:pPr algn="l">
                        <a:lnSpc>
                          <a:spcPct val="100000"/>
                        </a:lnSpc>
                      </a:pPr>
                      <a:r>
                        <a:rPr sz="1700" b="1">
                          <a:solidFill>
                            <a:srgbClr val="22304A"/>
                          </a:solidFill>
                          <a:latin typeface="Segoe UI"/>
                        </a:rPr>
                        <a:t>Heap sort</a:t>
                      </a:r>
                    </a:p>
                  </a:txBody>
                  <a:tcPr marL="128016" marT="45720" marR="128016" marB="45720" anchor="ctr">
                    <a:lnL w="0">
                      <a:noFill/>
                    </a:lnL>
                    <a:lnR w="0">
                      <a:noFill/>
                    </a:lnR>
                    <a:lnT w="0">
                      <a:noFill/>
                    </a:lnT>
                    <a:lnB w="12700" cap="flat" cmpd="sng">
                      <a:solidFill>
                        <a:srgbClr val="4F8FCB"/>
                      </a:solidFill>
                      <a:prstDash val="solid"/>
                    </a:lnB>
                    <a:solidFill>
                      <a:srgbClr val="FFFFFF"/>
                    </a:solidFill>
                  </a:tcPr>
                </a:tc>
                <a:tc>
                  <a:txBody>
                    <a:bodyPr wrap="square"/>
                    <a:lstStyle/>
                    <a:p>
                      <a:pPr algn="ctr">
                        <a:lnSpc>
                          <a:spcPct val="100000"/>
                        </a:lnSpc>
                      </a:pPr>
                      <a:r>
                        <a:rPr sz="1700" b="0">
                          <a:solidFill>
                            <a:srgbClr val="22304A"/>
                          </a:solidFill>
                          <a:latin typeface="Segoe UI"/>
                        </a:rPr>
                        <a:t>n log n</a:t>
                      </a:r>
                    </a:p>
                  </a:txBody>
                  <a:tcPr marL="128016" marT="45720" marR="128016" marB="45720" anchor="ctr">
                    <a:lnL w="0">
                      <a:noFill/>
                    </a:lnL>
                    <a:lnR w="0">
                      <a:noFill/>
                    </a:lnR>
                    <a:lnT w="0">
                      <a:noFill/>
                    </a:lnT>
                    <a:lnB w="12700" cap="flat" cmpd="sng">
                      <a:solidFill>
                        <a:srgbClr val="4F8FCB"/>
                      </a:solidFill>
                      <a:prstDash val="solid"/>
                    </a:lnB>
                    <a:solidFill>
                      <a:srgbClr val="FFFFFF"/>
                    </a:solidFill>
                  </a:tcPr>
                </a:tc>
                <a:tc>
                  <a:txBody>
                    <a:bodyPr wrap="square"/>
                    <a:lstStyle/>
                    <a:p>
                      <a:pPr algn="ctr">
                        <a:lnSpc>
                          <a:spcPct val="100000"/>
                        </a:lnSpc>
                      </a:pPr>
                      <a:r>
                        <a:rPr sz="1700" b="0">
                          <a:solidFill>
                            <a:srgbClr val="22304A"/>
                          </a:solidFill>
                          <a:latin typeface="Segoe UI"/>
                        </a:rPr>
                        <a:t>n log n</a:t>
                      </a:r>
                    </a:p>
                  </a:txBody>
                  <a:tcPr marL="128016" marT="45720" marR="128016" marB="45720" anchor="ctr">
                    <a:lnL w="0">
                      <a:noFill/>
                    </a:lnL>
                    <a:lnR w="0">
                      <a:noFill/>
                    </a:lnR>
                    <a:lnT w="0">
                      <a:noFill/>
                    </a:lnT>
                    <a:lnB w="12700" cap="flat" cmpd="sng">
                      <a:solidFill>
                        <a:srgbClr val="4F8FCB"/>
                      </a:solidFill>
                      <a:prstDash val="solid"/>
                    </a:lnB>
                    <a:solidFill>
                      <a:srgbClr val="FFFFFF"/>
                    </a:solidFill>
                  </a:tcPr>
                </a:tc>
                <a:tc>
                  <a:txBody>
                    <a:bodyPr wrap="square"/>
                    <a:lstStyle/>
                    <a:p>
                      <a:pPr algn="ctr">
                        <a:lnSpc>
                          <a:spcPct val="100000"/>
                        </a:lnSpc>
                      </a:pPr>
                      <a:r>
                        <a:rPr sz="1700" b="0">
                          <a:solidFill>
                            <a:srgbClr val="22304A"/>
                          </a:solidFill>
                          <a:latin typeface="Segoe UI"/>
                        </a:rPr>
                        <a:t>n log n</a:t>
                      </a:r>
                    </a:p>
                  </a:txBody>
                  <a:tcPr marL="128016" marT="45720" marR="128016" marB="45720" anchor="ctr">
                    <a:lnL w="0">
                      <a:noFill/>
                    </a:lnL>
                    <a:lnR w="0">
                      <a:noFill/>
                    </a:lnR>
                    <a:lnT w="0">
                      <a:noFill/>
                    </a:lnT>
                    <a:lnB w="12700" cap="flat" cmpd="sng">
                      <a:solidFill>
                        <a:srgbClr val="4F8FCB"/>
                      </a:solidFill>
                      <a:prstDash val="solid"/>
                    </a:lnB>
                    <a:solidFill>
                      <a:srgbClr val="FFFFFF"/>
                    </a:solidFill>
                  </a:tcPr>
                </a:tc>
                <a:tc>
                  <a:txBody>
                    <a:bodyPr wrap="square"/>
                    <a:lstStyle/>
                    <a:p>
                      <a:pPr algn="ctr">
                        <a:lnSpc>
                          <a:spcPct val="100000"/>
                        </a:lnSpc>
                      </a:pPr>
                      <a:r>
                        <a:rPr sz="1700" b="0">
                          <a:solidFill>
                            <a:srgbClr val="22304A"/>
                          </a:solidFill>
                          <a:latin typeface="Segoe UI"/>
                        </a:rPr>
                        <a:t>1</a:t>
                      </a:r>
                    </a:p>
                  </a:txBody>
                  <a:tcPr marL="128016" marT="45720" marR="128016" marB="45720" anchor="ctr">
                    <a:lnL w="0">
                      <a:noFill/>
                    </a:lnL>
                    <a:lnR w="0">
                      <a:noFill/>
                    </a:lnR>
                    <a:lnT w="0">
                      <a:noFill/>
                    </a:lnT>
                    <a:lnB w="12700" cap="flat" cmpd="sng">
                      <a:solidFill>
                        <a:srgbClr val="4F8FCB"/>
                      </a:solidFill>
                      <a:prstDash val="solid"/>
                    </a:lnB>
                    <a:solidFill>
                      <a:srgbClr val="FFFFFF"/>
                    </a:solidFill>
                  </a:tcPr>
                </a:tc>
                <a:tc>
                  <a:txBody>
                    <a:bodyPr wrap="square"/>
                    <a:lstStyle/>
                    <a:p>
                      <a:pPr algn="ctr">
                        <a:lnSpc>
                          <a:spcPct val="100000"/>
                        </a:lnSpc>
                      </a:pPr>
                      <a:r>
                        <a:rPr sz="1700" b="0">
                          <a:solidFill>
                            <a:srgbClr val="22304A"/>
                          </a:solidFill>
                          <a:latin typeface="Segoe UI"/>
                        </a:rPr>
                        <a:t>No</a:t>
                      </a:r>
                    </a:p>
                  </a:txBody>
                  <a:tcPr marL="128016" marT="45720" marR="128016" marB="45720" anchor="ctr">
                    <a:lnL w="0">
                      <a:noFill/>
                    </a:lnL>
                    <a:lnR w="0">
                      <a:noFill/>
                    </a:lnR>
                    <a:lnT w="0">
                      <a:noFill/>
                    </a:lnT>
                    <a:lnB w="12700" cap="flat" cmpd="sng">
                      <a:solidFill>
                        <a:srgbClr val="4F8FCB"/>
                      </a:solidFill>
                      <a:prstDash val="solid"/>
                    </a:lnB>
                    <a:solidFill>
                      <a:srgbClr val="FFFFFF"/>
                    </a:solidFill>
                  </a:tcPr>
                </a:tc>
                <a:tc>
                  <a:txBody>
                    <a:bodyPr wrap="square"/>
                    <a:lstStyle/>
                    <a:p>
                      <a:pPr algn="ctr">
                        <a:lnSpc>
                          <a:spcPct val="100000"/>
                        </a:lnSpc>
                      </a:pPr>
                      <a:r>
                        <a:rPr sz="1700" b="0">
                          <a:solidFill>
                            <a:srgbClr val="22304A"/>
                          </a:solidFill>
                          <a:latin typeface="Segoe UI"/>
                        </a:rPr>
                        <a:t>Yes</a:t>
                      </a:r>
                    </a:p>
                  </a:txBody>
                  <a:tcPr marL="128016" marT="45720" marR="128016" marB="45720" anchor="ctr">
                    <a:lnL w="0">
                      <a:noFill/>
                    </a:lnL>
                    <a:lnR w="0">
                      <a:noFill/>
                    </a:lnR>
                    <a:lnT w="0">
                      <a:noFill/>
                    </a:lnT>
                    <a:lnB w="12700" cap="flat" cmpd="sng">
                      <a:solidFill>
                        <a:srgbClr val="4F8FCB"/>
                      </a:solidFill>
                      <a:prstDash val="solid"/>
                    </a:lnB>
                    <a:solidFill>
                      <a:srgbClr val="FFFFFF"/>
                    </a:solidFill>
                  </a:tcPr>
                </a:tc>
              </a:tr>
            </a:tbl>
          </a:graphicData>
        </a:graphic>
      </p:graphicFrame>
      <p:sp>
        <p:nvSpPr>
          <p:cNvPr id="9" name="Rectangle 8"/>
          <p:cNvSpPr/>
          <p:nvPr/>
        </p:nvSpPr>
        <p:spPr>
          <a:xfrm>
            <a:off x="548640" y="4754880"/>
            <a:ext cx="11094415" cy="36576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400" b="0" i="0">
                <a:solidFill>
                  <a:srgbClr val="66758C"/>
                </a:solidFill>
                <a:latin typeface="Segoe UI"/>
              </a:rPr>
              <a:t>* The recursion stack, when we always recurse into the smaller part first.</a:t>
            </a:r>
          </a:p>
        </p:txBody>
      </p:sp>
      <p:sp>
        <p:nvSpPr>
          <p:cNvPr id="10" name="Rectangle 9"/>
          <p:cNvSpPr/>
          <p:nvPr/>
        </p:nvSpPr>
        <p:spPr>
          <a:xfrm>
            <a:off x="548640" y="5349240"/>
            <a:ext cx="11094415" cy="7772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200" b="1" i="0">
                <a:solidFill>
                  <a:srgbClr val="22304A"/>
                </a:solidFill>
                <a:latin typeface="Georgia"/>
              </a:rPr>
              <a:t>Quick sort pays with a bad worst case and no stability. It gains tiny memory use and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How real libraries use quick sort</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05 · REAL WORLD</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17</a:t>
            </a:r>
          </a:p>
        </p:txBody>
      </p:sp>
      <p:sp>
        <p:nvSpPr>
          <p:cNvPr id="8" name="Rounded Rectangle 7"/>
          <p:cNvSpPr/>
          <p:nvPr/>
        </p:nvSpPr>
        <p:spPr>
          <a:xfrm>
            <a:off x="548640" y="1691640"/>
            <a:ext cx="3545738" cy="2971800"/>
          </a:xfrm>
          <a:prstGeom prst="roundRect">
            <a:avLst>
              <a:gd name="adj" fmla="val 4615"/>
            </a:avLst>
          </a:prstGeom>
          <a:solidFill>
            <a:srgbClr val="E8F2FB"/>
          </a:solidFill>
          <a:ln>
            <a:noFill/>
          </a:ln>
        </p:spPr>
        <p:txBody>
          <a:bodyPr rtlCol="0" anchor="ctr"/>
          <a:lstStyle/>
          <a:p>
            <a:pPr algn="ctr"/>
          </a:p>
        </p:txBody>
      </p:sp>
      <p:sp>
        <p:nvSpPr>
          <p:cNvPr id="9" name="Rectangle 8"/>
          <p:cNvSpPr/>
          <p:nvPr/>
        </p:nvSpPr>
        <p:spPr>
          <a:xfrm>
            <a:off x="777240" y="1874519"/>
            <a:ext cx="457200" cy="54864"/>
          </a:xfrm>
          <a:prstGeom prst="rect">
            <a:avLst/>
          </a:prstGeom>
          <a:solidFill>
            <a:srgbClr val="F3A08A"/>
          </a:solidFill>
          <a:ln>
            <a:noFill/>
          </a:ln>
        </p:spPr>
        <p:txBody>
          <a:bodyPr rtlCol="0" anchor="ctr"/>
          <a:lstStyle/>
          <a:p>
            <a:pPr algn="ctr"/>
          </a:p>
        </p:txBody>
      </p:sp>
      <p:sp>
        <p:nvSpPr>
          <p:cNvPr id="10" name="Rectangle 9"/>
          <p:cNvSpPr/>
          <p:nvPr/>
        </p:nvSpPr>
        <p:spPr>
          <a:xfrm>
            <a:off x="731520" y="2011680"/>
            <a:ext cx="3179978" cy="54864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2600" b="1" i="0">
                <a:solidFill>
                  <a:srgbClr val="22304A"/>
                </a:solidFill>
                <a:latin typeface="Georgia"/>
              </a:rPr>
              <a:t>Introsort</a:t>
            </a:r>
          </a:p>
        </p:txBody>
      </p:sp>
      <p:sp>
        <p:nvSpPr>
          <p:cNvPr id="11" name="Rectangle 10"/>
          <p:cNvSpPr/>
          <p:nvPr/>
        </p:nvSpPr>
        <p:spPr>
          <a:xfrm>
            <a:off x="731520" y="2578608"/>
            <a:ext cx="3179978" cy="36576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1400" b="1" i="0">
                <a:solidFill>
                  <a:srgbClr val="4F8FCB"/>
                </a:solidFill>
                <a:latin typeface="Consolas"/>
              </a:rPr>
              <a:t>C++ std::sort</a:t>
            </a:r>
          </a:p>
        </p:txBody>
      </p:sp>
      <p:sp>
        <p:nvSpPr>
          <p:cNvPr id="12" name="Rectangle 11"/>
          <p:cNvSpPr/>
          <p:nvPr/>
        </p:nvSpPr>
        <p:spPr>
          <a:xfrm>
            <a:off x="731520" y="3063240"/>
            <a:ext cx="3179978" cy="1508760"/>
          </a:xfrm>
          <a:prstGeom prst="rect">
            <a:avLst/>
          </a:prstGeom>
          <a:noFill/>
          <a:ln>
            <a:noFill/>
          </a:ln>
        </p:spPr>
        <p:txBody>
          <a:bodyPr rtlCol="0" anchor="t" wrap="square" lIns="45720" tIns="18288" rIns="45720" bIns="18288">
            <a:noAutofit/>
          </a:bodyPr>
          <a:lstStyle/>
          <a:p>
            <a:pPr algn="l">
              <a:lnSpc>
                <a:spcPct val="100000"/>
              </a:lnSpc>
              <a:spcBef>
                <a:spcPts val="0"/>
              </a:spcBef>
              <a:spcAft>
                <a:spcPts val="0"/>
              </a:spcAft>
            </a:pPr>
            <a:r>
              <a:rPr sz="1600" b="0" i="0">
                <a:solidFill>
                  <a:srgbClr val="22304A"/>
                </a:solidFill>
                <a:latin typeface="Segoe UI"/>
              </a:rPr>
              <a:t>Starts as quick sort, switches to heap sort if recursion gets too deep, and uses insertion sort on tiny ranges.</a:t>
            </a:r>
          </a:p>
        </p:txBody>
      </p:sp>
      <p:sp>
        <p:nvSpPr>
          <p:cNvPr id="13" name="Rounded Rectangle 12"/>
          <p:cNvSpPr/>
          <p:nvPr/>
        </p:nvSpPr>
        <p:spPr>
          <a:xfrm>
            <a:off x="4322978" y="1691640"/>
            <a:ext cx="3545738" cy="2971800"/>
          </a:xfrm>
          <a:prstGeom prst="roundRect">
            <a:avLst>
              <a:gd name="adj" fmla="val 4615"/>
            </a:avLst>
          </a:prstGeom>
          <a:solidFill>
            <a:srgbClr val="E8F2FB"/>
          </a:solidFill>
          <a:ln>
            <a:noFill/>
          </a:ln>
        </p:spPr>
        <p:txBody>
          <a:bodyPr rtlCol="0" anchor="ctr"/>
          <a:lstStyle/>
          <a:p>
            <a:pPr algn="ctr"/>
          </a:p>
        </p:txBody>
      </p:sp>
      <p:sp>
        <p:nvSpPr>
          <p:cNvPr id="14" name="Rectangle 13"/>
          <p:cNvSpPr/>
          <p:nvPr/>
        </p:nvSpPr>
        <p:spPr>
          <a:xfrm>
            <a:off x="4551578" y="1874519"/>
            <a:ext cx="457200" cy="54864"/>
          </a:xfrm>
          <a:prstGeom prst="rect">
            <a:avLst/>
          </a:prstGeom>
          <a:solidFill>
            <a:srgbClr val="F3A08A"/>
          </a:solidFill>
          <a:ln>
            <a:noFill/>
          </a:ln>
        </p:spPr>
        <p:txBody>
          <a:bodyPr rtlCol="0" anchor="ctr"/>
          <a:lstStyle/>
          <a:p>
            <a:pPr algn="ctr"/>
          </a:p>
        </p:txBody>
      </p:sp>
      <p:sp>
        <p:nvSpPr>
          <p:cNvPr id="15" name="Rectangle 14"/>
          <p:cNvSpPr/>
          <p:nvPr/>
        </p:nvSpPr>
        <p:spPr>
          <a:xfrm>
            <a:off x="4505858" y="2011680"/>
            <a:ext cx="3179978" cy="54864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2600" b="1" i="0">
                <a:solidFill>
                  <a:srgbClr val="22304A"/>
                </a:solidFill>
                <a:latin typeface="Georgia"/>
              </a:rPr>
              <a:t>pdqsort</a:t>
            </a:r>
          </a:p>
        </p:txBody>
      </p:sp>
      <p:sp>
        <p:nvSpPr>
          <p:cNvPr id="16" name="Rectangle 15"/>
          <p:cNvSpPr/>
          <p:nvPr/>
        </p:nvSpPr>
        <p:spPr>
          <a:xfrm>
            <a:off x="4505858" y="2578608"/>
            <a:ext cx="3179978" cy="36576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1400" b="1" i="0">
                <a:solidFill>
                  <a:srgbClr val="4F8FCB"/>
                </a:solidFill>
                <a:latin typeface="Consolas"/>
              </a:rPr>
              <a:t>Go sort, Rust sort_unstable</a:t>
            </a:r>
          </a:p>
        </p:txBody>
      </p:sp>
      <p:sp>
        <p:nvSpPr>
          <p:cNvPr id="17" name="Rectangle 16"/>
          <p:cNvSpPr/>
          <p:nvPr/>
        </p:nvSpPr>
        <p:spPr>
          <a:xfrm>
            <a:off x="4505858" y="3063240"/>
            <a:ext cx="3179978" cy="1508760"/>
          </a:xfrm>
          <a:prstGeom prst="rect">
            <a:avLst/>
          </a:prstGeom>
          <a:noFill/>
          <a:ln>
            <a:noFill/>
          </a:ln>
        </p:spPr>
        <p:txBody>
          <a:bodyPr rtlCol="0" anchor="t" wrap="square" lIns="45720" tIns="18288" rIns="45720" bIns="18288">
            <a:noAutofit/>
          </a:bodyPr>
          <a:lstStyle/>
          <a:p>
            <a:pPr algn="l">
              <a:lnSpc>
                <a:spcPct val="100000"/>
              </a:lnSpc>
              <a:spcBef>
                <a:spcPts val="0"/>
              </a:spcBef>
              <a:spcAft>
                <a:spcPts val="0"/>
              </a:spcAft>
            </a:pPr>
            <a:r>
              <a:rPr sz="1600" b="0" i="0">
                <a:solidFill>
                  <a:srgbClr val="22304A"/>
                </a:solidFill>
                <a:latin typeface="Segoe UI"/>
              </a:rPr>
              <a:t>Spots bad pivots and ordered patterns, then changes strategy, so the worst case is rare.</a:t>
            </a:r>
          </a:p>
        </p:txBody>
      </p:sp>
      <p:sp>
        <p:nvSpPr>
          <p:cNvPr id="18" name="Rounded Rectangle 17"/>
          <p:cNvSpPr/>
          <p:nvPr/>
        </p:nvSpPr>
        <p:spPr>
          <a:xfrm>
            <a:off x="8097316" y="1691640"/>
            <a:ext cx="3545738" cy="2971800"/>
          </a:xfrm>
          <a:prstGeom prst="roundRect">
            <a:avLst>
              <a:gd name="adj" fmla="val 4615"/>
            </a:avLst>
          </a:prstGeom>
          <a:solidFill>
            <a:srgbClr val="E8F2FB"/>
          </a:solidFill>
          <a:ln>
            <a:noFill/>
          </a:ln>
        </p:spPr>
        <p:txBody>
          <a:bodyPr rtlCol="0" anchor="ctr"/>
          <a:lstStyle/>
          <a:p>
            <a:pPr algn="ctr"/>
          </a:p>
        </p:txBody>
      </p:sp>
      <p:sp>
        <p:nvSpPr>
          <p:cNvPr id="19" name="Rectangle 18"/>
          <p:cNvSpPr/>
          <p:nvPr/>
        </p:nvSpPr>
        <p:spPr>
          <a:xfrm>
            <a:off x="8325916" y="1874519"/>
            <a:ext cx="457200" cy="54864"/>
          </a:xfrm>
          <a:prstGeom prst="rect">
            <a:avLst/>
          </a:prstGeom>
          <a:solidFill>
            <a:srgbClr val="F3A08A"/>
          </a:solidFill>
          <a:ln>
            <a:noFill/>
          </a:ln>
        </p:spPr>
        <p:txBody>
          <a:bodyPr rtlCol="0" anchor="ctr"/>
          <a:lstStyle/>
          <a:p>
            <a:pPr algn="ctr"/>
          </a:p>
        </p:txBody>
      </p:sp>
      <p:sp>
        <p:nvSpPr>
          <p:cNvPr id="20" name="Rectangle 19"/>
          <p:cNvSpPr/>
          <p:nvPr/>
        </p:nvSpPr>
        <p:spPr>
          <a:xfrm>
            <a:off x="8280196" y="2011680"/>
            <a:ext cx="3179978" cy="54864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2600" b="1" i="0">
                <a:solidFill>
                  <a:srgbClr val="22304A"/>
                </a:solidFill>
                <a:latin typeface="Georgia"/>
              </a:rPr>
              <a:t>Dual-pivot</a:t>
            </a:r>
          </a:p>
        </p:txBody>
      </p:sp>
      <p:sp>
        <p:nvSpPr>
          <p:cNvPr id="21" name="Rectangle 20"/>
          <p:cNvSpPr/>
          <p:nvPr/>
        </p:nvSpPr>
        <p:spPr>
          <a:xfrm>
            <a:off x="8280196" y="2578608"/>
            <a:ext cx="3179978" cy="36576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1400" b="1" i="0">
                <a:solidFill>
                  <a:srgbClr val="4F8FCB"/>
                </a:solidFill>
                <a:latin typeface="Consolas"/>
              </a:rPr>
              <a:t>Java Arrays.sort</a:t>
            </a:r>
          </a:p>
        </p:txBody>
      </p:sp>
      <p:sp>
        <p:nvSpPr>
          <p:cNvPr id="22" name="Rectangle 21"/>
          <p:cNvSpPr/>
          <p:nvPr/>
        </p:nvSpPr>
        <p:spPr>
          <a:xfrm>
            <a:off x="8280196" y="3063240"/>
            <a:ext cx="3179978" cy="1508760"/>
          </a:xfrm>
          <a:prstGeom prst="rect">
            <a:avLst/>
          </a:prstGeom>
          <a:noFill/>
          <a:ln>
            <a:noFill/>
          </a:ln>
        </p:spPr>
        <p:txBody>
          <a:bodyPr rtlCol="0" anchor="t" wrap="square" lIns="45720" tIns="18288" rIns="45720" bIns="18288">
            <a:noAutofit/>
          </a:bodyPr>
          <a:lstStyle/>
          <a:p>
            <a:pPr algn="l">
              <a:lnSpc>
                <a:spcPct val="100000"/>
              </a:lnSpc>
              <a:spcBef>
                <a:spcPts val="0"/>
              </a:spcBef>
              <a:spcAft>
                <a:spcPts val="0"/>
              </a:spcAft>
            </a:pPr>
            <a:r>
              <a:rPr sz="1600" b="0" i="0">
                <a:solidFill>
                  <a:srgbClr val="22304A"/>
                </a:solidFill>
                <a:latin typeface="Segoe UI"/>
              </a:rPr>
              <a:t>Two pivots give three parts. Java has used it for sorting primitive arrays since version 7.</a:t>
            </a:r>
          </a:p>
        </p:txBody>
      </p:sp>
      <p:sp>
        <p:nvSpPr>
          <p:cNvPr id="23" name="Rounded Rectangle 22"/>
          <p:cNvSpPr/>
          <p:nvPr/>
        </p:nvSpPr>
        <p:spPr>
          <a:xfrm>
            <a:off x="548640" y="4892040"/>
            <a:ext cx="11094415" cy="1234440"/>
          </a:xfrm>
          <a:prstGeom prst="roundRect">
            <a:avLst>
              <a:gd name="adj" fmla="val 11111"/>
            </a:avLst>
          </a:prstGeom>
          <a:solidFill>
            <a:srgbClr val="BCD8F1"/>
          </a:solidFill>
          <a:ln>
            <a:noFill/>
          </a:ln>
        </p:spPr>
        <p:txBody>
          <a:bodyPr rtlCol="0" anchor="ctr"/>
          <a:lstStyle/>
          <a:p>
            <a:pPr algn="ctr"/>
          </a:p>
        </p:txBody>
      </p:sp>
      <p:sp>
        <p:nvSpPr>
          <p:cNvPr id="24" name="Rectangle 23"/>
          <p:cNvSpPr/>
          <p:nvPr/>
        </p:nvSpPr>
        <p:spPr>
          <a:xfrm>
            <a:off x="548640" y="4892040"/>
            <a:ext cx="128016" cy="1234440"/>
          </a:xfrm>
          <a:prstGeom prst="rect">
            <a:avLst/>
          </a:prstGeom>
          <a:solidFill>
            <a:srgbClr val="E07A5F"/>
          </a:solidFill>
          <a:ln>
            <a:noFill/>
          </a:ln>
        </p:spPr>
        <p:txBody>
          <a:bodyPr rtlCol="0" anchor="ctr"/>
          <a:lstStyle/>
          <a:p>
            <a:pPr algn="ctr"/>
          </a:p>
        </p:txBody>
      </p:sp>
      <p:sp>
        <p:nvSpPr>
          <p:cNvPr id="25" name="Rectangle 24"/>
          <p:cNvSpPr/>
          <p:nvPr/>
        </p:nvSpPr>
        <p:spPr>
          <a:xfrm>
            <a:off x="914400" y="4937760"/>
            <a:ext cx="3383280" cy="114300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400" b="1" i="0">
                <a:solidFill>
                  <a:srgbClr val="22304A"/>
                </a:solidFill>
                <a:latin typeface="Georgia"/>
              </a:rPr>
              <a:t>So why quick sort?</a:t>
            </a:r>
          </a:p>
        </p:txBody>
      </p:sp>
      <p:sp>
        <p:nvSpPr>
          <p:cNvPr id="26" name="Rectangle 25"/>
          <p:cNvSpPr/>
          <p:nvPr/>
        </p:nvSpPr>
        <p:spPr>
          <a:xfrm>
            <a:off x="4480559" y="4937760"/>
            <a:ext cx="6888175" cy="114300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700" b="0" i="0">
                <a:solidFill>
                  <a:srgbClr val="22304A"/>
                </a:solidFill>
                <a:latin typeface="Segoe UI"/>
              </a:rPr>
              <a:t>It sorts in place, reads memory in order which suits the CPU cache, has a small constant factor, and modern libraries engineer the worst case away.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Key takeaways</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SUMMARY</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18</a:t>
            </a:r>
          </a:p>
        </p:txBody>
      </p:sp>
      <p:sp>
        <p:nvSpPr>
          <p:cNvPr id="8" name="Rounded Rectangle 7"/>
          <p:cNvSpPr/>
          <p:nvPr/>
        </p:nvSpPr>
        <p:spPr>
          <a:xfrm>
            <a:off x="548640" y="1691640"/>
            <a:ext cx="11091672" cy="914400"/>
          </a:xfrm>
          <a:prstGeom prst="roundRect">
            <a:avLst>
              <a:gd name="adj" fmla="val 15000"/>
            </a:avLst>
          </a:prstGeom>
          <a:solidFill>
            <a:srgbClr val="E8F2FB"/>
          </a:solidFill>
          <a:ln>
            <a:noFill/>
          </a:ln>
        </p:spPr>
        <p:txBody>
          <a:bodyPr rtlCol="0" anchor="ctr"/>
          <a:lstStyle/>
          <a:p>
            <a:pPr algn="ctr"/>
          </a:p>
        </p:txBody>
      </p:sp>
      <p:sp>
        <p:nvSpPr>
          <p:cNvPr id="9" name="Rounded Rectangle 8"/>
          <p:cNvSpPr/>
          <p:nvPr/>
        </p:nvSpPr>
        <p:spPr>
          <a:xfrm>
            <a:off x="731520" y="1783080"/>
            <a:ext cx="731520" cy="731520"/>
          </a:xfrm>
          <a:prstGeom prst="roundRect">
            <a:avLst>
              <a:gd name="adj" fmla="val 15000"/>
            </a:avLst>
          </a:prstGeom>
          <a:solidFill>
            <a:srgbClr val="F3A08A"/>
          </a:solidFill>
          <a:ln>
            <a:noFill/>
          </a:ln>
        </p:spPr>
        <p:txBody>
          <a:bodyPr rtlCol="0" anchor="ctr" wrap="square" lIns="0" tIns="0" rIns="0" bIns="0">
            <a:noAutofit/>
          </a:bodyPr>
          <a:lstStyle/>
          <a:p>
            <a:pPr algn="ctr">
              <a:lnSpc>
                <a:spcPct val="100000"/>
              </a:lnSpc>
              <a:spcBef>
                <a:spcPts val="0"/>
              </a:spcBef>
              <a:spcAft>
                <a:spcPts val="0"/>
              </a:spcAft>
            </a:pPr>
            <a:r>
              <a:rPr sz="3200" b="1" i="0">
                <a:solidFill>
                  <a:srgbClr val="22304A"/>
                </a:solidFill>
                <a:latin typeface="Georgia"/>
              </a:rPr>
              <a:t>1</a:t>
            </a:r>
          </a:p>
        </p:txBody>
      </p:sp>
      <p:sp>
        <p:nvSpPr>
          <p:cNvPr id="10" name="Rectangle 9"/>
          <p:cNvSpPr/>
          <p:nvPr/>
        </p:nvSpPr>
        <p:spPr>
          <a:xfrm>
            <a:off x="1691640" y="1737360"/>
            <a:ext cx="9692640" cy="82296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000" b="0" i="0">
                <a:solidFill>
                  <a:srgbClr val="22304A"/>
                </a:solidFill>
                <a:latin typeface="Segoe UI"/>
              </a:rPr>
              <a:t>Partition does the work. The pivot lands in its final position.</a:t>
            </a:r>
          </a:p>
        </p:txBody>
      </p:sp>
      <p:sp>
        <p:nvSpPr>
          <p:cNvPr id="11" name="Rounded Rectangle 10"/>
          <p:cNvSpPr/>
          <p:nvPr/>
        </p:nvSpPr>
        <p:spPr>
          <a:xfrm>
            <a:off x="548640" y="2788920"/>
            <a:ext cx="11091672" cy="914400"/>
          </a:xfrm>
          <a:prstGeom prst="roundRect">
            <a:avLst>
              <a:gd name="adj" fmla="val 15000"/>
            </a:avLst>
          </a:prstGeom>
          <a:solidFill>
            <a:srgbClr val="E8F2FB"/>
          </a:solidFill>
          <a:ln>
            <a:noFill/>
          </a:ln>
        </p:spPr>
        <p:txBody>
          <a:bodyPr rtlCol="0" anchor="ctr"/>
          <a:lstStyle/>
          <a:p>
            <a:pPr algn="ctr"/>
          </a:p>
        </p:txBody>
      </p:sp>
      <p:sp>
        <p:nvSpPr>
          <p:cNvPr id="12" name="Rounded Rectangle 11"/>
          <p:cNvSpPr/>
          <p:nvPr/>
        </p:nvSpPr>
        <p:spPr>
          <a:xfrm>
            <a:off x="731520" y="2880360"/>
            <a:ext cx="731520" cy="731520"/>
          </a:xfrm>
          <a:prstGeom prst="roundRect">
            <a:avLst>
              <a:gd name="adj" fmla="val 15000"/>
            </a:avLst>
          </a:prstGeom>
          <a:solidFill>
            <a:srgbClr val="BCD8F1"/>
          </a:solidFill>
          <a:ln>
            <a:noFill/>
          </a:ln>
        </p:spPr>
        <p:txBody>
          <a:bodyPr rtlCol="0" anchor="ctr" wrap="square" lIns="0" tIns="0" rIns="0" bIns="0">
            <a:noAutofit/>
          </a:bodyPr>
          <a:lstStyle/>
          <a:p>
            <a:pPr algn="ctr">
              <a:lnSpc>
                <a:spcPct val="100000"/>
              </a:lnSpc>
              <a:spcBef>
                <a:spcPts val="0"/>
              </a:spcBef>
              <a:spcAft>
                <a:spcPts val="0"/>
              </a:spcAft>
            </a:pPr>
            <a:r>
              <a:rPr sz="3200" b="1" i="0">
                <a:solidFill>
                  <a:srgbClr val="22304A"/>
                </a:solidFill>
                <a:latin typeface="Georgia"/>
              </a:rPr>
              <a:t>2</a:t>
            </a:r>
          </a:p>
        </p:txBody>
      </p:sp>
      <p:sp>
        <p:nvSpPr>
          <p:cNvPr id="13" name="Rectangle 12"/>
          <p:cNvSpPr/>
          <p:nvPr/>
        </p:nvSpPr>
        <p:spPr>
          <a:xfrm>
            <a:off x="1691640" y="2834639"/>
            <a:ext cx="9692640" cy="82296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000" b="0" i="0">
                <a:solidFill>
                  <a:srgbClr val="22304A"/>
                </a:solidFill>
                <a:latin typeface="Segoe UI"/>
              </a:rPr>
              <a:t>There is no combine step, unlike merge sort.</a:t>
            </a:r>
          </a:p>
        </p:txBody>
      </p:sp>
      <p:sp>
        <p:nvSpPr>
          <p:cNvPr id="14" name="Rounded Rectangle 13"/>
          <p:cNvSpPr/>
          <p:nvPr/>
        </p:nvSpPr>
        <p:spPr>
          <a:xfrm>
            <a:off x="548640" y="3886200"/>
            <a:ext cx="11091672" cy="914400"/>
          </a:xfrm>
          <a:prstGeom prst="roundRect">
            <a:avLst>
              <a:gd name="adj" fmla="val 15000"/>
            </a:avLst>
          </a:prstGeom>
          <a:solidFill>
            <a:srgbClr val="E8F2FB"/>
          </a:solidFill>
          <a:ln>
            <a:noFill/>
          </a:ln>
        </p:spPr>
        <p:txBody>
          <a:bodyPr rtlCol="0" anchor="ctr"/>
          <a:lstStyle/>
          <a:p>
            <a:pPr algn="ctr"/>
          </a:p>
        </p:txBody>
      </p:sp>
      <p:sp>
        <p:nvSpPr>
          <p:cNvPr id="15" name="Rounded Rectangle 14"/>
          <p:cNvSpPr/>
          <p:nvPr/>
        </p:nvSpPr>
        <p:spPr>
          <a:xfrm>
            <a:off x="731520" y="3977639"/>
            <a:ext cx="731520" cy="731520"/>
          </a:xfrm>
          <a:prstGeom prst="roundRect">
            <a:avLst>
              <a:gd name="adj" fmla="val 15000"/>
            </a:avLst>
          </a:prstGeom>
          <a:solidFill>
            <a:srgbClr val="BCD8F1"/>
          </a:solidFill>
          <a:ln>
            <a:noFill/>
          </a:ln>
        </p:spPr>
        <p:txBody>
          <a:bodyPr rtlCol="0" anchor="ctr" wrap="square" lIns="0" tIns="0" rIns="0" bIns="0">
            <a:noAutofit/>
          </a:bodyPr>
          <a:lstStyle/>
          <a:p>
            <a:pPr algn="ctr">
              <a:lnSpc>
                <a:spcPct val="100000"/>
              </a:lnSpc>
              <a:spcBef>
                <a:spcPts val="0"/>
              </a:spcBef>
              <a:spcAft>
                <a:spcPts val="0"/>
              </a:spcAft>
            </a:pPr>
            <a:r>
              <a:rPr sz="3200" b="1" i="0">
                <a:solidFill>
                  <a:srgbClr val="22304A"/>
                </a:solidFill>
                <a:latin typeface="Georgia"/>
              </a:rPr>
              <a:t>3</a:t>
            </a:r>
          </a:p>
        </p:txBody>
      </p:sp>
      <p:sp>
        <p:nvSpPr>
          <p:cNvPr id="16" name="Rectangle 15"/>
          <p:cNvSpPr/>
          <p:nvPr/>
        </p:nvSpPr>
        <p:spPr>
          <a:xfrm>
            <a:off x="1691640" y="3931920"/>
            <a:ext cx="9692640" cy="82296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000" b="0" i="0">
                <a:solidFill>
                  <a:srgbClr val="22304A"/>
                </a:solidFill>
                <a:latin typeface="Segoe UI"/>
              </a:rPr>
              <a:t>Best and average case are n log n. Worst case is n², for example sorted input with a first-element pivot.</a:t>
            </a:r>
          </a:p>
        </p:txBody>
      </p:sp>
      <p:sp>
        <p:nvSpPr>
          <p:cNvPr id="17" name="Rounded Rectangle 16"/>
          <p:cNvSpPr/>
          <p:nvPr/>
        </p:nvSpPr>
        <p:spPr>
          <a:xfrm>
            <a:off x="548640" y="4983479"/>
            <a:ext cx="11091672" cy="914400"/>
          </a:xfrm>
          <a:prstGeom prst="roundRect">
            <a:avLst>
              <a:gd name="adj" fmla="val 15000"/>
            </a:avLst>
          </a:prstGeom>
          <a:solidFill>
            <a:srgbClr val="E8F2FB"/>
          </a:solidFill>
          <a:ln>
            <a:noFill/>
          </a:ln>
        </p:spPr>
        <p:txBody>
          <a:bodyPr rtlCol="0" anchor="ctr"/>
          <a:lstStyle/>
          <a:p>
            <a:pPr algn="ctr"/>
          </a:p>
        </p:txBody>
      </p:sp>
      <p:sp>
        <p:nvSpPr>
          <p:cNvPr id="18" name="Rounded Rectangle 17"/>
          <p:cNvSpPr/>
          <p:nvPr/>
        </p:nvSpPr>
        <p:spPr>
          <a:xfrm>
            <a:off x="731520" y="5074919"/>
            <a:ext cx="731520" cy="731520"/>
          </a:xfrm>
          <a:prstGeom prst="roundRect">
            <a:avLst>
              <a:gd name="adj" fmla="val 15000"/>
            </a:avLst>
          </a:prstGeom>
          <a:solidFill>
            <a:srgbClr val="BCD8F1"/>
          </a:solidFill>
          <a:ln>
            <a:noFill/>
          </a:ln>
        </p:spPr>
        <p:txBody>
          <a:bodyPr rtlCol="0" anchor="ctr" wrap="square" lIns="0" tIns="0" rIns="0" bIns="0">
            <a:noAutofit/>
          </a:bodyPr>
          <a:lstStyle/>
          <a:p>
            <a:pPr algn="ctr">
              <a:lnSpc>
                <a:spcPct val="100000"/>
              </a:lnSpc>
              <a:spcBef>
                <a:spcPts val="0"/>
              </a:spcBef>
              <a:spcAft>
                <a:spcPts val="0"/>
              </a:spcAft>
            </a:pPr>
            <a:r>
              <a:rPr sz="3200" b="1" i="0">
                <a:solidFill>
                  <a:srgbClr val="22304A"/>
                </a:solidFill>
                <a:latin typeface="Georgia"/>
              </a:rPr>
              <a:t>4</a:t>
            </a:r>
          </a:p>
        </p:txBody>
      </p:sp>
      <p:sp>
        <p:nvSpPr>
          <p:cNvPr id="19" name="Rectangle 18"/>
          <p:cNvSpPr/>
          <p:nvPr/>
        </p:nvSpPr>
        <p:spPr>
          <a:xfrm>
            <a:off x="1691640" y="5029199"/>
            <a:ext cx="9692640" cy="82296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000" b="0" i="0">
                <a:solidFill>
                  <a:srgbClr val="22304A"/>
                </a:solidFill>
                <a:latin typeface="Segoe UI"/>
              </a:rPr>
              <a:t>Random or median-of-three pivots, and hybrids like introsort, make it the practical default.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2011680" y="1920240"/>
            <a:ext cx="8138160" cy="1280160"/>
          </a:xfrm>
        </p:spPr>
        <p:txBody>
          <a:bodyPr wrap="square" lIns="0" tIns="0" rIns="0" bIns="0" anchor="ctr">
            <a:noAutofit/>
          </a:bodyPr>
          <a:lstStyle/>
          <a:p>
            <a:pPr algn="ctr">
              <a:lnSpc>
                <a:spcPct val="100000"/>
              </a:lnSpc>
              <a:spcBef>
                <a:spcPts val="0"/>
              </a:spcBef>
              <a:spcAft>
                <a:spcPts val="0"/>
              </a:spcAft>
            </a:pPr>
            <a:r>
              <a:rPr sz="6600" b="1" i="0">
                <a:solidFill>
                  <a:srgbClr val="22304A"/>
                </a:solidFill>
                <a:latin typeface="Georgia"/>
              </a:rPr>
              <a:t>Thank you</a:t>
            </a:r>
          </a:p>
        </p:txBody>
      </p:sp>
      <p:sp>
        <p:nvSpPr>
          <p:cNvPr id="3" name="Freeform 2"/>
          <p:cNvSpPr/>
          <p:nvPr/>
        </p:nvSpPr>
        <p:spPr>
          <a:xfrm>
            <a:off x="0" y="0"/>
            <a:ext cx="1554480" cy="1554480"/>
          </a:xfrm>
          <a:custGeom>
            <a:avLst/>
            <a:gdLst/>
            <a:ahLst/>
            <a:cxnLst/>
            <a:rect l="l" t="t" r="r" b="b"/>
            <a:pathLst>
              <a:path w="1554480" h="1554480">
                <a:moveTo>
                  <a:pt x="1554480" y="0"/>
                </a:moveTo>
                <a:lnTo>
                  <a:pt x="1554110" y="33910"/>
                </a:lnTo>
                <a:lnTo>
                  <a:pt x="1553000" y="67805"/>
                </a:lnTo>
                <a:lnTo>
                  <a:pt x="1551151" y="101667"/>
                </a:lnTo>
                <a:lnTo>
                  <a:pt x="1548564" y="135481"/>
                </a:lnTo>
                <a:lnTo>
                  <a:pt x="1545240" y="169231"/>
                </a:lnTo>
                <a:lnTo>
                  <a:pt x="1541181" y="202900"/>
                </a:lnTo>
                <a:lnTo>
                  <a:pt x="1536388" y="236472"/>
                </a:lnTo>
                <a:lnTo>
                  <a:pt x="1530863" y="269932"/>
                </a:lnTo>
                <a:lnTo>
                  <a:pt x="1524611" y="303264"/>
                </a:lnTo>
                <a:lnTo>
                  <a:pt x="1517632" y="336451"/>
                </a:lnTo>
                <a:lnTo>
                  <a:pt x="1509931" y="369477"/>
                </a:lnTo>
                <a:lnTo>
                  <a:pt x="1501512" y="402329"/>
                </a:lnTo>
                <a:lnTo>
                  <a:pt x="1492378" y="434988"/>
                </a:lnTo>
                <a:lnTo>
                  <a:pt x="1482533" y="467441"/>
                </a:lnTo>
                <a:lnTo>
                  <a:pt x="1471983" y="499671"/>
                </a:lnTo>
                <a:lnTo>
                  <a:pt x="1460733" y="531663"/>
                </a:lnTo>
                <a:lnTo>
                  <a:pt x="1448787" y="563402"/>
                </a:lnTo>
                <a:lnTo>
                  <a:pt x="1436152" y="594873"/>
                </a:lnTo>
                <a:lnTo>
                  <a:pt x="1422833" y="626061"/>
                </a:lnTo>
                <a:lnTo>
                  <a:pt x="1408837" y="656951"/>
                </a:lnTo>
                <a:lnTo>
                  <a:pt x="1394170" y="687528"/>
                </a:lnTo>
                <a:lnTo>
                  <a:pt x="1378840" y="717778"/>
                </a:lnTo>
                <a:lnTo>
                  <a:pt x="1362854" y="747687"/>
                </a:lnTo>
                <a:lnTo>
                  <a:pt x="1346219" y="777239"/>
                </a:lnTo>
                <a:lnTo>
                  <a:pt x="1328943" y="806422"/>
                </a:lnTo>
                <a:lnTo>
                  <a:pt x="1311035" y="835221"/>
                </a:lnTo>
                <a:lnTo>
                  <a:pt x="1292502" y="863622"/>
                </a:lnTo>
                <a:lnTo>
                  <a:pt x="1273355" y="891613"/>
                </a:lnTo>
                <a:lnTo>
                  <a:pt x="1253602" y="919179"/>
                </a:lnTo>
                <a:lnTo>
                  <a:pt x="1233251" y="946307"/>
                </a:lnTo>
                <a:lnTo>
                  <a:pt x="1212314" y="972985"/>
                </a:lnTo>
                <a:lnTo>
                  <a:pt x="1190800" y="999200"/>
                </a:lnTo>
                <a:lnTo>
                  <a:pt x="1168719" y="1024939"/>
                </a:lnTo>
                <a:lnTo>
                  <a:pt x="1146082" y="1050191"/>
                </a:lnTo>
                <a:lnTo>
                  <a:pt x="1122900" y="1074943"/>
                </a:lnTo>
                <a:lnTo>
                  <a:pt x="1099183" y="1099183"/>
                </a:lnTo>
                <a:lnTo>
                  <a:pt x="1074943" y="1122900"/>
                </a:lnTo>
                <a:lnTo>
                  <a:pt x="1050191" y="1146082"/>
                </a:lnTo>
                <a:lnTo>
                  <a:pt x="1024939" y="1168719"/>
                </a:lnTo>
                <a:lnTo>
                  <a:pt x="999200" y="1190800"/>
                </a:lnTo>
                <a:lnTo>
                  <a:pt x="972985" y="1212314"/>
                </a:lnTo>
                <a:lnTo>
                  <a:pt x="946307" y="1233251"/>
                </a:lnTo>
                <a:lnTo>
                  <a:pt x="919179" y="1253602"/>
                </a:lnTo>
                <a:lnTo>
                  <a:pt x="891613" y="1273355"/>
                </a:lnTo>
                <a:lnTo>
                  <a:pt x="863622" y="1292502"/>
                </a:lnTo>
                <a:lnTo>
                  <a:pt x="835221" y="1311035"/>
                </a:lnTo>
                <a:lnTo>
                  <a:pt x="806422" y="1328943"/>
                </a:lnTo>
                <a:lnTo>
                  <a:pt x="777240" y="1346219"/>
                </a:lnTo>
                <a:lnTo>
                  <a:pt x="747687" y="1362854"/>
                </a:lnTo>
                <a:lnTo>
                  <a:pt x="717778" y="1378840"/>
                </a:lnTo>
                <a:lnTo>
                  <a:pt x="687528" y="1394170"/>
                </a:lnTo>
                <a:lnTo>
                  <a:pt x="656951" y="1408837"/>
                </a:lnTo>
                <a:lnTo>
                  <a:pt x="626061" y="1422833"/>
                </a:lnTo>
                <a:lnTo>
                  <a:pt x="594873" y="1436152"/>
                </a:lnTo>
                <a:lnTo>
                  <a:pt x="563402" y="1448787"/>
                </a:lnTo>
                <a:lnTo>
                  <a:pt x="531663" y="1460733"/>
                </a:lnTo>
                <a:lnTo>
                  <a:pt x="499671" y="1471983"/>
                </a:lnTo>
                <a:lnTo>
                  <a:pt x="467441" y="1482533"/>
                </a:lnTo>
                <a:lnTo>
                  <a:pt x="434988" y="1492378"/>
                </a:lnTo>
                <a:lnTo>
                  <a:pt x="402329" y="1501512"/>
                </a:lnTo>
                <a:lnTo>
                  <a:pt x="369477" y="1509931"/>
                </a:lnTo>
                <a:lnTo>
                  <a:pt x="336451" y="1517632"/>
                </a:lnTo>
                <a:lnTo>
                  <a:pt x="303264" y="1524611"/>
                </a:lnTo>
                <a:lnTo>
                  <a:pt x="269932" y="1530863"/>
                </a:lnTo>
                <a:lnTo>
                  <a:pt x="236472" y="1536388"/>
                </a:lnTo>
                <a:lnTo>
                  <a:pt x="202900" y="1541181"/>
                </a:lnTo>
                <a:lnTo>
                  <a:pt x="169231" y="1545240"/>
                </a:lnTo>
                <a:lnTo>
                  <a:pt x="135481" y="1548564"/>
                </a:lnTo>
                <a:lnTo>
                  <a:pt x="101667" y="1551151"/>
                </a:lnTo>
                <a:lnTo>
                  <a:pt x="67805" y="1553000"/>
                </a:lnTo>
                <a:lnTo>
                  <a:pt x="33910" y="1554110"/>
                </a:lnTo>
                <a:lnTo>
                  <a:pt x="0" y="1554480"/>
                </a:lnTo>
                <a:lnTo>
                  <a:pt x="0" y="0"/>
                </a:lnTo>
                <a:close/>
              </a:path>
            </a:pathLst>
          </a:custGeom>
          <a:solidFill>
            <a:srgbClr val="FBE3DB"/>
          </a:solidFill>
          <a:ln>
            <a:noFill/>
          </a:ln>
        </p:spPr>
        <p:txBody>
          <a:bodyPr rtlCol="0" anchor="ctr"/>
          <a:lstStyle/>
          <a:p>
            <a:pPr algn="ctr"/>
          </a:p>
        </p:txBody>
      </p:sp>
      <p:sp>
        <p:nvSpPr>
          <p:cNvPr id="4" name="Freeform 3"/>
          <p:cNvSpPr/>
          <p:nvPr/>
        </p:nvSpPr>
        <p:spPr>
          <a:xfrm>
            <a:off x="0" y="0"/>
            <a:ext cx="914400" cy="914400"/>
          </a:xfrm>
          <a:custGeom>
            <a:avLst/>
            <a:gdLst/>
            <a:ahLst/>
            <a:cxnLst/>
            <a:rect l="l" t="t" r="r" b="b"/>
            <a:pathLst>
              <a:path w="914400" h="914400">
                <a:moveTo>
                  <a:pt x="914400" y="0"/>
                </a:moveTo>
                <a:lnTo>
                  <a:pt x="914182" y="19947"/>
                </a:lnTo>
                <a:lnTo>
                  <a:pt x="913529" y="39885"/>
                </a:lnTo>
                <a:lnTo>
                  <a:pt x="912442" y="59804"/>
                </a:lnTo>
                <a:lnTo>
                  <a:pt x="910920" y="79695"/>
                </a:lnTo>
                <a:lnTo>
                  <a:pt x="908965" y="99547"/>
                </a:lnTo>
                <a:lnTo>
                  <a:pt x="906577" y="119353"/>
                </a:lnTo>
                <a:lnTo>
                  <a:pt x="903757" y="139101"/>
                </a:lnTo>
                <a:lnTo>
                  <a:pt x="900508" y="158783"/>
                </a:lnTo>
                <a:lnTo>
                  <a:pt x="896830" y="178390"/>
                </a:lnTo>
                <a:lnTo>
                  <a:pt x="892725" y="197912"/>
                </a:lnTo>
                <a:lnTo>
                  <a:pt x="888195" y="217339"/>
                </a:lnTo>
                <a:lnTo>
                  <a:pt x="883242" y="236664"/>
                </a:lnTo>
                <a:lnTo>
                  <a:pt x="877869" y="255875"/>
                </a:lnTo>
                <a:lnTo>
                  <a:pt x="872078" y="274965"/>
                </a:lnTo>
                <a:lnTo>
                  <a:pt x="865872" y="293924"/>
                </a:lnTo>
                <a:lnTo>
                  <a:pt x="859254" y="312743"/>
                </a:lnTo>
                <a:lnTo>
                  <a:pt x="852227" y="331413"/>
                </a:lnTo>
                <a:lnTo>
                  <a:pt x="844795" y="349925"/>
                </a:lnTo>
                <a:lnTo>
                  <a:pt x="836960" y="368271"/>
                </a:lnTo>
                <a:lnTo>
                  <a:pt x="828727" y="386442"/>
                </a:lnTo>
                <a:lnTo>
                  <a:pt x="820100" y="404428"/>
                </a:lnTo>
                <a:lnTo>
                  <a:pt x="811082" y="422222"/>
                </a:lnTo>
                <a:lnTo>
                  <a:pt x="801678" y="439816"/>
                </a:lnTo>
                <a:lnTo>
                  <a:pt x="791893" y="457199"/>
                </a:lnTo>
                <a:lnTo>
                  <a:pt x="781731" y="474366"/>
                </a:lnTo>
                <a:lnTo>
                  <a:pt x="771197" y="491306"/>
                </a:lnTo>
                <a:lnTo>
                  <a:pt x="760295" y="508013"/>
                </a:lnTo>
                <a:lnTo>
                  <a:pt x="749032" y="524478"/>
                </a:lnTo>
                <a:lnTo>
                  <a:pt x="737412" y="540693"/>
                </a:lnTo>
                <a:lnTo>
                  <a:pt x="725442" y="556651"/>
                </a:lnTo>
                <a:lnTo>
                  <a:pt x="713126" y="572344"/>
                </a:lnTo>
                <a:lnTo>
                  <a:pt x="700471" y="587764"/>
                </a:lnTo>
                <a:lnTo>
                  <a:pt x="687482" y="602905"/>
                </a:lnTo>
                <a:lnTo>
                  <a:pt x="674166" y="617759"/>
                </a:lnTo>
                <a:lnTo>
                  <a:pt x="660529" y="632319"/>
                </a:lnTo>
                <a:lnTo>
                  <a:pt x="646578" y="646578"/>
                </a:lnTo>
                <a:lnTo>
                  <a:pt x="632319" y="660529"/>
                </a:lnTo>
                <a:lnTo>
                  <a:pt x="617759" y="674166"/>
                </a:lnTo>
                <a:lnTo>
                  <a:pt x="602905" y="687482"/>
                </a:lnTo>
                <a:lnTo>
                  <a:pt x="587764" y="700471"/>
                </a:lnTo>
                <a:lnTo>
                  <a:pt x="572344" y="713126"/>
                </a:lnTo>
                <a:lnTo>
                  <a:pt x="556651" y="725442"/>
                </a:lnTo>
                <a:lnTo>
                  <a:pt x="540693" y="737412"/>
                </a:lnTo>
                <a:lnTo>
                  <a:pt x="524478" y="749032"/>
                </a:lnTo>
                <a:lnTo>
                  <a:pt x="508013" y="760295"/>
                </a:lnTo>
                <a:lnTo>
                  <a:pt x="491306" y="771197"/>
                </a:lnTo>
                <a:lnTo>
                  <a:pt x="474366" y="781731"/>
                </a:lnTo>
                <a:lnTo>
                  <a:pt x="457200" y="791893"/>
                </a:lnTo>
                <a:lnTo>
                  <a:pt x="439816" y="801678"/>
                </a:lnTo>
                <a:lnTo>
                  <a:pt x="422222" y="811082"/>
                </a:lnTo>
                <a:lnTo>
                  <a:pt x="404428" y="820100"/>
                </a:lnTo>
                <a:lnTo>
                  <a:pt x="386442" y="828727"/>
                </a:lnTo>
                <a:lnTo>
                  <a:pt x="368271" y="836960"/>
                </a:lnTo>
                <a:lnTo>
                  <a:pt x="349925" y="844795"/>
                </a:lnTo>
                <a:lnTo>
                  <a:pt x="331413" y="852227"/>
                </a:lnTo>
                <a:lnTo>
                  <a:pt x="312743" y="859254"/>
                </a:lnTo>
                <a:lnTo>
                  <a:pt x="293924" y="865872"/>
                </a:lnTo>
                <a:lnTo>
                  <a:pt x="274965" y="872078"/>
                </a:lnTo>
                <a:lnTo>
                  <a:pt x="255875" y="877869"/>
                </a:lnTo>
                <a:lnTo>
                  <a:pt x="236664" y="883242"/>
                </a:lnTo>
                <a:lnTo>
                  <a:pt x="217339" y="888195"/>
                </a:lnTo>
                <a:lnTo>
                  <a:pt x="197912" y="892725"/>
                </a:lnTo>
                <a:lnTo>
                  <a:pt x="178390" y="896830"/>
                </a:lnTo>
                <a:lnTo>
                  <a:pt x="158783" y="900508"/>
                </a:lnTo>
                <a:lnTo>
                  <a:pt x="139101" y="903757"/>
                </a:lnTo>
                <a:lnTo>
                  <a:pt x="119353" y="906577"/>
                </a:lnTo>
                <a:lnTo>
                  <a:pt x="99547" y="908965"/>
                </a:lnTo>
                <a:lnTo>
                  <a:pt x="79695" y="910920"/>
                </a:lnTo>
                <a:lnTo>
                  <a:pt x="59804" y="912442"/>
                </a:lnTo>
                <a:lnTo>
                  <a:pt x="39885" y="913529"/>
                </a:lnTo>
                <a:lnTo>
                  <a:pt x="19947" y="914182"/>
                </a:lnTo>
                <a:lnTo>
                  <a:pt x="0" y="914400"/>
                </a:lnTo>
                <a:lnTo>
                  <a:pt x="0" y="0"/>
                </a:lnTo>
                <a:close/>
              </a:path>
            </a:pathLst>
          </a:custGeom>
          <a:solidFill>
            <a:srgbClr val="F3A08A"/>
          </a:solidFill>
          <a:ln>
            <a:noFill/>
          </a:ln>
        </p:spPr>
        <p:txBody>
          <a:bodyPr rtlCol="0" anchor="ctr"/>
          <a:lstStyle/>
          <a:p>
            <a:pPr algn="ctr"/>
          </a:p>
        </p:txBody>
      </p:sp>
      <p:sp>
        <p:nvSpPr>
          <p:cNvPr id="5" name="Freeform 4"/>
          <p:cNvSpPr/>
          <p:nvPr/>
        </p:nvSpPr>
        <p:spPr>
          <a:xfrm>
            <a:off x="8991295" y="3657600"/>
            <a:ext cx="3200400" cy="3200400"/>
          </a:xfrm>
          <a:custGeom>
            <a:avLst/>
            <a:gdLst/>
            <a:ahLst/>
            <a:cxnLst/>
            <a:rect l="l" t="t" r="r" b="b"/>
            <a:pathLst>
              <a:path w="3200400" h="3200400">
                <a:moveTo>
                  <a:pt x="0" y="3200400"/>
                </a:moveTo>
                <a:lnTo>
                  <a:pt x="761" y="3130583"/>
                </a:lnTo>
                <a:lnTo>
                  <a:pt x="3046" y="3060800"/>
                </a:lnTo>
                <a:lnTo>
                  <a:pt x="6852" y="2991083"/>
                </a:lnTo>
                <a:lnTo>
                  <a:pt x="12178" y="2921466"/>
                </a:lnTo>
                <a:lnTo>
                  <a:pt x="19022" y="2851982"/>
                </a:lnTo>
                <a:lnTo>
                  <a:pt x="27380" y="2782663"/>
                </a:lnTo>
                <a:lnTo>
                  <a:pt x="37248" y="2713544"/>
                </a:lnTo>
                <a:lnTo>
                  <a:pt x="48621" y="2644656"/>
                </a:lnTo>
                <a:lnTo>
                  <a:pt x="61494" y="2576032"/>
                </a:lnTo>
                <a:lnTo>
                  <a:pt x="75862" y="2507706"/>
                </a:lnTo>
                <a:lnTo>
                  <a:pt x="91717" y="2439710"/>
                </a:lnTo>
                <a:lnTo>
                  <a:pt x="109051" y="2372075"/>
                </a:lnTo>
                <a:lnTo>
                  <a:pt x="127856" y="2304835"/>
                </a:lnTo>
                <a:lnTo>
                  <a:pt x="148124" y="2238021"/>
                </a:lnTo>
                <a:lnTo>
                  <a:pt x="169845" y="2171665"/>
                </a:lnTo>
                <a:lnTo>
                  <a:pt x="193007" y="2105798"/>
                </a:lnTo>
                <a:lnTo>
                  <a:pt x="217602" y="2040453"/>
                </a:lnTo>
                <a:lnTo>
                  <a:pt x="243616" y="1975659"/>
                </a:lnTo>
                <a:lnTo>
                  <a:pt x="271037" y="1911449"/>
                </a:lnTo>
                <a:lnTo>
                  <a:pt x="299852" y="1847852"/>
                </a:lnTo>
                <a:lnTo>
                  <a:pt x="330048" y="1784899"/>
                </a:lnTo>
                <a:lnTo>
                  <a:pt x="361610" y="1722619"/>
                </a:lnTo>
                <a:lnTo>
                  <a:pt x="394523" y="1661043"/>
                </a:lnTo>
                <a:lnTo>
                  <a:pt x="428772" y="1600200"/>
                </a:lnTo>
                <a:lnTo>
                  <a:pt x="464340" y="1540118"/>
                </a:lnTo>
                <a:lnTo>
                  <a:pt x="501210" y="1480826"/>
                </a:lnTo>
                <a:lnTo>
                  <a:pt x="539364" y="1422353"/>
                </a:lnTo>
                <a:lnTo>
                  <a:pt x="578785" y="1364725"/>
                </a:lnTo>
                <a:lnTo>
                  <a:pt x="619454" y="1307972"/>
                </a:lnTo>
                <a:lnTo>
                  <a:pt x="661352" y="1252119"/>
                </a:lnTo>
                <a:lnTo>
                  <a:pt x="704457" y="1197194"/>
                </a:lnTo>
                <a:lnTo>
                  <a:pt x="748751" y="1143222"/>
                </a:lnTo>
                <a:lnTo>
                  <a:pt x="794212" y="1090229"/>
                </a:lnTo>
                <a:lnTo>
                  <a:pt x="840817" y="1038241"/>
                </a:lnTo>
                <a:lnTo>
                  <a:pt x="888546" y="987281"/>
                </a:lnTo>
                <a:lnTo>
                  <a:pt x="937375" y="937375"/>
                </a:lnTo>
                <a:lnTo>
                  <a:pt x="987281" y="888546"/>
                </a:lnTo>
                <a:lnTo>
                  <a:pt x="1038241" y="840817"/>
                </a:lnTo>
                <a:lnTo>
                  <a:pt x="1090229" y="794211"/>
                </a:lnTo>
                <a:lnTo>
                  <a:pt x="1143222" y="748751"/>
                </a:lnTo>
                <a:lnTo>
                  <a:pt x="1197194" y="704457"/>
                </a:lnTo>
                <a:lnTo>
                  <a:pt x="1252120" y="661351"/>
                </a:lnTo>
                <a:lnTo>
                  <a:pt x="1307972" y="619454"/>
                </a:lnTo>
                <a:lnTo>
                  <a:pt x="1364726" y="578785"/>
                </a:lnTo>
                <a:lnTo>
                  <a:pt x="1422353" y="539364"/>
                </a:lnTo>
                <a:lnTo>
                  <a:pt x="1480826" y="501210"/>
                </a:lnTo>
                <a:lnTo>
                  <a:pt x="1540118" y="464340"/>
                </a:lnTo>
                <a:lnTo>
                  <a:pt x="1600200" y="428772"/>
                </a:lnTo>
                <a:lnTo>
                  <a:pt x="1661043" y="394523"/>
                </a:lnTo>
                <a:lnTo>
                  <a:pt x="1722619" y="361610"/>
                </a:lnTo>
                <a:lnTo>
                  <a:pt x="1784899" y="330048"/>
                </a:lnTo>
                <a:lnTo>
                  <a:pt x="1847852" y="299852"/>
                </a:lnTo>
                <a:lnTo>
                  <a:pt x="1911449" y="271037"/>
                </a:lnTo>
                <a:lnTo>
                  <a:pt x="1975660" y="243615"/>
                </a:lnTo>
                <a:lnTo>
                  <a:pt x="2040453" y="217602"/>
                </a:lnTo>
                <a:lnTo>
                  <a:pt x="2105798" y="193007"/>
                </a:lnTo>
                <a:lnTo>
                  <a:pt x="2171665" y="169844"/>
                </a:lnTo>
                <a:lnTo>
                  <a:pt x="2238021" y="148124"/>
                </a:lnTo>
                <a:lnTo>
                  <a:pt x="2304835" y="127856"/>
                </a:lnTo>
                <a:lnTo>
                  <a:pt x="2372075" y="109050"/>
                </a:lnTo>
                <a:lnTo>
                  <a:pt x="2439710" y="91716"/>
                </a:lnTo>
                <a:lnTo>
                  <a:pt x="2507706" y="75862"/>
                </a:lnTo>
                <a:lnTo>
                  <a:pt x="2576033" y="61494"/>
                </a:lnTo>
                <a:lnTo>
                  <a:pt x="2644656" y="48621"/>
                </a:lnTo>
                <a:lnTo>
                  <a:pt x="2713544" y="37247"/>
                </a:lnTo>
                <a:lnTo>
                  <a:pt x="2782664" y="27379"/>
                </a:lnTo>
                <a:lnTo>
                  <a:pt x="2851982" y="19022"/>
                </a:lnTo>
                <a:lnTo>
                  <a:pt x="2921466" y="12178"/>
                </a:lnTo>
                <a:lnTo>
                  <a:pt x="2991084" y="6852"/>
                </a:lnTo>
                <a:lnTo>
                  <a:pt x="3060800" y="3046"/>
                </a:lnTo>
                <a:lnTo>
                  <a:pt x="3130583" y="761"/>
                </a:lnTo>
                <a:lnTo>
                  <a:pt x="3200400" y="0"/>
                </a:lnTo>
                <a:lnTo>
                  <a:pt x="3200400" y="3200400"/>
                </a:lnTo>
                <a:close/>
              </a:path>
            </a:pathLst>
          </a:custGeom>
          <a:solidFill>
            <a:srgbClr val="BCD8F1"/>
          </a:solidFill>
          <a:ln>
            <a:noFill/>
          </a:ln>
        </p:spPr>
        <p:txBody>
          <a:bodyPr rtlCol="0" anchor="ctr"/>
          <a:lstStyle/>
          <a:p>
            <a:pPr algn="ctr"/>
          </a:p>
        </p:txBody>
      </p:sp>
      <p:sp>
        <p:nvSpPr>
          <p:cNvPr id="6" name="Freeform 5"/>
          <p:cNvSpPr/>
          <p:nvPr/>
        </p:nvSpPr>
        <p:spPr>
          <a:xfrm>
            <a:off x="10088575" y="4754880"/>
            <a:ext cx="2103120" cy="2103120"/>
          </a:xfrm>
          <a:custGeom>
            <a:avLst/>
            <a:gdLst/>
            <a:ahLst/>
            <a:cxnLst/>
            <a:rect l="l" t="t" r="r" b="b"/>
            <a:pathLst>
              <a:path w="2103120" h="2103120">
                <a:moveTo>
                  <a:pt x="0" y="2103120"/>
                </a:moveTo>
                <a:lnTo>
                  <a:pt x="500" y="2057240"/>
                </a:lnTo>
                <a:lnTo>
                  <a:pt x="2001" y="2011383"/>
                </a:lnTo>
                <a:lnTo>
                  <a:pt x="4503" y="1965569"/>
                </a:lnTo>
                <a:lnTo>
                  <a:pt x="8003" y="1919821"/>
                </a:lnTo>
                <a:lnTo>
                  <a:pt x="12500" y="1874159"/>
                </a:lnTo>
                <a:lnTo>
                  <a:pt x="17992" y="1828607"/>
                </a:lnTo>
                <a:lnTo>
                  <a:pt x="24477" y="1783186"/>
                </a:lnTo>
                <a:lnTo>
                  <a:pt x="31951" y="1737917"/>
                </a:lnTo>
                <a:lnTo>
                  <a:pt x="40411" y="1692821"/>
                </a:lnTo>
                <a:lnTo>
                  <a:pt x="49852" y="1647921"/>
                </a:lnTo>
                <a:lnTo>
                  <a:pt x="60271" y="1603238"/>
                </a:lnTo>
                <a:lnTo>
                  <a:pt x="71662" y="1558792"/>
                </a:lnTo>
                <a:lnTo>
                  <a:pt x="84020" y="1514606"/>
                </a:lnTo>
                <a:lnTo>
                  <a:pt x="97339" y="1470699"/>
                </a:lnTo>
                <a:lnTo>
                  <a:pt x="111612" y="1427094"/>
                </a:lnTo>
                <a:lnTo>
                  <a:pt x="126833" y="1383810"/>
                </a:lnTo>
                <a:lnTo>
                  <a:pt x="142995" y="1340869"/>
                </a:lnTo>
                <a:lnTo>
                  <a:pt x="160090" y="1298290"/>
                </a:lnTo>
                <a:lnTo>
                  <a:pt x="178110" y="1256095"/>
                </a:lnTo>
                <a:lnTo>
                  <a:pt x="197046" y="1214303"/>
                </a:lnTo>
                <a:lnTo>
                  <a:pt x="216889" y="1172933"/>
                </a:lnTo>
                <a:lnTo>
                  <a:pt x="237629" y="1132007"/>
                </a:lnTo>
                <a:lnTo>
                  <a:pt x="259258" y="1091542"/>
                </a:lnTo>
                <a:lnTo>
                  <a:pt x="281764" y="1051560"/>
                </a:lnTo>
                <a:lnTo>
                  <a:pt x="305137" y="1012077"/>
                </a:lnTo>
                <a:lnTo>
                  <a:pt x="329366" y="973114"/>
                </a:lnTo>
                <a:lnTo>
                  <a:pt x="354439" y="934689"/>
                </a:lnTo>
                <a:lnTo>
                  <a:pt x="380345" y="896819"/>
                </a:lnTo>
                <a:lnTo>
                  <a:pt x="407070" y="859524"/>
                </a:lnTo>
                <a:lnTo>
                  <a:pt x="434602" y="822821"/>
                </a:lnTo>
                <a:lnTo>
                  <a:pt x="462929" y="786727"/>
                </a:lnTo>
                <a:lnTo>
                  <a:pt x="492036" y="751260"/>
                </a:lnTo>
                <a:lnTo>
                  <a:pt x="521910" y="716436"/>
                </a:lnTo>
                <a:lnTo>
                  <a:pt x="552537" y="682272"/>
                </a:lnTo>
                <a:lnTo>
                  <a:pt x="583902" y="648785"/>
                </a:lnTo>
                <a:lnTo>
                  <a:pt x="615989" y="615989"/>
                </a:lnTo>
                <a:lnTo>
                  <a:pt x="648785" y="583901"/>
                </a:lnTo>
                <a:lnTo>
                  <a:pt x="682272" y="552537"/>
                </a:lnTo>
                <a:lnTo>
                  <a:pt x="716436" y="521910"/>
                </a:lnTo>
                <a:lnTo>
                  <a:pt x="751260" y="492036"/>
                </a:lnTo>
                <a:lnTo>
                  <a:pt x="786728" y="462929"/>
                </a:lnTo>
                <a:lnTo>
                  <a:pt x="822821" y="434602"/>
                </a:lnTo>
                <a:lnTo>
                  <a:pt x="859525" y="407070"/>
                </a:lnTo>
                <a:lnTo>
                  <a:pt x="896820" y="380344"/>
                </a:lnTo>
                <a:lnTo>
                  <a:pt x="934689" y="354439"/>
                </a:lnTo>
                <a:lnTo>
                  <a:pt x="973114" y="329366"/>
                </a:lnTo>
                <a:lnTo>
                  <a:pt x="1012077" y="305137"/>
                </a:lnTo>
                <a:lnTo>
                  <a:pt x="1051560" y="281764"/>
                </a:lnTo>
                <a:lnTo>
                  <a:pt x="1091543" y="259258"/>
                </a:lnTo>
                <a:lnTo>
                  <a:pt x="1132007" y="237629"/>
                </a:lnTo>
                <a:lnTo>
                  <a:pt x="1172934" y="216888"/>
                </a:lnTo>
                <a:lnTo>
                  <a:pt x="1214303" y="197045"/>
                </a:lnTo>
                <a:lnTo>
                  <a:pt x="1256095" y="178110"/>
                </a:lnTo>
                <a:lnTo>
                  <a:pt x="1298291" y="160090"/>
                </a:lnTo>
                <a:lnTo>
                  <a:pt x="1340869" y="142995"/>
                </a:lnTo>
                <a:lnTo>
                  <a:pt x="1383810" y="126833"/>
                </a:lnTo>
                <a:lnTo>
                  <a:pt x="1427094" y="111612"/>
                </a:lnTo>
                <a:lnTo>
                  <a:pt x="1470699" y="97338"/>
                </a:lnTo>
                <a:lnTo>
                  <a:pt x="1514606" y="84019"/>
                </a:lnTo>
                <a:lnTo>
                  <a:pt x="1558792" y="71662"/>
                </a:lnTo>
                <a:lnTo>
                  <a:pt x="1603238" y="60271"/>
                </a:lnTo>
                <a:lnTo>
                  <a:pt x="1647921" y="49852"/>
                </a:lnTo>
                <a:lnTo>
                  <a:pt x="1692821" y="40410"/>
                </a:lnTo>
                <a:lnTo>
                  <a:pt x="1737917" y="31951"/>
                </a:lnTo>
                <a:lnTo>
                  <a:pt x="1783186" y="24477"/>
                </a:lnTo>
                <a:lnTo>
                  <a:pt x="1828607" y="17992"/>
                </a:lnTo>
                <a:lnTo>
                  <a:pt x="1874160" y="12500"/>
                </a:lnTo>
                <a:lnTo>
                  <a:pt x="1919821" y="8003"/>
                </a:lnTo>
                <a:lnTo>
                  <a:pt x="1965569" y="4502"/>
                </a:lnTo>
                <a:lnTo>
                  <a:pt x="2011383" y="2001"/>
                </a:lnTo>
                <a:lnTo>
                  <a:pt x="2057240" y="500"/>
                </a:lnTo>
                <a:lnTo>
                  <a:pt x="2103120" y="0"/>
                </a:lnTo>
                <a:lnTo>
                  <a:pt x="2103120" y="2103120"/>
                </a:lnTo>
                <a:close/>
              </a:path>
            </a:pathLst>
          </a:custGeom>
          <a:solidFill>
            <a:srgbClr val="4F8FCB"/>
          </a:solidFill>
          <a:ln>
            <a:noFill/>
          </a:ln>
        </p:spPr>
        <p:txBody>
          <a:bodyPr rtlCol="0" anchor="ctr"/>
          <a:lstStyle/>
          <a:p>
            <a:pPr algn="ctr"/>
          </a:p>
        </p:txBody>
      </p:sp>
      <p:sp>
        <p:nvSpPr>
          <p:cNvPr id="7" name="Freeform 6"/>
          <p:cNvSpPr/>
          <p:nvPr/>
        </p:nvSpPr>
        <p:spPr>
          <a:xfrm>
            <a:off x="11277295" y="5943600"/>
            <a:ext cx="914400" cy="914400"/>
          </a:xfrm>
          <a:custGeom>
            <a:avLst/>
            <a:gdLst/>
            <a:ahLst/>
            <a:cxnLst/>
            <a:rect l="l" t="t" r="r" b="b"/>
            <a:pathLst>
              <a:path w="914400" h="914400">
                <a:moveTo>
                  <a:pt x="0" y="914400"/>
                </a:moveTo>
                <a:lnTo>
                  <a:pt x="217" y="894452"/>
                </a:lnTo>
                <a:lnTo>
                  <a:pt x="870" y="874514"/>
                </a:lnTo>
                <a:lnTo>
                  <a:pt x="1958" y="854595"/>
                </a:lnTo>
                <a:lnTo>
                  <a:pt x="3479" y="834704"/>
                </a:lnTo>
                <a:lnTo>
                  <a:pt x="5435" y="814852"/>
                </a:lnTo>
                <a:lnTo>
                  <a:pt x="7823" y="795046"/>
                </a:lnTo>
                <a:lnTo>
                  <a:pt x="10642" y="775298"/>
                </a:lnTo>
                <a:lnTo>
                  <a:pt x="13891" y="755616"/>
                </a:lnTo>
                <a:lnTo>
                  <a:pt x="17570" y="736009"/>
                </a:lnTo>
                <a:lnTo>
                  <a:pt x="21675" y="716487"/>
                </a:lnTo>
                <a:lnTo>
                  <a:pt x="26205" y="697060"/>
                </a:lnTo>
                <a:lnTo>
                  <a:pt x="31157" y="677735"/>
                </a:lnTo>
                <a:lnTo>
                  <a:pt x="36530" y="658524"/>
                </a:lnTo>
                <a:lnTo>
                  <a:pt x="42321" y="639434"/>
                </a:lnTo>
                <a:lnTo>
                  <a:pt x="48527" y="620475"/>
                </a:lnTo>
                <a:lnTo>
                  <a:pt x="55145" y="601656"/>
                </a:lnTo>
                <a:lnTo>
                  <a:pt x="62172" y="582986"/>
                </a:lnTo>
                <a:lnTo>
                  <a:pt x="69604" y="564474"/>
                </a:lnTo>
                <a:lnTo>
                  <a:pt x="77439" y="546128"/>
                </a:lnTo>
                <a:lnTo>
                  <a:pt x="85672" y="527957"/>
                </a:lnTo>
                <a:lnTo>
                  <a:pt x="94299" y="509971"/>
                </a:lnTo>
                <a:lnTo>
                  <a:pt x="103317" y="492177"/>
                </a:lnTo>
                <a:lnTo>
                  <a:pt x="112721" y="474583"/>
                </a:lnTo>
                <a:lnTo>
                  <a:pt x="122506" y="457200"/>
                </a:lnTo>
                <a:lnTo>
                  <a:pt x="132668" y="440033"/>
                </a:lnTo>
                <a:lnTo>
                  <a:pt x="143203" y="423093"/>
                </a:lnTo>
                <a:lnTo>
                  <a:pt x="154104" y="406386"/>
                </a:lnTo>
                <a:lnTo>
                  <a:pt x="165367" y="389921"/>
                </a:lnTo>
                <a:lnTo>
                  <a:pt x="176987" y="373706"/>
                </a:lnTo>
                <a:lnTo>
                  <a:pt x="188957" y="357748"/>
                </a:lnTo>
                <a:lnTo>
                  <a:pt x="201273" y="342055"/>
                </a:lnTo>
                <a:lnTo>
                  <a:pt x="213929" y="326635"/>
                </a:lnTo>
                <a:lnTo>
                  <a:pt x="226917" y="311494"/>
                </a:lnTo>
                <a:lnTo>
                  <a:pt x="240233" y="296640"/>
                </a:lnTo>
                <a:lnTo>
                  <a:pt x="253870" y="282080"/>
                </a:lnTo>
                <a:lnTo>
                  <a:pt x="267821" y="267821"/>
                </a:lnTo>
                <a:lnTo>
                  <a:pt x="282080" y="253870"/>
                </a:lnTo>
                <a:lnTo>
                  <a:pt x="296640" y="240233"/>
                </a:lnTo>
                <a:lnTo>
                  <a:pt x="311494" y="226917"/>
                </a:lnTo>
                <a:lnTo>
                  <a:pt x="326635" y="213928"/>
                </a:lnTo>
                <a:lnTo>
                  <a:pt x="342055" y="201273"/>
                </a:lnTo>
                <a:lnTo>
                  <a:pt x="357748" y="188957"/>
                </a:lnTo>
                <a:lnTo>
                  <a:pt x="373706" y="176987"/>
                </a:lnTo>
                <a:lnTo>
                  <a:pt x="389921" y="165367"/>
                </a:lnTo>
                <a:lnTo>
                  <a:pt x="406386" y="154104"/>
                </a:lnTo>
                <a:lnTo>
                  <a:pt x="423093" y="143202"/>
                </a:lnTo>
                <a:lnTo>
                  <a:pt x="440033" y="132668"/>
                </a:lnTo>
                <a:lnTo>
                  <a:pt x="457200" y="122506"/>
                </a:lnTo>
                <a:lnTo>
                  <a:pt x="474584" y="112721"/>
                </a:lnTo>
                <a:lnTo>
                  <a:pt x="492177" y="103317"/>
                </a:lnTo>
                <a:lnTo>
                  <a:pt x="509971" y="94299"/>
                </a:lnTo>
                <a:lnTo>
                  <a:pt x="527958" y="85672"/>
                </a:lnTo>
                <a:lnTo>
                  <a:pt x="546128" y="77439"/>
                </a:lnTo>
                <a:lnTo>
                  <a:pt x="564474" y="69604"/>
                </a:lnTo>
                <a:lnTo>
                  <a:pt x="582986" y="62172"/>
                </a:lnTo>
                <a:lnTo>
                  <a:pt x="601656" y="55145"/>
                </a:lnTo>
                <a:lnTo>
                  <a:pt x="620475" y="48527"/>
                </a:lnTo>
                <a:lnTo>
                  <a:pt x="639434" y="42321"/>
                </a:lnTo>
                <a:lnTo>
                  <a:pt x="658524" y="36530"/>
                </a:lnTo>
                <a:lnTo>
                  <a:pt x="677736" y="31157"/>
                </a:lnTo>
                <a:lnTo>
                  <a:pt x="697060" y="26204"/>
                </a:lnTo>
                <a:lnTo>
                  <a:pt x="716487" y="21674"/>
                </a:lnTo>
                <a:lnTo>
                  <a:pt x="736009" y="17569"/>
                </a:lnTo>
                <a:lnTo>
                  <a:pt x="755616" y="13891"/>
                </a:lnTo>
                <a:lnTo>
                  <a:pt x="775298" y="10642"/>
                </a:lnTo>
                <a:lnTo>
                  <a:pt x="795047" y="7822"/>
                </a:lnTo>
                <a:lnTo>
                  <a:pt x="814852" y="5434"/>
                </a:lnTo>
                <a:lnTo>
                  <a:pt x="834704" y="3479"/>
                </a:lnTo>
                <a:lnTo>
                  <a:pt x="854595" y="1957"/>
                </a:lnTo>
                <a:lnTo>
                  <a:pt x="874514" y="870"/>
                </a:lnTo>
                <a:lnTo>
                  <a:pt x="894452" y="217"/>
                </a:lnTo>
                <a:lnTo>
                  <a:pt x="914400" y="0"/>
                </a:lnTo>
                <a:lnTo>
                  <a:pt x="914400" y="914400"/>
                </a:lnTo>
                <a:close/>
              </a:path>
            </a:pathLst>
          </a:custGeom>
          <a:solidFill>
            <a:srgbClr val="F3A08A"/>
          </a:solidFill>
          <a:ln>
            <a:noFill/>
          </a:ln>
        </p:spPr>
        <p:txBody>
          <a:bodyPr rtlCol="0" anchor="ctr"/>
          <a:lstStyle/>
          <a:p>
            <a:pPr algn="ctr"/>
          </a:p>
        </p:txBody>
      </p:sp>
      <p:sp>
        <p:nvSpPr>
          <p:cNvPr id="8" name="Rectangle 7"/>
          <p:cNvSpPr/>
          <p:nvPr/>
        </p:nvSpPr>
        <p:spPr>
          <a:xfrm>
            <a:off x="5276088" y="3337560"/>
            <a:ext cx="1645920" cy="64008"/>
          </a:xfrm>
          <a:prstGeom prst="rect">
            <a:avLst/>
          </a:prstGeom>
          <a:solidFill>
            <a:srgbClr val="F3A08A"/>
          </a:solidFill>
          <a:ln>
            <a:noFill/>
          </a:ln>
        </p:spPr>
        <p:txBody>
          <a:bodyPr rtlCol="0" anchor="ctr"/>
          <a:lstStyle/>
          <a:p>
            <a:pPr algn="ctr"/>
          </a:p>
        </p:txBody>
      </p:sp>
      <p:sp>
        <p:nvSpPr>
          <p:cNvPr id="9" name="Rectangle 8"/>
          <p:cNvSpPr/>
          <p:nvPr/>
        </p:nvSpPr>
        <p:spPr>
          <a:xfrm>
            <a:off x="2011680" y="3611880"/>
            <a:ext cx="8138160" cy="548640"/>
          </a:xfrm>
          <a:prstGeom prst="rect">
            <a:avLst/>
          </a:prstGeom>
          <a:noFill/>
          <a:ln>
            <a:noFill/>
          </a:ln>
        </p:spPr>
        <p:txBody>
          <a:bodyPr rtlCol="0" anchor="ctr" wrap="square" lIns="0" tIns="0" rIns="0" bIns="0">
            <a:noAutofit/>
          </a:bodyPr>
          <a:lstStyle/>
          <a:p>
            <a:pPr algn="ctr">
              <a:lnSpc>
                <a:spcPct val="100000"/>
              </a:lnSpc>
              <a:spcBef>
                <a:spcPts val="0"/>
              </a:spcBef>
              <a:spcAft>
                <a:spcPts val="0"/>
              </a:spcAft>
            </a:pPr>
            <a:r>
              <a:rPr sz="2800" b="0" i="0">
                <a:solidFill>
                  <a:srgbClr val="22304A"/>
                </a:solidFill>
                <a:latin typeface="Segoe UI"/>
              </a:rPr>
              <a:t>Questions?</a:t>
            </a:r>
          </a:p>
        </p:txBody>
      </p:sp>
      <p:sp>
        <p:nvSpPr>
          <p:cNvPr id="10" name="Rectangle 9"/>
          <p:cNvSpPr/>
          <p:nvPr/>
        </p:nvSpPr>
        <p:spPr>
          <a:xfrm>
            <a:off x="2011680" y="4526280"/>
            <a:ext cx="3840480" cy="36576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600" b="0" i="0">
                <a:solidFill>
                  <a:srgbClr val="66758C"/>
                </a:solidFill>
                <a:latin typeface="Segoe UI"/>
              </a:rPr>
              <a:t>Ammey Kuraaday  ·  B107</a:t>
            </a:r>
          </a:p>
        </p:txBody>
      </p:sp>
      <p:sp>
        <p:nvSpPr>
          <p:cNvPr id="11" name="Rectangle 10"/>
          <p:cNvSpPr/>
          <p:nvPr/>
        </p:nvSpPr>
        <p:spPr>
          <a:xfrm>
            <a:off x="6309360" y="4526280"/>
            <a:ext cx="3840480" cy="36576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600" b="0" i="0">
                <a:solidFill>
                  <a:srgbClr val="66758C"/>
                </a:solidFill>
                <a:latin typeface="Segoe UI"/>
              </a:rPr>
              <a:t>Shreyash Javale  ·  B34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Two classic partition schemes</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BACKUP</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B1</a:t>
            </a:r>
          </a:p>
        </p:txBody>
      </p:sp>
      <p:graphicFrame>
        <p:nvGraphicFramePr>
          <p:cNvPr id="8" name="Table 7"/>
          <p:cNvGraphicFramePr>
            <a:graphicFrameLocks noGrp="1"/>
          </p:cNvGraphicFramePr>
          <p:nvPr/>
        </p:nvGraphicFramePr>
        <p:xfrm>
          <a:off x="548640" y="1691640"/>
          <a:ext cx="11094415" cy="3657600"/>
        </p:xfrm>
        <a:graphic>
          <a:graphicData uri="http://schemas.openxmlformats.org/drawingml/2006/table">
            <a:tbl>
              <a:tblPr>
                <a:tableStyleId>{2D5ABB26-0587-4C30-8999-92F81FD0307C}</a:tableStyleId>
              </a:tblPr>
              <a:tblGrid>
                <a:gridCol w="2194560"/>
                <a:gridCol w="4443984"/>
                <a:gridCol w="4455871"/>
              </a:tblGrid>
              <a:tr h="548640">
                <a:tc>
                  <a:txBody>
                    <a:bodyPr wrap="square"/>
                    <a:lstStyle/>
                    <a:p>
                      <a:pPr algn="l">
                        <a:lnSpc>
                          <a:spcPct val="100000"/>
                        </a:lnSpc>
                      </a:pPr>
                      <a:r>
                        <a:rPr sz="1600" b="1">
                          <a:solidFill>
                            <a:srgbClr val="22304A"/>
                          </a:solidFill>
                          <a:latin typeface="Segoe UI"/>
                        </a:rPr>
                        <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600" b="1">
                          <a:solidFill>
                            <a:srgbClr val="22304A"/>
                          </a:solidFill>
                          <a:latin typeface="Segoe UI"/>
                        </a:rPr>
                        <a:t>Lomuto</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600" b="1">
                          <a:solidFill>
                            <a:srgbClr val="22304A"/>
                          </a:solidFill>
                          <a:latin typeface="Segoe UI"/>
                        </a:rPr>
                        <a:t>Hoare (two pointers)</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r>
              <a:tr h="777240">
                <a:tc>
                  <a:txBody>
                    <a:bodyPr wrap="square"/>
                    <a:lstStyle/>
                    <a:p>
                      <a:pPr algn="l">
                        <a:lnSpc>
                          <a:spcPct val="100000"/>
                        </a:lnSpc>
                      </a:pPr>
                      <a:r>
                        <a:rPr sz="1600" b="1">
                          <a:solidFill>
                            <a:srgbClr val="22304A"/>
                          </a:solidFill>
                          <a:latin typeface="Segoe UI"/>
                        </a:rPr>
                        <a:t>Scan</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0">
                          <a:solidFill>
                            <a:srgbClr val="22304A"/>
                          </a:solidFill>
                          <a:latin typeface="Segoe UI"/>
                        </a:rPr>
                        <a:t>One pointer, left to right</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0">
                          <a:solidFill>
                            <a:srgbClr val="22304A"/>
                          </a:solidFill>
                          <a:latin typeface="Segoe UI"/>
                        </a:rPr>
                        <a:t>Two pointers, from both ends</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r>
              <a:tr h="777240">
                <a:tc>
                  <a:txBody>
                    <a:bodyPr wrap="square"/>
                    <a:lstStyle/>
                    <a:p>
                      <a:pPr algn="l">
                        <a:lnSpc>
                          <a:spcPct val="100000"/>
                        </a:lnSpc>
                      </a:pPr>
                      <a:r>
                        <a:rPr sz="1600" b="1">
                          <a:solidFill>
                            <a:srgbClr val="22304A"/>
                          </a:solidFill>
                          <a:latin typeface="Segoe UI"/>
                        </a:rPr>
                        <a:t>Typical pivot</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600" b="0">
                          <a:solidFill>
                            <a:srgbClr val="22304A"/>
                          </a:solidFill>
                          <a:latin typeface="Segoe UI"/>
                        </a:rPr>
                        <a:t>Last element</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c>
                  <a:txBody>
                    <a:bodyPr wrap="square"/>
                    <a:lstStyle/>
                    <a:p>
                      <a:pPr algn="l">
                        <a:lnSpc>
                          <a:spcPct val="100000"/>
                        </a:lnSpc>
                      </a:pPr>
                      <a:r>
                        <a:rPr sz="1600" b="0">
                          <a:solidFill>
                            <a:srgbClr val="22304A"/>
                          </a:solidFill>
                          <a:latin typeface="Segoe UI"/>
                        </a:rPr>
                        <a:t>First or middle element</a:t>
                      </a:r>
                    </a:p>
                  </a:txBody>
                  <a:tcPr marL="128016" marT="45720" marR="128016" marB="45720" anchor="ctr">
                    <a:lnL w="0">
                      <a:noFill/>
                    </a:lnL>
                    <a:lnR w="0">
                      <a:noFill/>
                    </a:lnR>
                    <a:lnT w="0">
                      <a:noFill/>
                    </a:lnT>
                    <a:lnB w="9525" cap="flat" cmpd="sng">
                      <a:solidFill>
                        <a:srgbClr val="BCD8F1"/>
                      </a:solidFill>
                      <a:prstDash val="solid"/>
                    </a:lnB>
                    <a:solidFill>
                      <a:srgbClr val="E8F2FB"/>
                    </a:solidFill>
                  </a:tcPr>
                </a:tc>
              </a:tr>
              <a:tr h="777240">
                <a:tc>
                  <a:txBody>
                    <a:bodyPr wrap="square"/>
                    <a:lstStyle/>
                    <a:p>
                      <a:pPr algn="l">
                        <a:lnSpc>
                          <a:spcPct val="100000"/>
                        </a:lnSpc>
                      </a:pPr>
                      <a:r>
                        <a:rPr sz="1600" b="1">
                          <a:solidFill>
                            <a:srgbClr val="22304A"/>
                          </a:solidFill>
                          <a:latin typeface="Segoe UI"/>
                        </a:rPr>
                        <a:t>Swaps</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0">
                          <a:solidFill>
                            <a:srgbClr val="22304A"/>
                          </a:solidFill>
                          <a:latin typeface="Segoe UI"/>
                        </a:rPr>
                        <a:t>More</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0">
                          <a:solidFill>
                            <a:srgbClr val="22304A"/>
                          </a:solidFill>
                          <a:latin typeface="Segoe UI"/>
                        </a:rPr>
                        <a:t>About 3 times fewer on average</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r>
              <a:tr h="777240">
                <a:tc>
                  <a:txBody>
                    <a:bodyPr wrap="square"/>
                    <a:lstStyle/>
                    <a:p>
                      <a:pPr algn="l">
                        <a:lnSpc>
                          <a:spcPct val="100000"/>
                        </a:lnSpc>
                      </a:pPr>
                      <a:r>
                        <a:rPr sz="1600" b="1">
                          <a:solidFill>
                            <a:srgbClr val="22304A"/>
                          </a:solidFill>
                          <a:latin typeface="Segoe UI"/>
                        </a:rPr>
                        <a:t>All keys equal</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c>
                  <a:txBody>
                    <a:bodyPr wrap="square"/>
                    <a:lstStyle/>
                    <a:p>
                      <a:pPr algn="l">
                        <a:lnSpc>
                          <a:spcPct val="100000"/>
                        </a:lnSpc>
                      </a:pPr>
                      <a:r>
                        <a:rPr sz="1600" b="1">
                          <a:solidFill>
                            <a:srgbClr val="22304A"/>
                          </a:solidFill>
                          <a:latin typeface="Segoe UI"/>
                        </a:rPr>
                        <a:t>Splits n−1 : 0, so n²</a:t>
                      </a:r>
                    </a:p>
                  </a:txBody>
                  <a:tcPr marL="128016" marT="45720" marR="128016" marB="45720" anchor="ctr">
                    <a:lnL w="57150" cap="flat" cmpd="sng">
                      <a:solidFill>
                        <a:srgbClr val="E07A5F"/>
                      </a:solidFill>
                      <a:prstDash val="solid"/>
                    </a:lnL>
                    <a:lnR w="0">
                      <a:noFill/>
                    </a:lnR>
                    <a:lnT w="0">
                      <a:noFill/>
                    </a:lnT>
                    <a:lnB w="12700" cap="flat" cmpd="sng">
                      <a:solidFill>
                        <a:srgbClr val="4F8FCB"/>
                      </a:solidFill>
                      <a:prstDash val="solid"/>
                    </a:lnB>
                    <a:solidFill>
                      <a:srgbClr val="FBE3DB"/>
                    </a:solidFill>
                  </a:tcPr>
                </a:tc>
                <a:tc>
                  <a:txBody>
                    <a:bodyPr wrap="square"/>
                    <a:lstStyle/>
                    <a:p>
                      <a:pPr algn="l">
                        <a:lnSpc>
                          <a:spcPct val="100000"/>
                        </a:lnSpc>
                      </a:pPr>
                      <a:r>
                        <a:rPr sz="1600" b="0">
                          <a:solidFill>
                            <a:srgbClr val="22304A"/>
                          </a:solidFill>
                          <a:latin typeface="Segoe UI"/>
                        </a:rPr>
                        <a:t>Pointers meet in the middle, so n log n</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r>
            </a:tbl>
          </a:graphicData>
        </a:graphic>
      </p:graphicFrame>
      <p:sp>
        <p:nvSpPr>
          <p:cNvPr id="9" name="Rectangle 8"/>
          <p:cNvSpPr/>
          <p:nvPr/>
        </p:nvSpPr>
        <p:spPr>
          <a:xfrm>
            <a:off x="548640" y="5532120"/>
            <a:ext cx="11094415" cy="640080"/>
          </a:xfrm>
          <a:prstGeom prst="rect">
            <a:avLst/>
          </a:prstGeom>
          <a:noFill/>
          <a:ln>
            <a:noFill/>
          </a:ln>
        </p:spPr>
        <p:txBody>
          <a:bodyPr rtlCol="0" anchor="t" wrap="square" lIns="0" tIns="18288" rIns="0" bIns="18288">
            <a:noAutofit/>
          </a:bodyPr>
          <a:lstStyle/>
          <a:p>
            <a:pPr algn="l">
              <a:lnSpc>
                <a:spcPct val="100000"/>
              </a:lnSpc>
              <a:spcBef>
                <a:spcPts val="0"/>
              </a:spcBef>
              <a:spcAft>
                <a:spcPts val="0"/>
              </a:spcAft>
            </a:pPr>
            <a:r>
              <a:rPr sz="1500" b="0" i="0">
                <a:solidFill>
                  <a:srgbClr val="66758C"/>
                </a:solidFill>
                <a:latin typeface="Segoe UI"/>
              </a:rPr>
              <a:t>Our notes use a Hoare-style scan with the pivot swapped into place at the end. With the ≤ test it also slows to n² when all keys are equal.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Why quick sort is not stable</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BACKUP</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B2</a:t>
            </a:r>
          </a:p>
        </p:txBody>
      </p:sp>
      <p:sp>
        <p:nvSpPr>
          <p:cNvPr id="8" name="Rectangle 7"/>
          <p:cNvSpPr/>
          <p:nvPr/>
        </p:nvSpPr>
        <p:spPr>
          <a:xfrm>
            <a:off x="548640" y="1645920"/>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BEFORE</a:t>
            </a:r>
          </a:p>
        </p:txBody>
      </p:sp>
      <p:sp>
        <p:nvSpPr>
          <p:cNvPr id="9" name="Rectangle 8"/>
          <p:cNvSpPr/>
          <p:nvPr/>
        </p:nvSpPr>
        <p:spPr>
          <a:xfrm>
            <a:off x="914400" y="2011680"/>
            <a:ext cx="1188720" cy="914400"/>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2600" b="1" i="0">
                <a:solidFill>
                  <a:srgbClr val="22304A"/>
                </a:solidFill>
                <a:latin typeface="Consolas"/>
              </a:rPr>
              <a:t>3a</a:t>
            </a:r>
          </a:p>
        </p:txBody>
      </p:sp>
      <p:sp>
        <p:nvSpPr>
          <p:cNvPr id="10" name="Rectangle 9"/>
          <p:cNvSpPr/>
          <p:nvPr/>
        </p:nvSpPr>
        <p:spPr>
          <a:xfrm>
            <a:off x="2331720" y="2011680"/>
            <a:ext cx="1188720" cy="914400"/>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2600" b="0" i="0">
                <a:solidFill>
                  <a:srgbClr val="22304A"/>
                </a:solidFill>
                <a:latin typeface="Consolas"/>
              </a:rPr>
              <a:t>3b</a:t>
            </a:r>
          </a:p>
        </p:txBody>
      </p:sp>
      <p:sp>
        <p:nvSpPr>
          <p:cNvPr id="11" name="Rectangle 10"/>
          <p:cNvSpPr/>
          <p:nvPr/>
        </p:nvSpPr>
        <p:spPr>
          <a:xfrm>
            <a:off x="3749039" y="2011680"/>
            <a:ext cx="1188720" cy="914400"/>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2600" b="0" i="0">
                <a:solidFill>
                  <a:srgbClr val="22304A"/>
                </a:solidFill>
                <a:latin typeface="Consolas"/>
              </a:rPr>
              <a:t>1</a:t>
            </a:r>
          </a:p>
        </p:txBody>
      </p:sp>
      <p:cxnSp>
        <p:nvCxnSpPr>
          <p:cNvPr id="12" name="Connector 11"/>
          <p:cNvCxnSpPr/>
          <p:nvPr/>
        </p:nvCxnSpPr>
        <p:spPr>
          <a:xfrm>
            <a:off x="2926080" y="3108960"/>
            <a:ext cx="0" cy="822960"/>
          </a:xfrm>
          <a:prstGeom prst="line">
            <a:avLst/>
          </a:prstGeom>
          <a:ln w="31750">
            <a:solidFill>
              <a:srgbClr val="E07A5F"/>
            </a:solidFill>
            <a:tailEnd type="triangle" w="med" len="med"/>
          </a:ln>
        </p:spPr>
      </p:cxnSp>
      <p:sp>
        <p:nvSpPr>
          <p:cNvPr id="13" name="Rectangle 12"/>
          <p:cNvSpPr/>
          <p:nvPr/>
        </p:nvSpPr>
        <p:spPr>
          <a:xfrm>
            <a:off x="3200400" y="3291840"/>
            <a:ext cx="3566160" cy="45720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800" b="1" i="0">
                <a:solidFill>
                  <a:srgbClr val="22304A"/>
                </a:solidFill>
                <a:latin typeface="Consolas"/>
              </a:rPr>
              <a:t>Partition(A, 0, 2)</a:t>
            </a:r>
          </a:p>
        </p:txBody>
      </p:sp>
      <p:sp>
        <p:nvSpPr>
          <p:cNvPr id="14" name="Rectangle 13"/>
          <p:cNvSpPr/>
          <p:nvPr/>
        </p:nvSpPr>
        <p:spPr>
          <a:xfrm>
            <a:off x="548640" y="4023360"/>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AFTER</a:t>
            </a:r>
          </a:p>
        </p:txBody>
      </p:sp>
      <p:sp>
        <p:nvSpPr>
          <p:cNvPr id="15" name="Rectangle 14"/>
          <p:cNvSpPr/>
          <p:nvPr/>
        </p:nvSpPr>
        <p:spPr>
          <a:xfrm>
            <a:off x="914400" y="4389120"/>
            <a:ext cx="1188720" cy="914400"/>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2600" b="0" i="0">
                <a:solidFill>
                  <a:srgbClr val="22304A"/>
                </a:solidFill>
                <a:latin typeface="Consolas"/>
              </a:rPr>
              <a:t>1</a:t>
            </a:r>
          </a:p>
        </p:txBody>
      </p:sp>
      <p:sp>
        <p:nvSpPr>
          <p:cNvPr id="16" name="Rectangle 15"/>
          <p:cNvSpPr/>
          <p:nvPr/>
        </p:nvSpPr>
        <p:spPr>
          <a:xfrm>
            <a:off x="2331720" y="4389120"/>
            <a:ext cx="1188720" cy="914400"/>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2600" b="0" i="0">
                <a:solidFill>
                  <a:srgbClr val="22304A"/>
                </a:solidFill>
                <a:latin typeface="Consolas"/>
              </a:rPr>
              <a:t>3b</a:t>
            </a:r>
          </a:p>
        </p:txBody>
      </p:sp>
      <p:sp>
        <p:nvSpPr>
          <p:cNvPr id="17" name="Rectangle 16"/>
          <p:cNvSpPr/>
          <p:nvPr/>
        </p:nvSpPr>
        <p:spPr>
          <a:xfrm>
            <a:off x="3749039" y="4389120"/>
            <a:ext cx="1188720" cy="914400"/>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2600" b="1" i="0">
                <a:solidFill>
                  <a:srgbClr val="22304A"/>
                </a:solidFill>
                <a:latin typeface="Consolas"/>
              </a:rPr>
              <a:t>3a</a:t>
            </a:r>
          </a:p>
        </p:txBody>
      </p:sp>
      <p:sp>
        <p:nvSpPr>
          <p:cNvPr id="18" name="Rounded Rectangle 17"/>
          <p:cNvSpPr/>
          <p:nvPr/>
        </p:nvSpPr>
        <p:spPr>
          <a:xfrm>
            <a:off x="6858000" y="1691640"/>
            <a:ext cx="4782312" cy="4434840"/>
          </a:xfrm>
          <a:prstGeom prst="roundRect">
            <a:avLst>
              <a:gd name="adj" fmla="val 3092"/>
            </a:avLst>
          </a:prstGeom>
          <a:solidFill>
            <a:srgbClr val="E8F2FB"/>
          </a:solidFill>
          <a:ln>
            <a:noFill/>
          </a:ln>
        </p:spPr>
        <p:txBody>
          <a:bodyPr rtlCol="0" anchor="ctr"/>
          <a:lstStyle/>
          <a:p>
            <a:pPr algn="ctr"/>
          </a:p>
        </p:txBody>
      </p:sp>
      <p:sp>
        <p:nvSpPr>
          <p:cNvPr id="19" name="Rectangle 18"/>
          <p:cNvSpPr/>
          <p:nvPr/>
        </p:nvSpPr>
        <p:spPr>
          <a:xfrm>
            <a:off x="7132320" y="1874519"/>
            <a:ext cx="4251960" cy="45720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400" b="1" i="0">
                <a:solidFill>
                  <a:srgbClr val="22304A"/>
                </a:solidFill>
                <a:latin typeface="Georgia"/>
              </a:rPr>
              <a:t>What went wrong</a:t>
            </a:r>
          </a:p>
        </p:txBody>
      </p:sp>
      <p:sp>
        <p:nvSpPr>
          <p:cNvPr id="20" name="Rectangle 19"/>
          <p:cNvSpPr/>
          <p:nvPr/>
        </p:nvSpPr>
        <p:spPr>
          <a:xfrm>
            <a:off x="7132320" y="2468880"/>
            <a:ext cx="4251960" cy="3474720"/>
          </a:xfrm>
          <a:prstGeom prst="rect">
            <a:avLst/>
          </a:prstGeom>
          <a:noFill/>
          <a:ln>
            <a:noFill/>
          </a:ln>
        </p:spPr>
        <p:txBody>
          <a:bodyPr rtlCol="0" anchor="t" wrap="square" lIns="0" tIns="18288" rIns="0" bIns="0">
            <a:noAutofit/>
          </a:bodyPr>
          <a:lstStyle/>
          <a:p>
            <a:pPr algn="l">
              <a:lnSpc>
                <a:spcPct val="100000"/>
              </a:lnSpc>
              <a:spcBef>
                <a:spcPts val="0"/>
              </a:spcBef>
              <a:spcAft>
                <a:spcPts val="1400"/>
              </a:spcAft>
            </a:pPr>
            <a:r>
              <a:rPr sz="2000" b="0" i="0">
                <a:solidFill>
                  <a:srgbClr val="22304A"/>
                </a:solidFill>
                <a:latin typeface="Segoe UI"/>
              </a:rPr>
              <a:t>The two equal keys 3a and 3b swapped order.</a:t>
            </a:r>
          </a:p>
          <a:p>
            <a:pPr algn="l">
              <a:lnSpc>
                <a:spcPct val="100000"/>
              </a:lnSpc>
              <a:spcBef>
                <a:spcPts val="0"/>
              </a:spcBef>
              <a:spcAft>
                <a:spcPts val="1400"/>
              </a:spcAft>
            </a:pPr>
            <a:r>
              <a:rPr sz="2000" b="0" i="0">
                <a:solidFill>
                  <a:srgbClr val="22304A"/>
                </a:solidFill>
                <a:latin typeface="Segoe UI"/>
              </a:rPr>
              <a:t>The pivot is swapped over a long distance, jumping past equal keys.</a:t>
            </a:r>
          </a:p>
          <a:p>
            <a:pPr algn="l">
              <a:lnSpc>
                <a:spcPct val="100000"/>
              </a:lnSpc>
              <a:spcBef>
                <a:spcPts val="0"/>
              </a:spcBef>
              <a:spcAft>
                <a:spcPts val="0"/>
              </a:spcAft>
            </a:pPr>
            <a:r>
              <a:rPr sz="2000" b="1" i="0">
                <a:solidFill>
                  <a:srgbClr val="22304A"/>
                </a:solidFill>
                <a:latin typeface="Segoe UI"/>
              </a:rPr>
              <a:t>If stability matters, use merge sort or a stable library sort.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