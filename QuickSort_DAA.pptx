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[Ammey] Open with the question, not the definition: C++'s std::sort, Go's sort package and Java's Arrays.sort for primitives all lean on quick sort, even though merge sort has the better worst case. Our story answers that in six chapters: the idea (1959), the move (partition), watching it work, repeating it, the catch (the pivot), and today's libraries. Ammey tells chapters 1 to 3; Shreyash tells chapters 4 to 6 and closes.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[Ammey] Story: in 1959 Tony Hoare, a visiting student at Moscow State University working on machine translation, needed a fast way to sort. (Source: Wikipedia, Quicksort.) His trick: do the hard part FIRST. Pick one element, the pivot, and rearrange so everything smaller or equal is on its left and everything larger or equal is on its right. Now the pivot is exactly where it will end up in the sorted array, and it never moves again. The two sides can be sorted independently. Compare with merge sort: both divide and conquer. Merge sort splits trivially and pays at the end, in the merge. Quick sort pays at the start, in the partition, and when both sides are sorted there is nothing left to combine. That is the sentence from our notes: no separate merging step is required.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[Ammey] This is the whole trick, from our notes, condensed (braces removed, same logic). pivot = A[low]. i walks right until it meets something bigger than the pivot; j walks left until it meets something not bigger. If i is still left of j, those two are on the wrong sides, so swap them and keep walking. When the pointers cross, swapping A[low] with A[j] drops the pivot into its final place, and j is returned. PLOT TWIST (point at the red box): the notes say exact boundary checks depend on the implementation. If the pivot is the largest value, 'A[i] &lt;= pivot' stays true and i walks off the end. In our own example the right part [85 80 75 70] sits at indices 5 to 8, so i reaches A[9], outside the array. The fix is one extra condition, i &lt;= high. j needs no check because it always stops at the pivot sitting at A[low]. (The left part [60 45 50 55] only survives because the parent's pivot 65 happens to sit right after it.) If asked about other schemes: Lomuto uses one pointer and usually the last element as pivot; Hoare uses two pointers and does about 3 times fewer swaps on average. Ours is Hoare-style with a final pivot swap; with the &lt;= test it also slows to n squared when all keys are equal.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[Ammey] Now watch it on the example from our notes. Read the rows top to bottom. Row 1: the pivot is 65 (coral). i stops at 70, the first value bigger than 65; j stops at 45, the first value not bigger. They have not crossed, so swap. Repeat with 75 and 50, then 80 and 55, then 85 and 60. In the last row i has moved to index 5 and j to index 4: they crossed. So we swap the pivot with A[4]. Result: 60 45 50 55 | 65 | 85 80 75 70. Everything left of 65 is &lt;= 65, everything right is &gt;= 65, and 65 is in its final position, exactly as in the notes. (This is also the step-by-step trace table: the right-hand column lists where i and j stop.) Each element is looked at about once, so one partition is linear, Theta(n). Handover to Shreyash: now we repeat this on both sides.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[Shreyash] Now the recursion, and it is tiny: five lines. Partition returns j. Then we sort A[low..j-1] and A[j+1..high]; j itself is already correct. Base case: low &gt;= high means zero or one element, already sorted. Walk the flowchart: check low &lt; high, if not return; otherwise partition, recurse left, recurse right, return. Point at the callout: there is no combine step, the key difference from merge sort. Bottom-left tree: our example. The whole array has pivot 65. It splits into [60 45 50 55] and [85 80 75 70], whose pivots are 60 and 85. Those split again into [55 45 50] and [70 80 75]. Every call fixes one pivot for good (coral). The empty sides are not drawn. The height of this tree is what decides the running time: that is the next chapter.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[Shreyash] The tree from the last slide decides the speed, and the pivot decides the tree. BEST: the pivot always lands in the middle, so T(n) = 2T(n/2) + n, the same recurrence as merge sort: Theta(n log n) by the Master theorem (log n levels, n work on each). AVERAGE: expected comparisons are 2 n ln n, about 1.39 n log2 n (2 ln 2 = 1.386), only about 39% above the n log2 n lower bound for comparison sorts. Sources: arXiv 1608.04906 and the IIT Delhi randomised quicksort notes. Careful: average is NOT 'pivot is the median'; that is the best case. Even a constant 9 to 1 split stays O(n log n). WORST: pivot always the smallest or largest, T(n) = T(n-1) + n = n(n-1)/2, Theta(n squared), recursion depth n. With a first-element pivot, an ALREADY SORTED array does exactly this: 5,000 sorted values need 12,497,500 comparisons (5000*4999/2) against about 61,000 for n log2 n. The fix is the table: a random pivot gives about 1.39 n log n expected on EVERY input; median of three (first, middle, last) gives about 1.19 n log n; ninther (median of three medians) is used on large arrays for an even closer split. Extra space is the recursion stack: O(log n) if we always recurse into the smaller part first.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[Shreyash] Back to the opening question. Libraries took the idea and removed the catch. Introsort (C++ std::sort): quick sort that switches to heap sort when recursion gets too deep (about 2 log n) and to insertion sort for ranges under about 16. pdqsort: Go's sort package since Go 1.19; Rust's sort_unstable used it and now uses a successor (ipnsort); it detects bad pivots and sorted patterns. Dual-pivot quick sort: Java's Arrays.sort for primitive arrays since Java 7. Python's list.sort uses Timsort instead. Read the table: quick sort has the same best and average case as the others, a worse worst case (which libraries engineer away), tiny extra memory (the recursion stack, log n if we recurse into the smaller part first) and it works in place. Its price is that it is NOT stable: partition swaps over long distances, e.g. [3a 3b 1] becomes [1 3b 3a], so equal keys change order. If that matters, use merge sort or a stable library sort. So: quick sort wins because it is in place, cache friendly, has a small constant factor, and the worst case is engineered away.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Close the loop: we asked why C++, Go and Java lean on quick sort. Because one partition puts a pivot home, the recursion repeats that on smaller pieces with no combine step, the pivot choice protects us from the n squared worst case, and it runs in place and fast on real hardware. Take questions. Likely questions: why is it not stable (slide 7 notes); how do we avoid the worst case (slide 6); space complexity (O(log n) stack if we recurse into the smaller part first); Lomuto vs Hoare (slide 3 notes).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DDEBFA"/>
            </a:gs>
            <a:gs pos="100000">
              <a:srgbClr val="FFEFE8"/>
            </a:gs>
          </a:gsLst>
          <a:lin scaled="0" ang="2700000"/>
        </a:gradFill>
        <a:effectLst/>
      </p:bgPr>
    </p:bg>
    <p:spTree>
      <p:nvGrpSpPr>
        <p:cNvPr id="1" name=""/>
        <p:cNvGrpSpPr/>
        <p:nvPr/>
      </p:nvGrpSpPr>
      <p:grpSpPr/>
      <p:sp>
        <p:nvSpPr>
          <p:cNvPr id="2" name="Title 1"/>
          <p:cNvSpPr>
            <a:spLocks noGrp="1"/>
          </p:cNvSpPr>
          <p:nvPr>
            <p:ph type="title"/>
          </p:nvPr>
        </p:nvSpPr>
        <p:spPr>
          <a:xfrm>
            <a:off x="822960" y="1828800"/>
            <a:ext cx="7863840" cy="1280160"/>
          </a:xfrm>
        </p:spPr>
        <p:txBody>
          <a:bodyPr wrap="square" lIns="0" tIns="0" rIns="0" bIns="0" anchor="ctr">
            <a:noAutofit/>
          </a:bodyPr>
          <a:lstStyle/>
          <a:p>
            <a:pPr algn="l">
              <a:lnSpc>
                <a:spcPct val="100000"/>
              </a:lnSpc>
              <a:spcBef>
                <a:spcPts val="0"/>
              </a:spcBef>
              <a:spcAft>
                <a:spcPts val="0"/>
              </a:spcAft>
            </a:pPr>
            <a:r>
              <a:rPr sz="7200" b="1" i="0">
                <a:solidFill>
                  <a:srgbClr val="22304A"/>
                </a:solidFill>
                <a:latin typeface="Georgia"/>
              </a:rPr>
              <a:t>Quick Sort</a:t>
            </a:r>
          </a:p>
        </p:txBody>
      </p:sp>
      <p:sp>
        <p:nvSpPr>
          <p:cNvPr id="3" name="Freeform 2"/>
          <p:cNvSpPr/>
          <p:nvPr/>
        </p:nvSpPr>
        <p:spPr>
          <a:xfrm>
            <a:off x="8991295" y="0"/>
            <a:ext cx="3200400" cy="3200400"/>
          </a:xfrm>
          <a:custGeom>
            <a:avLst/>
            <a:gdLst/>
            <a:ahLst/>
            <a:cxnLst/>
            <a:rect l="l" t="t" r="r" b="b"/>
            <a:pathLst>
              <a:path w="3200400" h="3200400">
                <a:moveTo>
                  <a:pt x="0" y="0"/>
                </a:moveTo>
                <a:lnTo>
                  <a:pt x="761" y="69816"/>
                </a:lnTo>
                <a:lnTo>
                  <a:pt x="3046" y="139599"/>
                </a:lnTo>
                <a:lnTo>
                  <a:pt x="6852" y="209316"/>
                </a:lnTo>
                <a:lnTo>
                  <a:pt x="12178" y="278933"/>
                </a:lnTo>
                <a:lnTo>
                  <a:pt x="19022" y="348417"/>
                </a:lnTo>
                <a:lnTo>
                  <a:pt x="27380" y="417736"/>
                </a:lnTo>
                <a:lnTo>
                  <a:pt x="37248" y="486855"/>
                </a:lnTo>
                <a:lnTo>
                  <a:pt x="48621" y="555743"/>
                </a:lnTo>
                <a:lnTo>
                  <a:pt x="61494" y="624367"/>
                </a:lnTo>
                <a:lnTo>
                  <a:pt x="75862" y="692693"/>
                </a:lnTo>
                <a:lnTo>
                  <a:pt x="91717" y="760689"/>
                </a:lnTo>
                <a:lnTo>
                  <a:pt x="109051" y="828324"/>
                </a:lnTo>
                <a:lnTo>
                  <a:pt x="127856" y="895564"/>
                </a:lnTo>
                <a:lnTo>
                  <a:pt x="148124" y="962378"/>
                </a:lnTo>
                <a:lnTo>
                  <a:pt x="169845" y="1028734"/>
                </a:lnTo>
                <a:lnTo>
                  <a:pt x="193007" y="1094601"/>
                </a:lnTo>
                <a:lnTo>
                  <a:pt x="217602" y="1159946"/>
                </a:lnTo>
                <a:lnTo>
                  <a:pt x="243616" y="1224740"/>
                </a:lnTo>
                <a:lnTo>
                  <a:pt x="271037" y="1288950"/>
                </a:lnTo>
                <a:lnTo>
                  <a:pt x="299852" y="1352547"/>
                </a:lnTo>
                <a:lnTo>
                  <a:pt x="330048" y="1415500"/>
                </a:lnTo>
                <a:lnTo>
                  <a:pt x="361610" y="1477780"/>
                </a:lnTo>
                <a:lnTo>
                  <a:pt x="394523" y="1539356"/>
                </a:lnTo>
                <a:lnTo>
                  <a:pt x="428772" y="1600199"/>
                </a:lnTo>
                <a:lnTo>
                  <a:pt x="464340" y="1660281"/>
                </a:lnTo>
                <a:lnTo>
                  <a:pt x="501210" y="1719573"/>
                </a:lnTo>
                <a:lnTo>
                  <a:pt x="539364" y="1778046"/>
                </a:lnTo>
                <a:lnTo>
                  <a:pt x="578785" y="1835674"/>
                </a:lnTo>
                <a:lnTo>
                  <a:pt x="619454" y="1892427"/>
                </a:lnTo>
                <a:lnTo>
                  <a:pt x="661352" y="1948280"/>
                </a:lnTo>
                <a:lnTo>
                  <a:pt x="704457" y="2003205"/>
                </a:lnTo>
                <a:lnTo>
                  <a:pt x="748751" y="2057177"/>
                </a:lnTo>
                <a:lnTo>
                  <a:pt x="794212" y="2110170"/>
                </a:lnTo>
                <a:lnTo>
                  <a:pt x="840817" y="2162158"/>
                </a:lnTo>
                <a:lnTo>
                  <a:pt x="888546" y="2213118"/>
                </a:lnTo>
                <a:lnTo>
                  <a:pt x="937375" y="2263024"/>
                </a:lnTo>
                <a:lnTo>
                  <a:pt x="987281" y="2311853"/>
                </a:lnTo>
                <a:lnTo>
                  <a:pt x="1038241" y="2359582"/>
                </a:lnTo>
                <a:lnTo>
                  <a:pt x="1090229" y="2406188"/>
                </a:lnTo>
                <a:lnTo>
                  <a:pt x="1143222" y="2451648"/>
                </a:lnTo>
                <a:lnTo>
                  <a:pt x="1197194" y="2495942"/>
                </a:lnTo>
                <a:lnTo>
                  <a:pt x="1252120" y="2539048"/>
                </a:lnTo>
                <a:lnTo>
                  <a:pt x="1307972" y="2580945"/>
                </a:lnTo>
                <a:lnTo>
                  <a:pt x="1364726" y="2621614"/>
                </a:lnTo>
                <a:lnTo>
                  <a:pt x="1422353" y="2661035"/>
                </a:lnTo>
                <a:lnTo>
                  <a:pt x="1480826" y="2699189"/>
                </a:lnTo>
                <a:lnTo>
                  <a:pt x="1540118" y="2736059"/>
                </a:lnTo>
                <a:lnTo>
                  <a:pt x="1600200" y="2771627"/>
                </a:lnTo>
                <a:lnTo>
                  <a:pt x="1661043" y="2805876"/>
                </a:lnTo>
                <a:lnTo>
                  <a:pt x="1722619" y="2838789"/>
                </a:lnTo>
                <a:lnTo>
                  <a:pt x="1784899" y="2870351"/>
                </a:lnTo>
                <a:lnTo>
                  <a:pt x="1847852" y="2900547"/>
                </a:lnTo>
                <a:lnTo>
                  <a:pt x="1911449" y="2929362"/>
                </a:lnTo>
                <a:lnTo>
                  <a:pt x="1975660" y="2956784"/>
                </a:lnTo>
                <a:lnTo>
                  <a:pt x="2040453" y="2982797"/>
                </a:lnTo>
                <a:lnTo>
                  <a:pt x="2105798" y="3007392"/>
                </a:lnTo>
                <a:lnTo>
                  <a:pt x="2171665" y="3030555"/>
                </a:lnTo>
                <a:lnTo>
                  <a:pt x="2238021" y="3052275"/>
                </a:lnTo>
                <a:lnTo>
                  <a:pt x="2304835" y="3072543"/>
                </a:lnTo>
                <a:lnTo>
                  <a:pt x="2372075" y="3091349"/>
                </a:lnTo>
                <a:lnTo>
                  <a:pt x="2439710" y="3108683"/>
                </a:lnTo>
                <a:lnTo>
                  <a:pt x="2507706" y="3124537"/>
                </a:lnTo>
                <a:lnTo>
                  <a:pt x="2576033" y="3138905"/>
                </a:lnTo>
                <a:lnTo>
                  <a:pt x="2644656" y="3151778"/>
                </a:lnTo>
                <a:lnTo>
                  <a:pt x="2713544" y="3163152"/>
                </a:lnTo>
                <a:lnTo>
                  <a:pt x="2782664" y="3173020"/>
                </a:lnTo>
                <a:lnTo>
                  <a:pt x="2851982" y="3181377"/>
                </a:lnTo>
                <a:lnTo>
                  <a:pt x="2921466" y="3188221"/>
                </a:lnTo>
                <a:lnTo>
                  <a:pt x="2991084" y="3193547"/>
                </a:lnTo>
                <a:lnTo>
                  <a:pt x="3060800" y="3197353"/>
                </a:lnTo>
                <a:lnTo>
                  <a:pt x="3130583" y="3199638"/>
                </a:lnTo>
                <a:lnTo>
                  <a:pt x="3200400" y="3200400"/>
                </a:lnTo>
                <a:lnTo>
                  <a:pt x="3200400" y="0"/>
                </a:lnTo>
                <a:close/>
              </a:path>
            </a:pathLst>
          </a:custGeom>
          <a:solidFill>
            <a:srgbClr val="BCD8F1"/>
          </a:solidFill>
          <a:ln>
            <a:noFill/>
          </a:ln>
        </p:spPr>
        <p:txBody>
          <a:bodyPr rtlCol="0" anchor="ctr"/>
          <a:lstStyle/>
          <a:p>
            <a:pPr algn="ctr"/>
          </a:p>
        </p:txBody>
      </p:sp>
      <p:sp>
        <p:nvSpPr>
          <p:cNvPr id="4" name="Freeform 3"/>
          <p:cNvSpPr/>
          <p:nvPr/>
        </p:nvSpPr>
        <p:spPr>
          <a:xfrm>
            <a:off x="10088575" y="0"/>
            <a:ext cx="2103120" cy="2103120"/>
          </a:xfrm>
          <a:custGeom>
            <a:avLst/>
            <a:gdLst/>
            <a:ahLst/>
            <a:cxnLst/>
            <a:rect l="l" t="t" r="r" b="b"/>
            <a:pathLst>
              <a:path w="2103120" h="2103120">
                <a:moveTo>
                  <a:pt x="0" y="0"/>
                </a:moveTo>
                <a:lnTo>
                  <a:pt x="500" y="45879"/>
                </a:lnTo>
                <a:lnTo>
                  <a:pt x="2001" y="91736"/>
                </a:lnTo>
                <a:lnTo>
                  <a:pt x="4503" y="137550"/>
                </a:lnTo>
                <a:lnTo>
                  <a:pt x="8003" y="183298"/>
                </a:lnTo>
                <a:lnTo>
                  <a:pt x="12500" y="228960"/>
                </a:lnTo>
                <a:lnTo>
                  <a:pt x="17992" y="274512"/>
                </a:lnTo>
                <a:lnTo>
                  <a:pt x="24477" y="319933"/>
                </a:lnTo>
                <a:lnTo>
                  <a:pt x="31951" y="365202"/>
                </a:lnTo>
                <a:lnTo>
                  <a:pt x="40411" y="410298"/>
                </a:lnTo>
                <a:lnTo>
                  <a:pt x="49852" y="455198"/>
                </a:lnTo>
                <a:lnTo>
                  <a:pt x="60271" y="499881"/>
                </a:lnTo>
                <a:lnTo>
                  <a:pt x="71662" y="544327"/>
                </a:lnTo>
                <a:lnTo>
                  <a:pt x="84020" y="588513"/>
                </a:lnTo>
                <a:lnTo>
                  <a:pt x="97339" y="632420"/>
                </a:lnTo>
                <a:lnTo>
                  <a:pt x="111612" y="676025"/>
                </a:lnTo>
                <a:lnTo>
                  <a:pt x="126833" y="719309"/>
                </a:lnTo>
                <a:lnTo>
                  <a:pt x="142995" y="762250"/>
                </a:lnTo>
                <a:lnTo>
                  <a:pt x="160090" y="804829"/>
                </a:lnTo>
                <a:lnTo>
                  <a:pt x="178110" y="847024"/>
                </a:lnTo>
                <a:lnTo>
                  <a:pt x="197046" y="888816"/>
                </a:lnTo>
                <a:lnTo>
                  <a:pt x="216889" y="930186"/>
                </a:lnTo>
                <a:lnTo>
                  <a:pt x="237629" y="971112"/>
                </a:lnTo>
                <a:lnTo>
                  <a:pt x="259258" y="1011577"/>
                </a:lnTo>
                <a:lnTo>
                  <a:pt x="281764" y="1051559"/>
                </a:lnTo>
                <a:lnTo>
                  <a:pt x="305137" y="1091042"/>
                </a:lnTo>
                <a:lnTo>
                  <a:pt x="329366" y="1130005"/>
                </a:lnTo>
                <a:lnTo>
                  <a:pt x="354439" y="1168430"/>
                </a:lnTo>
                <a:lnTo>
                  <a:pt x="380345" y="1206300"/>
                </a:lnTo>
                <a:lnTo>
                  <a:pt x="407070" y="1243595"/>
                </a:lnTo>
                <a:lnTo>
                  <a:pt x="434602" y="1280298"/>
                </a:lnTo>
                <a:lnTo>
                  <a:pt x="462929" y="1316392"/>
                </a:lnTo>
                <a:lnTo>
                  <a:pt x="492036" y="1351859"/>
                </a:lnTo>
                <a:lnTo>
                  <a:pt x="521910" y="1386683"/>
                </a:lnTo>
                <a:lnTo>
                  <a:pt x="552537" y="1420847"/>
                </a:lnTo>
                <a:lnTo>
                  <a:pt x="583902" y="1454334"/>
                </a:lnTo>
                <a:lnTo>
                  <a:pt x="615989" y="1487130"/>
                </a:lnTo>
                <a:lnTo>
                  <a:pt x="648785" y="1519218"/>
                </a:lnTo>
                <a:lnTo>
                  <a:pt x="682272" y="1550582"/>
                </a:lnTo>
                <a:lnTo>
                  <a:pt x="716436" y="1581209"/>
                </a:lnTo>
                <a:lnTo>
                  <a:pt x="751260" y="1611083"/>
                </a:lnTo>
                <a:lnTo>
                  <a:pt x="786728" y="1640190"/>
                </a:lnTo>
                <a:lnTo>
                  <a:pt x="822821" y="1668517"/>
                </a:lnTo>
                <a:lnTo>
                  <a:pt x="859525" y="1696049"/>
                </a:lnTo>
                <a:lnTo>
                  <a:pt x="896820" y="1722775"/>
                </a:lnTo>
                <a:lnTo>
                  <a:pt x="934689" y="1748680"/>
                </a:lnTo>
                <a:lnTo>
                  <a:pt x="973114" y="1773753"/>
                </a:lnTo>
                <a:lnTo>
                  <a:pt x="1012077" y="1797982"/>
                </a:lnTo>
                <a:lnTo>
                  <a:pt x="1051560" y="1821355"/>
                </a:lnTo>
                <a:lnTo>
                  <a:pt x="1091543" y="1843861"/>
                </a:lnTo>
                <a:lnTo>
                  <a:pt x="1132007" y="1865490"/>
                </a:lnTo>
                <a:lnTo>
                  <a:pt x="1172934" y="1886231"/>
                </a:lnTo>
                <a:lnTo>
                  <a:pt x="1214303" y="1906074"/>
                </a:lnTo>
                <a:lnTo>
                  <a:pt x="1256095" y="1925009"/>
                </a:lnTo>
                <a:lnTo>
                  <a:pt x="1298291" y="1943029"/>
                </a:lnTo>
                <a:lnTo>
                  <a:pt x="1340869" y="1960124"/>
                </a:lnTo>
                <a:lnTo>
                  <a:pt x="1383810" y="1976286"/>
                </a:lnTo>
                <a:lnTo>
                  <a:pt x="1427094" y="1991507"/>
                </a:lnTo>
                <a:lnTo>
                  <a:pt x="1470699" y="2005781"/>
                </a:lnTo>
                <a:lnTo>
                  <a:pt x="1514606" y="2019100"/>
                </a:lnTo>
                <a:lnTo>
                  <a:pt x="1558792" y="2031457"/>
                </a:lnTo>
                <a:lnTo>
                  <a:pt x="1603238" y="2042848"/>
                </a:lnTo>
                <a:lnTo>
                  <a:pt x="1647921" y="2053267"/>
                </a:lnTo>
                <a:lnTo>
                  <a:pt x="1692821" y="2062709"/>
                </a:lnTo>
                <a:lnTo>
                  <a:pt x="1737917" y="2071168"/>
                </a:lnTo>
                <a:lnTo>
                  <a:pt x="1783186" y="2078642"/>
                </a:lnTo>
                <a:lnTo>
                  <a:pt x="1828607" y="2085127"/>
                </a:lnTo>
                <a:lnTo>
                  <a:pt x="1874160" y="2090619"/>
                </a:lnTo>
                <a:lnTo>
                  <a:pt x="1919821" y="2095116"/>
                </a:lnTo>
                <a:lnTo>
                  <a:pt x="1965569" y="2098617"/>
                </a:lnTo>
                <a:lnTo>
                  <a:pt x="2011383" y="2101118"/>
                </a:lnTo>
                <a:lnTo>
                  <a:pt x="2057240" y="2102619"/>
                </a:lnTo>
                <a:lnTo>
                  <a:pt x="2103120" y="2103120"/>
                </a:lnTo>
                <a:lnTo>
                  <a:pt x="2103120" y="0"/>
                </a:lnTo>
                <a:close/>
              </a:path>
            </a:pathLst>
          </a:custGeom>
          <a:solidFill>
            <a:srgbClr val="4F8FCB"/>
          </a:solidFill>
          <a:ln>
            <a:noFill/>
          </a:ln>
        </p:spPr>
        <p:txBody>
          <a:bodyPr rtlCol="0" anchor="ctr"/>
          <a:lstStyle/>
          <a:p>
            <a:pPr algn="ctr"/>
          </a:p>
        </p:txBody>
      </p:sp>
      <p:sp>
        <p:nvSpPr>
          <p:cNvPr id="5" name="Freeform 4"/>
          <p:cNvSpPr/>
          <p:nvPr/>
        </p:nvSpPr>
        <p:spPr>
          <a:xfrm>
            <a:off x="11277295" y="0"/>
            <a:ext cx="914400" cy="914400"/>
          </a:xfrm>
          <a:custGeom>
            <a:avLst/>
            <a:gdLst/>
            <a:ahLst/>
            <a:cxnLst/>
            <a:rect l="l" t="t" r="r" b="b"/>
            <a:pathLst>
              <a:path w="914400" h="914400">
                <a:moveTo>
                  <a:pt x="0" y="0"/>
                </a:moveTo>
                <a:lnTo>
                  <a:pt x="217" y="19947"/>
                </a:lnTo>
                <a:lnTo>
                  <a:pt x="870" y="39885"/>
                </a:lnTo>
                <a:lnTo>
                  <a:pt x="1958" y="59804"/>
                </a:lnTo>
                <a:lnTo>
                  <a:pt x="3479" y="79695"/>
                </a:lnTo>
                <a:lnTo>
                  <a:pt x="5435" y="99547"/>
                </a:lnTo>
                <a:lnTo>
                  <a:pt x="7823" y="119353"/>
                </a:lnTo>
                <a:lnTo>
                  <a:pt x="10642" y="139101"/>
                </a:lnTo>
                <a:lnTo>
                  <a:pt x="13891" y="158783"/>
                </a:lnTo>
                <a:lnTo>
                  <a:pt x="17570" y="178390"/>
                </a:lnTo>
                <a:lnTo>
                  <a:pt x="21675" y="197912"/>
                </a:lnTo>
                <a:lnTo>
                  <a:pt x="26205" y="217339"/>
                </a:lnTo>
                <a:lnTo>
                  <a:pt x="31157" y="236664"/>
                </a:lnTo>
                <a:lnTo>
                  <a:pt x="36530" y="255875"/>
                </a:lnTo>
                <a:lnTo>
                  <a:pt x="42321" y="274965"/>
                </a:lnTo>
                <a:lnTo>
                  <a:pt x="48527" y="293924"/>
                </a:lnTo>
                <a:lnTo>
                  <a:pt x="55145" y="312743"/>
                </a:lnTo>
                <a:lnTo>
                  <a:pt x="62172" y="331413"/>
                </a:lnTo>
                <a:lnTo>
                  <a:pt x="69604" y="349925"/>
                </a:lnTo>
                <a:lnTo>
                  <a:pt x="77439" y="368271"/>
                </a:lnTo>
                <a:lnTo>
                  <a:pt x="85672" y="386442"/>
                </a:lnTo>
                <a:lnTo>
                  <a:pt x="94299" y="404428"/>
                </a:lnTo>
                <a:lnTo>
                  <a:pt x="103317" y="422222"/>
                </a:lnTo>
                <a:lnTo>
                  <a:pt x="112721" y="439816"/>
                </a:lnTo>
                <a:lnTo>
                  <a:pt x="122506" y="457199"/>
                </a:lnTo>
                <a:lnTo>
                  <a:pt x="132668" y="474366"/>
                </a:lnTo>
                <a:lnTo>
                  <a:pt x="143203" y="491306"/>
                </a:lnTo>
                <a:lnTo>
                  <a:pt x="154104" y="508013"/>
                </a:lnTo>
                <a:lnTo>
                  <a:pt x="165367" y="524478"/>
                </a:lnTo>
                <a:lnTo>
                  <a:pt x="176987" y="540693"/>
                </a:lnTo>
                <a:lnTo>
                  <a:pt x="188957" y="556651"/>
                </a:lnTo>
                <a:lnTo>
                  <a:pt x="201273" y="572344"/>
                </a:lnTo>
                <a:lnTo>
                  <a:pt x="213929" y="587764"/>
                </a:lnTo>
                <a:lnTo>
                  <a:pt x="226917" y="602905"/>
                </a:lnTo>
                <a:lnTo>
                  <a:pt x="240233" y="617759"/>
                </a:lnTo>
                <a:lnTo>
                  <a:pt x="253870" y="632319"/>
                </a:lnTo>
                <a:lnTo>
                  <a:pt x="267821" y="646578"/>
                </a:lnTo>
                <a:lnTo>
                  <a:pt x="282080" y="660529"/>
                </a:lnTo>
                <a:lnTo>
                  <a:pt x="296640" y="674166"/>
                </a:lnTo>
                <a:lnTo>
                  <a:pt x="311494" y="687482"/>
                </a:lnTo>
                <a:lnTo>
                  <a:pt x="326635" y="700471"/>
                </a:lnTo>
                <a:lnTo>
                  <a:pt x="342055" y="713126"/>
                </a:lnTo>
                <a:lnTo>
                  <a:pt x="357748" y="725442"/>
                </a:lnTo>
                <a:lnTo>
                  <a:pt x="373706" y="737412"/>
                </a:lnTo>
                <a:lnTo>
                  <a:pt x="389921" y="749032"/>
                </a:lnTo>
                <a:lnTo>
                  <a:pt x="406386" y="760295"/>
                </a:lnTo>
                <a:lnTo>
                  <a:pt x="423093" y="771197"/>
                </a:lnTo>
                <a:lnTo>
                  <a:pt x="440033" y="781731"/>
                </a:lnTo>
                <a:lnTo>
                  <a:pt x="457200" y="791893"/>
                </a:lnTo>
                <a:lnTo>
                  <a:pt x="474584" y="801678"/>
                </a:lnTo>
                <a:lnTo>
                  <a:pt x="492177" y="811082"/>
                </a:lnTo>
                <a:lnTo>
                  <a:pt x="509971" y="820100"/>
                </a:lnTo>
                <a:lnTo>
                  <a:pt x="527958" y="828727"/>
                </a:lnTo>
                <a:lnTo>
                  <a:pt x="546128" y="836960"/>
                </a:lnTo>
                <a:lnTo>
                  <a:pt x="564474" y="844795"/>
                </a:lnTo>
                <a:lnTo>
                  <a:pt x="582986" y="852227"/>
                </a:lnTo>
                <a:lnTo>
                  <a:pt x="601656" y="859254"/>
                </a:lnTo>
                <a:lnTo>
                  <a:pt x="620475" y="865872"/>
                </a:lnTo>
                <a:lnTo>
                  <a:pt x="639434" y="872078"/>
                </a:lnTo>
                <a:lnTo>
                  <a:pt x="658524" y="877869"/>
                </a:lnTo>
                <a:lnTo>
                  <a:pt x="677736" y="883242"/>
                </a:lnTo>
                <a:lnTo>
                  <a:pt x="697060" y="888195"/>
                </a:lnTo>
                <a:lnTo>
                  <a:pt x="716487" y="892725"/>
                </a:lnTo>
                <a:lnTo>
                  <a:pt x="736009" y="896830"/>
                </a:lnTo>
                <a:lnTo>
                  <a:pt x="755616" y="900508"/>
                </a:lnTo>
                <a:lnTo>
                  <a:pt x="775298" y="903757"/>
                </a:lnTo>
                <a:lnTo>
                  <a:pt x="795047" y="906577"/>
                </a:lnTo>
                <a:lnTo>
                  <a:pt x="814852" y="908965"/>
                </a:lnTo>
                <a:lnTo>
                  <a:pt x="834704" y="910920"/>
                </a:lnTo>
                <a:lnTo>
                  <a:pt x="854595" y="912442"/>
                </a:lnTo>
                <a:lnTo>
                  <a:pt x="874514" y="913529"/>
                </a:lnTo>
                <a:lnTo>
                  <a:pt x="894452" y="914182"/>
                </a:lnTo>
                <a:lnTo>
                  <a:pt x="914400" y="914400"/>
                </a:lnTo>
                <a:lnTo>
                  <a:pt x="914400" y="0"/>
                </a:lnTo>
                <a:close/>
              </a:path>
            </a:pathLst>
          </a:custGeom>
          <a:solidFill>
            <a:srgbClr val="F3A08A"/>
          </a:solidFill>
          <a:ln>
            <a:noFill/>
          </a:ln>
        </p:spPr>
        <p:txBody>
          <a:bodyPr rtlCol="0" anchor="ctr"/>
          <a:lstStyle/>
          <a:p>
            <a:pPr algn="ctr"/>
          </a:p>
        </p:txBody>
      </p:sp>
      <p:sp>
        <p:nvSpPr>
          <p:cNvPr id="6" name="Freeform 5"/>
          <p:cNvSpPr/>
          <p:nvPr/>
        </p:nvSpPr>
        <p:spPr>
          <a:xfrm>
            <a:off x="0" y="5303520"/>
            <a:ext cx="1554480" cy="1554480"/>
          </a:xfrm>
          <a:custGeom>
            <a:avLst/>
            <a:gdLst/>
            <a:ahLst/>
            <a:cxnLst/>
            <a:rect l="l" t="t" r="r" b="b"/>
            <a:pathLst>
              <a:path w="1554480" h="1554480">
                <a:moveTo>
                  <a:pt x="1554480" y="1554480"/>
                </a:moveTo>
                <a:lnTo>
                  <a:pt x="1554110" y="1520569"/>
                </a:lnTo>
                <a:lnTo>
                  <a:pt x="1553000" y="1486674"/>
                </a:lnTo>
                <a:lnTo>
                  <a:pt x="1551151" y="1452812"/>
                </a:lnTo>
                <a:lnTo>
                  <a:pt x="1548564" y="1418998"/>
                </a:lnTo>
                <a:lnTo>
                  <a:pt x="1545240" y="1385248"/>
                </a:lnTo>
                <a:lnTo>
                  <a:pt x="1541181" y="1351579"/>
                </a:lnTo>
                <a:lnTo>
                  <a:pt x="1536388" y="1318007"/>
                </a:lnTo>
                <a:lnTo>
                  <a:pt x="1530863" y="1284547"/>
                </a:lnTo>
                <a:lnTo>
                  <a:pt x="1524611" y="1251215"/>
                </a:lnTo>
                <a:lnTo>
                  <a:pt x="1517632" y="1218028"/>
                </a:lnTo>
                <a:lnTo>
                  <a:pt x="1509931" y="1185002"/>
                </a:lnTo>
                <a:lnTo>
                  <a:pt x="1501512" y="1152150"/>
                </a:lnTo>
                <a:lnTo>
                  <a:pt x="1492378" y="1119491"/>
                </a:lnTo>
                <a:lnTo>
                  <a:pt x="1482533" y="1087038"/>
                </a:lnTo>
                <a:lnTo>
                  <a:pt x="1471983" y="1054808"/>
                </a:lnTo>
                <a:lnTo>
                  <a:pt x="1460733" y="1022816"/>
                </a:lnTo>
                <a:lnTo>
                  <a:pt x="1448787" y="991077"/>
                </a:lnTo>
                <a:lnTo>
                  <a:pt x="1436152" y="959606"/>
                </a:lnTo>
                <a:lnTo>
                  <a:pt x="1422833" y="928418"/>
                </a:lnTo>
                <a:lnTo>
                  <a:pt x="1408837" y="897528"/>
                </a:lnTo>
                <a:lnTo>
                  <a:pt x="1394170" y="866951"/>
                </a:lnTo>
                <a:lnTo>
                  <a:pt x="1378840" y="836701"/>
                </a:lnTo>
                <a:lnTo>
                  <a:pt x="1362854" y="806792"/>
                </a:lnTo>
                <a:lnTo>
                  <a:pt x="1346219" y="777240"/>
                </a:lnTo>
                <a:lnTo>
                  <a:pt x="1328943" y="748057"/>
                </a:lnTo>
                <a:lnTo>
                  <a:pt x="1311035" y="719258"/>
                </a:lnTo>
                <a:lnTo>
                  <a:pt x="1292502" y="690857"/>
                </a:lnTo>
                <a:lnTo>
                  <a:pt x="1273355" y="662866"/>
                </a:lnTo>
                <a:lnTo>
                  <a:pt x="1253602" y="635300"/>
                </a:lnTo>
                <a:lnTo>
                  <a:pt x="1233251" y="608172"/>
                </a:lnTo>
                <a:lnTo>
                  <a:pt x="1212314" y="581494"/>
                </a:lnTo>
                <a:lnTo>
                  <a:pt x="1190800" y="555279"/>
                </a:lnTo>
                <a:lnTo>
                  <a:pt x="1168719" y="529540"/>
                </a:lnTo>
                <a:lnTo>
                  <a:pt x="1146082" y="504288"/>
                </a:lnTo>
                <a:lnTo>
                  <a:pt x="1122900" y="479536"/>
                </a:lnTo>
                <a:lnTo>
                  <a:pt x="1099183" y="455296"/>
                </a:lnTo>
                <a:lnTo>
                  <a:pt x="1074943" y="431579"/>
                </a:lnTo>
                <a:lnTo>
                  <a:pt x="1050191" y="408397"/>
                </a:lnTo>
                <a:lnTo>
                  <a:pt x="1024939" y="385760"/>
                </a:lnTo>
                <a:lnTo>
                  <a:pt x="999200" y="363679"/>
                </a:lnTo>
                <a:lnTo>
                  <a:pt x="972985" y="342165"/>
                </a:lnTo>
                <a:lnTo>
                  <a:pt x="946307" y="321228"/>
                </a:lnTo>
                <a:lnTo>
                  <a:pt x="919179" y="300877"/>
                </a:lnTo>
                <a:lnTo>
                  <a:pt x="891613" y="281124"/>
                </a:lnTo>
                <a:lnTo>
                  <a:pt x="863622" y="261977"/>
                </a:lnTo>
                <a:lnTo>
                  <a:pt x="835221" y="243444"/>
                </a:lnTo>
                <a:lnTo>
                  <a:pt x="806422" y="225536"/>
                </a:lnTo>
                <a:lnTo>
                  <a:pt x="777240" y="208260"/>
                </a:lnTo>
                <a:lnTo>
                  <a:pt x="747687" y="191625"/>
                </a:lnTo>
                <a:lnTo>
                  <a:pt x="717778" y="175639"/>
                </a:lnTo>
                <a:lnTo>
                  <a:pt x="687528" y="160309"/>
                </a:lnTo>
                <a:lnTo>
                  <a:pt x="656951" y="145642"/>
                </a:lnTo>
                <a:lnTo>
                  <a:pt x="626061" y="131646"/>
                </a:lnTo>
                <a:lnTo>
                  <a:pt x="594873" y="118327"/>
                </a:lnTo>
                <a:lnTo>
                  <a:pt x="563402" y="105692"/>
                </a:lnTo>
                <a:lnTo>
                  <a:pt x="531663" y="93746"/>
                </a:lnTo>
                <a:lnTo>
                  <a:pt x="499671" y="82496"/>
                </a:lnTo>
                <a:lnTo>
                  <a:pt x="467441" y="71946"/>
                </a:lnTo>
                <a:lnTo>
                  <a:pt x="434988" y="62101"/>
                </a:lnTo>
                <a:lnTo>
                  <a:pt x="402329" y="52967"/>
                </a:lnTo>
                <a:lnTo>
                  <a:pt x="369477" y="44548"/>
                </a:lnTo>
                <a:lnTo>
                  <a:pt x="336451" y="36847"/>
                </a:lnTo>
                <a:lnTo>
                  <a:pt x="303264" y="29868"/>
                </a:lnTo>
                <a:lnTo>
                  <a:pt x="269932" y="23616"/>
                </a:lnTo>
                <a:lnTo>
                  <a:pt x="236472" y="18091"/>
                </a:lnTo>
                <a:lnTo>
                  <a:pt x="202900" y="13298"/>
                </a:lnTo>
                <a:lnTo>
                  <a:pt x="169231" y="9239"/>
                </a:lnTo>
                <a:lnTo>
                  <a:pt x="135481" y="5915"/>
                </a:lnTo>
                <a:lnTo>
                  <a:pt x="101667" y="3328"/>
                </a:lnTo>
                <a:lnTo>
                  <a:pt x="67805" y="1479"/>
                </a:lnTo>
                <a:lnTo>
                  <a:pt x="33910" y="369"/>
                </a:lnTo>
                <a:lnTo>
                  <a:pt x="0" y="0"/>
                </a:lnTo>
                <a:lnTo>
                  <a:pt x="0" y="1554480"/>
                </a:lnTo>
                <a:close/>
              </a:path>
            </a:pathLst>
          </a:custGeom>
          <a:solidFill>
            <a:srgbClr val="FBE3DB"/>
          </a:solidFill>
          <a:ln>
            <a:noFill/>
          </a:ln>
        </p:spPr>
        <p:txBody>
          <a:bodyPr rtlCol="0" anchor="ctr"/>
          <a:lstStyle/>
          <a:p>
            <a:pPr algn="ctr"/>
          </a:p>
        </p:txBody>
      </p:sp>
      <p:sp>
        <p:nvSpPr>
          <p:cNvPr id="7" name="Freeform 6"/>
          <p:cNvSpPr/>
          <p:nvPr/>
        </p:nvSpPr>
        <p:spPr>
          <a:xfrm>
            <a:off x="0" y="5943600"/>
            <a:ext cx="914400" cy="914400"/>
          </a:xfrm>
          <a:custGeom>
            <a:avLst/>
            <a:gdLst/>
            <a:ahLst/>
            <a:cxnLst/>
            <a:rect l="l" t="t" r="r" b="b"/>
            <a:pathLst>
              <a:path w="914400" h="914400">
                <a:moveTo>
                  <a:pt x="914400" y="914400"/>
                </a:moveTo>
                <a:lnTo>
                  <a:pt x="914182" y="894452"/>
                </a:lnTo>
                <a:lnTo>
                  <a:pt x="913529" y="874514"/>
                </a:lnTo>
                <a:lnTo>
                  <a:pt x="912442" y="854595"/>
                </a:lnTo>
                <a:lnTo>
                  <a:pt x="910920" y="834704"/>
                </a:lnTo>
                <a:lnTo>
                  <a:pt x="908965" y="814852"/>
                </a:lnTo>
                <a:lnTo>
                  <a:pt x="906577" y="795046"/>
                </a:lnTo>
                <a:lnTo>
                  <a:pt x="903757" y="775298"/>
                </a:lnTo>
                <a:lnTo>
                  <a:pt x="900508" y="755616"/>
                </a:lnTo>
                <a:lnTo>
                  <a:pt x="896830" y="736009"/>
                </a:lnTo>
                <a:lnTo>
                  <a:pt x="892725" y="716487"/>
                </a:lnTo>
                <a:lnTo>
                  <a:pt x="888195" y="697060"/>
                </a:lnTo>
                <a:lnTo>
                  <a:pt x="883242" y="677735"/>
                </a:lnTo>
                <a:lnTo>
                  <a:pt x="877869" y="658524"/>
                </a:lnTo>
                <a:lnTo>
                  <a:pt x="872078" y="639434"/>
                </a:lnTo>
                <a:lnTo>
                  <a:pt x="865872" y="620475"/>
                </a:lnTo>
                <a:lnTo>
                  <a:pt x="859254" y="601656"/>
                </a:lnTo>
                <a:lnTo>
                  <a:pt x="852227" y="582986"/>
                </a:lnTo>
                <a:lnTo>
                  <a:pt x="844795" y="564474"/>
                </a:lnTo>
                <a:lnTo>
                  <a:pt x="836960" y="546128"/>
                </a:lnTo>
                <a:lnTo>
                  <a:pt x="828727" y="527957"/>
                </a:lnTo>
                <a:lnTo>
                  <a:pt x="820100" y="509971"/>
                </a:lnTo>
                <a:lnTo>
                  <a:pt x="811082" y="492177"/>
                </a:lnTo>
                <a:lnTo>
                  <a:pt x="801678" y="474583"/>
                </a:lnTo>
                <a:lnTo>
                  <a:pt x="791893" y="457200"/>
                </a:lnTo>
                <a:lnTo>
                  <a:pt x="781731" y="440033"/>
                </a:lnTo>
                <a:lnTo>
                  <a:pt x="771197" y="423093"/>
                </a:lnTo>
                <a:lnTo>
                  <a:pt x="760295" y="406386"/>
                </a:lnTo>
                <a:lnTo>
                  <a:pt x="749032" y="389921"/>
                </a:lnTo>
                <a:lnTo>
                  <a:pt x="737412" y="373706"/>
                </a:lnTo>
                <a:lnTo>
                  <a:pt x="725442" y="357748"/>
                </a:lnTo>
                <a:lnTo>
                  <a:pt x="713126" y="342055"/>
                </a:lnTo>
                <a:lnTo>
                  <a:pt x="700471" y="326635"/>
                </a:lnTo>
                <a:lnTo>
                  <a:pt x="687482" y="311494"/>
                </a:lnTo>
                <a:lnTo>
                  <a:pt x="674166" y="296640"/>
                </a:lnTo>
                <a:lnTo>
                  <a:pt x="660529" y="282080"/>
                </a:lnTo>
                <a:lnTo>
                  <a:pt x="646578" y="267821"/>
                </a:lnTo>
                <a:lnTo>
                  <a:pt x="632319" y="253870"/>
                </a:lnTo>
                <a:lnTo>
                  <a:pt x="617759" y="240233"/>
                </a:lnTo>
                <a:lnTo>
                  <a:pt x="602905" y="226917"/>
                </a:lnTo>
                <a:lnTo>
                  <a:pt x="587764" y="213928"/>
                </a:lnTo>
                <a:lnTo>
                  <a:pt x="572344" y="201273"/>
                </a:lnTo>
                <a:lnTo>
                  <a:pt x="556651" y="188957"/>
                </a:lnTo>
                <a:lnTo>
                  <a:pt x="540693" y="176987"/>
                </a:lnTo>
                <a:lnTo>
                  <a:pt x="524478" y="165367"/>
                </a:lnTo>
                <a:lnTo>
                  <a:pt x="508013" y="154104"/>
                </a:lnTo>
                <a:lnTo>
                  <a:pt x="491306" y="143202"/>
                </a:lnTo>
                <a:lnTo>
                  <a:pt x="474366" y="132668"/>
                </a:lnTo>
                <a:lnTo>
                  <a:pt x="457200" y="122506"/>
                </a:lnTo>
                <a:lnTo>
                  <a:pt x="439816" y="112721"/>
                </a:lnTo>
                <a:lnTo>
                  <a:pt x="422222" y="103317"/>
                </a:lnTo>
                <a:lnTo>
                  <a:pt x="404428" y="94299"/>
                </a:lnTo>
                <a:lnTo>
                  <a:pt x="386442" y="85672"/>
                </a:lnTo>
                <a:lnTo>
                  <a:pt x="368271" y="77439"/>
                </a:lnTo>
                <a:lnTo>
                  <a:pt x="349925" y="69604"/>
                </a:lnTo>
                <a:lnTo>
                  <a:pt x="331413" y="62172"/>
                </a:lnTo>
                <a:lnTo>
                  <a:pt x="312743" y="55145"/>
                </a:lnTo>
                <a:lnTo>
                  <a:pt x="293924" y="48527"/>
                </a:lnTo>
                <a:lnTo>
                  <a:pt x="274965" y="42321"/>
                </a:lnTo>
                <a:lnTo>
                  <a:pt x="255875" y="36530"/>
                </a:lnTo>
                <a:lnTo>
                  <a:pt x="236664" y="31157"/>
                </a:lnTo>
                <a:lnTo>
                  <a:pt x="217339" y="26204"/>
                </a:lnTo>
                <a:lnTo>
                  <a:pt x="197912" y="21674"/>
                </a:lnTo>
                <a:lnTo>
                  <a:pt x="178390" y="17569"/>
                </a:lnTo>
                <a:lnTo>
                  <a:pt x="158783" y="13891"/>
                </a:lnTo>
                <a:lnTo>
                  <a:pt x="139101" y="10642"/>
                </a:lnTo>
                <a:lnTo>
                  <a:pt x="119353" y="7822"/>
                </a:lnTo>
                <a:lnTo>
                  <a:pt x="99547" y="5434"/>
                </a:lnTo>
                <a:lnTo>
                  <a:pt x="79695" y="3479"/>
                </a:lnTo>
                <a:lnTo>
                  <a:pt x="59804" y="1957"/>
                </a:lnTo>
                <a:lnTo>
                  <a:pt x="39885" y="870"/>
                </a:lnTo>
                <a:lnTo>
                  <a:pt x="19947" y="217"/>
                </a:lnTo>
                <a:lnTo>
                  <a:pt x="0" y="0"/>
                </a:lnTo>
                <a:lnTo>
                  <a:pt x="0" y="914400"/>
                </a:lnTo>
                <a:close/>
              </a:path>
            </a:pathLst>
          </a:custGeom>
          <a:solidFill>
            <a:srgbClr val="F3A08A"/>
          </a:solidFill>
          <a:ln>
            <a:noFill/>
          </a:ln>
        </p:spPr>
        <p:txBody>
          <a:bodyPr rtlCol="0" anchor="ctr"/>
          <a:lstStyle/>
          <a:p>
            <a:pPr algn="ctr"/>
          </a:p>
        </p:txBody>
      </p:sp>
      <p:sp>
        <p:nvSpPr>
          <p:cNvPr id="8" name="Rectangle 7"/>
          <p:cNvSpPr/>
          <p:nvPr/>
        </p:nvSpPr>
        <p:spPr>
          <a:xfrm>
            <a:off x="822960" y="1417320"/>
            <a:ext cx="7863840" cy="274320"/>
          </a:xfrm>
          <a:prstGeom prst="rect">
            <a:avLst/>
          </a:prstGeom>
          <a:noFill/>
          <a:ln>
            <a:noFill/>
          </a:ln>
        </p:spPr>
        <p:txBody>
          <a:bodyPr rtlCol="0" anchor="ctr" wrap="none" lIns="0" tIns="0" rIns="0" bIns="0">
            <a:noAutofit/>
          </a:bodyPr>
          <a:lstStyle/>
          <a:p>
            <a:pPr algn="l">
              <a:lnSpc>
                <a:spcPct val="100000"/>
              </a:lnSpc>
              <a:spcBef>
                <a:spcPts val="0"/>
              </a:spcBef>
              <a:spcAft>
                <a:spcPts val="0"/>
              </a:spcAft>
            </a:pPr>
            <a:r>
              <a:rPr sz="1200" b="1" i="0" spc="150">
                <a:solidFill>
                  <a:srgbClr val="4F8FCB"/>
                </a:solidFill>
                <a:latin typeface="Segoe UI"/>
              </a:rPr>
              <a:t>DESIGN AND ANALYSIS OF ALGORITHMS  ·  UNIT 2</a:t>
            </a:r>
          </a:p>
        </p:txBody>
      </p:sp>
      <p:sp>
        <p:nvSpPr>
          <p:cNvPr id="9" name="Rectangle 8"/>
          <p:cNvSpPr/>
          <p:nvPr/>
        </p:nvSpPr>
        <p:spPr>
          <a:xfrm>
            <a:off x="822960" y="3246120"/>
            <a:ext cx="1463040" cy="64008"/>
          </a:xfrm>
          <a:prstGeom prst="rect">
            <a:avLst/>
          </a:prstGeom>
          <a:solidFill>
            <a:srgbClr val="F3A08A"/>
          </a:solidFill>
          <a:ln>
            <a:noFill/>
          </a:ln>
        </p:spPr>
        <p:txBody>
          <a:bodyPr rtlCol="0" anchor="ctr"/>
          <a:lstStyle/>
          <a:p>
            <a:pPr algn="ctr"/>
          </a:p>
        </p:txBody>
      </p:sp>
      <p:sp>
        <p:nvSpPr>
          <p:cNvPr id="10" name="Rectangle 9"/>
          <p:cNvSpPr/>
          <p:nvPr/>
        </p:nvSpPr>
        <p:spPr>
          <a:xfrm>
            <a:off x="822960" y="3474720"/>
            <a:ext cx="7863840" cy="502920"/>
          </a:xfrm>
          <a:prstGeom prst="rect">
            <a:avLst/>
          </a:prstGeom>
          <a:noFill/>
          <a:ln>
            <a:noFill/>
          </a:ln>
        </p:spPr>
        <p:txBody>
          <a:bodyPr rtlCol="0" anchor="ctr" wrap="square" lIns="0" tIns="0" rIns="0" bIns="0">
            <a:noAutofit/>
          </a:bodyPr>
          <a:lstStyle/>
          <a:p>
            <a:pPr algn="l">
              <a:lnSpc>
                <a:spcPct val="100000"/>
              </a:lnSpc>
              <a:spcBef>
                <a:spcPts val="0"/>
              </a:spcBef>
              <a:spcAft>
                <a:spcPts val="0"/>
              </a:spcAft>
            </a:pPr>
            <a:r>
              <a:rPr sz="2400" b="0" i="0">
                <a:solidFill>
                  <a:srgbClr val="22304A"/>
                </a:solidFill>
                <a:latin typeface="Segoe UI"/>
              </a:rPr>
              <a:t>Why do C++, Go and Java all lean on it?</a:t>
            </a:r>
          </a:p>
        </p:txBody>
      </p:sp>
      <p:sp>
        <p:nvSpPr>
          <p:cNvPr id="11" name="Rectangle 10"/>
          <p:cNvSpPr/>
          <p:nvPr/>
        </p:nvSpPr>
        <p:spPr>
          <a:xfrm>
            <a:off x="822960" y="4434840"/>
            <a:ext cx="3291840" cy="411480"/>
          </a:xfrm>
          <a:prstGeom prst="rect">
            <a:avLst/>
          </a:prstGeom>
          <a:noFill/>
          <a:ln>
            <a:noFill/>
          </a:ln>
        </p:spPr>
        <p:txBody>
          <a:bodyPr rtlCol="0" anchor="ctr" wrap="square" lIns="0" tIns="0" rIns="0" bIns="0">
            <a:noAutofit/>
          </a:bodyPr>
          <a:lstStyle/>
          <a:p>
            <a:pPr algn="l">
              <a:lnSpc>
                <a:spcPct val="100000"/>
              </a:lnSpc>
              <a:spcBef>
                <a:spcPts val="0"/>
              </a:spcBef>
              <a:spcAft>
                <a:spcPts val="0"/>
              </a:spcAft>
            </a:pPr>
            <a:r>
              <a:rPr sz="2000" b="1" i="0">
                <a:solidFill>
                  <a:srgbClr val="22304A"/>
                </a:solidFill>
                <a:latin typeface="Segoe UI"/>
              </a:rPr>
              <a:t>Ammey Kuraaday</a:t>
            </a:r>
          </a:p>
        </p:txBody>
      </p:sp>
      <p:sp>
        <p:nvSpPr>
          <p:cNvPr id="12" name="Rectangle 11"/>
          <p:cNvSpPr/>
          <p:nvPr/>
        </p:nvSpPr>
        <p:spPr>
          <a:xfrm>
            <a:off x="822960" y="4846320"/>
            <a:ext cx="3291840" cy="320040"/>
          </a:xfrm>
          <a:prstGeom prst="rect">
            <a:avLst/>
          </a:prstGeom>
          <a:noFill/>
          <a:ln>
            <a:noFill/>
          </a:ln>
        </p:spPr>
        <p:txBody>
          <a:bodyPr rtlCol="0" anchor="ctr" wrap="square" lIns="0" tIns="0" rIns="0" bIns="0">
            <a:noAutofit/>
          </a:bodyPr>
          <a:lstStyle/>
          <a:p>
            <a:pPr algn="l">
              <a:lnSpc>
                <a:spcPct val="100000"/>
              </a:lnSpc>
              <a:spcBef>
                <a:spcPts val="0"/>
              </a:spcBef>
              <a:spcAft>
                <a:spcPts val="0"/>
              </a:spcAft>
            </a:pPr>
            <a:r>
              <a:rPr sz="1400" b="0" i="0">
                <a:solidFill>
                  <a:srgbClr val="66758C"/>
                </a:solidFill>
                <a:latin typeface="Segoe UI"/>
              </a:rPr>
              <a:t>Roll No. B107</a:t>
            </a:r>
          </a:p>
        </p:txBody>
      </p:sp>
      <p:sp>
        <p:nvSpPr>
          <p:cNvPr id="13" name="Rectangle 12"/>
          <p:cNvSpPr/>
          <p:nvPr/>
        </p:nvSpPr>
        <p:spPr>
          <a:xfrm>
            <a:off x="4480560" y="4434840"/>
            <a:ext cx="3566160" cy="411480"/>
          </a:xfrm>
          <a:prstGeom prst="rect">
            <a:avLst/>
          </a:prstGeom>
          <a:noFill/>
          <a:ln>
            <a:noFill/>
          </a:ln>
        </p:spPr>
        <p:txBody>
          <a:bodyPr rtlCol="0" anchor="ctr" wrap="square" lIns="0" tIns="0" rIns="0" bIns="0">
            <a:noAutofit/>
          </a:bodyPr>
          <a:lstStyle/>
          <a:p>
            <a:pPr algn="l">
              <a:lnSpc>
                <a:spcPct val="100000"/>
              </a:lnSpc>
              <a:spcBef>
                <a:spcPts val="0"/>
              </a:spcBef>
              <a:spcAft>
                <a:spcPts val="0"/>
              </a:spcAft>
            </a:pPr>
            <a:r>
              <a:rPr sz="2000" b="1" i="0">
                <a:solidFill>
                  <a:srgbClr val="22304A"/>
                </a:solidFill>
                <a:latin typeface="Segoe UI"/>
              </a:rPr>
              <a:t>Shreyash Javale</a:t>
            </a:r>
          </a:p>
        </p:txBody>
      </p:sp>
      <p:sp>
        <p:nvSpPr>
          <p:cNvPr id="14" name="Rectangle 13"/>
          <p:cNvSpPr/>
          <p:nvPr/>
        </p:nvSpPr>
        <p:spPr>
          <a:xfrm>
            <a:off x="4480560" y="4846320"/>
            <a:ext cx="3566160" cy="320040"/>
          </a:xfrm>
          <a:prstGeom prst="rect">
            <a:avLst/>
          </a:prstGeom>
          <a:noFill/>
          <a:ln>
            <a:noFill/>
          </a:ln>
        </p:spPr>
        <p:txBody>
          <a:bodyPr rtlCol="0" anchor="ctr" wrap="square" lIns="0" tIns="0" rIns="0" bIns="0">
            <a:noAutofit/>
          </a:bodyPr>
          <a:lstStyle/>
          <a:p>
            <a:pPr algn="l">
              <a:lnSpc>
                <a:spcPct val="100000"/>
              </a:lnSpc>
              <a:spcBef>
                <a:spcPts val="0"/>
              </a:spcBef>
              <a:spcAft>
                <a:spcPts val="0"/>
              </a:spcAft>
            </a:pPr>
            <a:r>
              <a:rPr sz="1400" b="0" i="0">
                <a:solidFill>
                  <a:srgbClr val="66758C"/>
                </a:solidFill>
                <a:latin typeface="Segoe UI"/>
              </a:rPr>
              <a:t>Roll No. B34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gradFill rotWithShape="1">
          <a:gsLst>
            <a:gs pos="0">
              <a:srgbClr val="DDEBFA"/>
            </a:gs>
            <a:gs pos="100000">
              <a:srgbClr val="FFEFE8"/>
            </a:gs>
          </a:gsLst>
          <a:lin scaled="0" ang="2700000"/>
        </a:gradFill>
        <a:effectLst/>
      </p:bgPr>
    </p:bg>
    <p:spTree>
      <p:nvGrpSpPr>
        <p:cNvPr id="1" name=""/>
        <p:cNvGrpSpPr/>
        <p:nvPr/>
      </p:nvGrpSpPr>
      <p:grpSpPr/>
      <p:sp>
        <p:nvSpPr>
          <p:cNvPr id="3" name="Rounded Rectangle 2"/>
          <p:cNvSpPr/>
          <p:nvPr/>
        </p:nvSpPr>
        <p:spPr>
          <a:xfrm>
            <a:off x="256032" y="182880"/>
            <a:ext cx="11679631" cy="6492240"/>
          </a:xfrm>
          <a:prstGeom prst="roundRect">
            <a:avLst>
              <a:gd name="adj" fmla="val 3943"/>
            </a:avLst>
          </a:prstGeom>
          <a:solidFill>
            <a:srgbClr val="FFFFFF"/>
          </a:solidFill>
          <a:ln w="9525">
            <a:solidFill>
              <a:srgbClr val="BCD8F1"/>
            </a:solidFill>
          </a:ln>
        </p:spPr>
        <p:txBody>
          <a:bodyPr rtlCol="0" anchor="ctr"/>
          <a:lstStyle/>
          <a:p>
            <a:pPr algn="ctr"/>
          </a:p>
        </p:txBody>
      </p:sp>
      <p:sp>
        <p:nvSpPr>
          <p:cNvPr id="2" name="Title 1"/>
          <p:cNvSpPr>
            <a:spLocks noGrp="1"/>
          </p:cNvSpPr>
          <p:nvPr>
            <p:ph type="title"/>
          </p:nvPr>
        </p:nvSpPr>
        <p:spPr>
          <a:xfrm>
            <a:off x="548640" y="566928"/>
            <a:ext cx="11094415" cy="658368"/>
          </a:xfrm>
        </p:spPr>
        <p:txBody>
          <a:bodyPr wrap="square" lIns="0" tIns="27432" rIns="0" bIns="27432" anchor="ctr">
            <a:noAutofit/>
          </a:bodyPr>
          <a:lstStyle/>
          <a:p>
            <a:pPr algn="l">
              <a:lnSpc>
                <a:spcPct val="100000"/>
              </a:lnSpc>
              <a:spcBef>
                <a:spcPts val="0"/>
              </a:spcBef>
              <a:spcAft>
                <a:spcPts val="0"/>
              </a:spcAft>
            </a:pPr>
            <a:r>
              <a:rPr sz="3000" b="1" i="0">
                <a:solidFill>
                  <a:srgbClr val="22304A"/>
                </a:solidFill>
                <a:latin typeface="Georgia"/>
              </a:rPr>
              <a:t>1959: Hoare flips merge sort around</a:t>
            </a:r>
          </a:p>
        </p:txBody>
      </p:sp>
      <p:sp>
        <p:nvSpPr>
          <p:cNvPr id="4" name="Rectangle 3"/>
          <p:cNvSpPr/>
          <p:nvPr/>
        </p:nvSpPr>
        <p:spPr>
          <a:xfrm>
            <a:off x="548640" y="310896"/>
            <a:ext cx="8229600" cy="246888"/>
          </a:xfrm>
          <a:prstGeom prst="rect">
            <a:avLst/>
          </a:prstGeom>
          <a:noFill/>
          <a:ln>
            <a:noFill/>
          </a:ln>
        </p:spPr>
        <p:txBody>
          <a:bodyPr rtlCol="0" anchor="ctr" wrap="none" lIns="0" tIns="0" rIns="0" bIns="0">
            <a:noAutofit/>
          </a:bodyPr>
          <a:lstStyle/>
          <a:p>
            <a:pPr algn="l">
              <a:lnSpc>
                <a:spcPct val="100000"/>
              </a:lnSpc>
              <a:spcBef>
                <a:spcPts val="0"/>
              </a:spcBef>
              <a:spcAft>
                <a:spcPts val="0"/>
              </a:spcAft>
            </a:pPr>
            <a:r>
              <a:rPr sz="1100" b="1" i="0" spc="150">
                <a:solidFill>
                  <a:srgbClr val="4F8FCB"/>
                </a:solidFill>
                <a:latin typeface="Segoe UI"/>
              </a:rPr>
              <a:t>CHAPTER 1 · THE IDEA</a:t>
            </a:r>
          </a:p>
        </p:txBody>
      </p:sp>
      <p:sp>
        <p:nvSpPr>
          <p:cNvPr id="5" name="Rectangle 4"/>
          <p:cNvSpPr/>
          <p:nvPr/>
        </p:nvSpPr>
        <p:spPr>
          <a:xfrm>
            <a:off x="548640" y="1280160"/>
            <a:ext cx="1097280" cy="54864"/>
          </a:xfrm>
          <a:prstGeom prst="rect">
            <a:avLst/>
          </a:prstGeom>
          <a:solidFill>
            <a:srgbClr val="F3A08A"/>
          </a:solidFill>
          <a:ln>
            <a:noFill/>
          </a:ln>
        </p:spPr>
        <p:txBody>
          <a:bodyPr rtlCol="0" anchor="ctr"/>
          <a:lstStyle/>
          <a:p>
            <a:pPr algn="ctr"/>
          </a:p>
        </p:txBody>
      </p:sp>
      <p:cxnSp>
        <p:nvCxnSpPr>
          <p:cNvPr id="6" name="Connector 5"/>
          <p:cNvCxnSpPr/>
          <p:nvPr/>
        </p:nvCxnSpPr>
        <p:spPr>
          <a:xfrm>
            <a:off x="548640" y="6309360"/>
            <a:ext cx="11094415" cy="0"/>
          </a:xfrm>
          <a:prstGeom prst="line">
            <a:avLst/>
          </a:prstGeom>
          <a:ln w="9525">
            <a:solidFill>
              <a:srgbClr val="BCD8F1"/>
            </a:solidFill>
          </a:ln>
        </p:spPr>
      </p:cxnSp>
      <p:sp>
        <p:nvSpPr>
          <p:cNvPr id="7" name="Rectangle 6"/>
          <p:cNvSpPr/>
          <p:nvPr/>
        </p:nvSpPr>
        <p:spPr>
          <a:xfrm>
            <a:off x="548640" y="6364224"/>
            <a:ext cx="5486400" cy="246888"/>
          </a:xfrm>
          <a:prstGeom prst="rect">
            <a:avLst/>
          </a:prstGeom>
          <a:noFill/>
          <a:ln>
            <a:noFill/>
          </a:ln>
        </p:spPr>
        <p:txBody>
          <a:bodyPr rtlCol="0" anchor="ctr" wrap="none" lIns="0" tIns="0" rIns="0" bIns="0">
            <a:noAutofit/>
          </a:bodyPr>
          <a:lstStyle/>
          <a:p>
            <a:pPr algn="l">
              <a:lnSpc>
                <a:spcPct val="100000"/>
              </a:lnSpc>
              <a:spcBef>
                <a:spcPts val="0"/>
              </a:spcBef>
              <a:spcAft>
                <a:spcPts val="0"/>
              </a:spcAft>
            </a:pPr>
            <a:r>
              <a:rPr sz="1100" b="0" i="0">
                <a:solidFill>
                  <a:srgbClr val="66758C"/>
                </a:solidFill>
                <a:latin typeface="Segoe UI"/>
              </a:rPr>
              <a:t>Quick Sort  ·  DAA Unit 2</a:t>
            </a:r>
          </a:p>
        </p:txBody>
      </p:sp>
      <p:sp>
        <p:nvSpPr>
          <p:cNvPr id="8" name="Rectangle 7"/>
          <p:cNvSpPr/>
          <p:nvPr/>
        </p:nvSpPr>
        <p:spPr>
          <a:xfrm>
            <a:off x="10271455" y="6364224"/>
            <a:ext cx="1371600" cy="246888"/>
          </a:xfrm>
          <a:prstGeom prst="rect">
            <a:avLst/>
          </a:prstGeom>
          <a:noFill/>
          <a:ln>
            <a:noFill/>
          </a:ln>
        </p:spPr>
        <p:txBody>
          <a:bodyPr rtlCol="0" anchor="ctr" wrap="none" lIns="0" tIns="0" rIns="0" bIns="0">
            <a:noAutofit/>
          </a:bodyPr>
          <a:lstStyle/>
          <a:p>
            <a:pPr algn="r">
              <a:lnSpc>
                <a:spcPct val="100000"/>
              </a:lnSpc>
              <a:spcBef>
                <a:spcPts val="0"/>
              </a:spcBef>
              <a:spcAft>
                <a:spcPts val="0"/>
              </a:spcAft>
            </a:pPr>
            <a:r>
              <a:rPr sz="1100" b="0" i="0">
                <a:solidFill>
                  <a:srgbClr val="66758C"/>
                </a:solidFill>
                <a:latin typeface="Segoe UI"/>
              </a:rPr>
              <a:t>2</a:t>
            </a:r>
          </a:p>
        </p:txBody>
      </p:sp>
      <p:sp>
        <p:nvSpPr>
          <p:cNvPr id="9" name="Rounded Rectangle 8"/>
          <p:cNvSpPr/>
          <p:nvPr/>
        </p:nvSpPr>
        <p:spPr>
          <a:xfrm>
            <a:off x="548640" y="1645920"/>
            <a:ext cx="4023360" cy="1463040"/>
          </a:xfrm>
          <a:prstGeom prst="roundRect">
            <a:avLst>
              <a:gd name="adj" fmla="val 9374"/>
            </a:avLst>
          </a:prstGeom>
          <a:solidFill>
            <a:srgbClr val="E8F2FB"/>
          </a:solidFill>
          <a:ln>
            <a:noFill/>
          </a:ln>
        </p:spPr>
        <p:txBody>
          <a:bodyPr rtlCol="0" anchor="ctr"/>
          <a:lstStyle/>
          <a:p>
            <a:pPr algn="ctr"/>
          </a:p>
        </p:txBody>
      </p:sp>
      <p:sp>
        <p:nvSpPr>
          <p:cNvPr id="10" name="Rectangle 9"/>
          <p:cNvSpPr/>
          <p:nvPr/>
        </p:nvSpPr>
        <p:spPr>
          <a:xfrm>
            <a:off x="777240" y="1700784"/>
            <a:ext cx="3566160" cy="594360"/>
          </a:xfrm>
          <a:prstGeom prst="rect">
            <a:avLst/>
          </a:prstGeom>
          <a:noFill/>
          <a:ln>
            <a:noFill/>
          </a:ln>
        </p:spPr>
        <p:txBody>
          <a:bodyPr rtlCol="0" anchor="ctr" wrap="square" lIns="0" tIns="0" rIns="0" bIns="0">
            <a:noAutofit/>
          </a:bodyPr>
          <a:lstStyle/>
          <a:p>
            <a:pPr algn="l">
              <a:lnSpc>
                <a:spcPct val="100000"/>
              </a:lnSpc>
              <a:spcBef>
                <a:spcPts val="0"/>
              </a:spcBef>
              <a:spcAft>
                <a:spcPts val="0"/>
              </a:spcAft>
            </a:pPr>
            <a:r>
              <a:rPr sz="3400" b="1" i="0">
                <a:solidFill>
                  <a:srgbClr val="4F8FCB"/>
                </a:solidFill>
                <a:latin typeface="Georgia"/>
              </a:rPr>
              <a:t>1959</a:t>
            </a:r>
          </a:p>
        </p:txBody>
      </p:sp>
      <p:sp>
        <p:nvSpPr>
          <p:cNvPr id="11" name="Rectangle 10"/>
          <p:cNvSpPr/>
          <p:nvPr/>
        </p:nvSpPr>
        <p:spPr>
          <a:xfrm>
            <a:off x="777240" y="2331720"/>
            <a:ext cx="3566160" cy="749808"/>
          </a:xfrm>
          <a:prstGeom prst="rect">
            <a:avLst/>
          </a:prstGeom>
          <a:noFill/>
          <a:ln>
            <a:noFill/>
          </a:ln>
        </p:spPr>
        <p:txBody>
          <a:bodyPr rtlCol="0" anchor="t" wrap="square" lIns="0" tIns="0" rIns="0" bIns="0">
            <a:noAutofit/>
          </a:bodyPr>
          <a:lstStyle/>
          <a:p>
            <a:pPr algn="l">
              <a:lnSpc>
                <a:spcPct val="100000"/>
              </a:lnSpc>
              <a:spcBef>
                <a:spcPts val="0"/>
              </a:spcBef>
              <a:spcAft>
                <a:spcPts val="0"/>
              </a:spcAft>
            </a:pPr>
            <a:r>
              <a:rPr sz="1400" b="0" i="0">
                <a:solidFill>
                  <a:srgbClr val="22304A"/>
                </a:solidFill>
                <a:latin typeface="Segoe UI"/>
              </a:rPr>
              <a:t>Tony Hoare, a visiting student in Moscow, invents it while working on machine translation.</a:t>
            </a:r>
          </a:p>
        </p:txBody>
      </p:sp>
      <p:sp>
        <p:nvSpPr>
          <p:cNvPr id="12" name="Rounded Rectangle 11"/>
          <p:cNvSpPr/>
          <p:nvPr/>
        </p:nvSpPr>
        <p:spPr>
          <a:xfrm>
            <a:off x="4846320" y="1645920"/>
            <a:ext cx="2743200" cy="1005840"/>
          </a:xfrm>
          <a:prstGeom prst="roundRect">
            <a:avLst>
              <a:gd name="adj" fmla="val 10909"/>
            </a:avLst>
          </a:prstGeom>
          <a:solidFill>
            <a:srgbClr val="BCD8F1"/>
          </a:solidFill>
          <a:ln w="19050">
            <a:solidFill>
              <a:srgbClr val="4F8FCB"/>
            </a:solidFill>
          </a:ln>
        </p:spPr>
        <p:txBody>
          <a:bodyPr rtlCol="0" anchor="ctr" wrap="square" lIns="73152" tIns="36576" rIns="73152" bIns="36576">
            <a:noAutofit/>
          </a:bodyPr>
          <a:lstStyle/>
          <a:p>
            <a:pPr algn="ctr">
              <a:lnSpc>
                <a:spcPct val="100000"/>
              </a:lnSpc>
              <a:spcBef>
                <a:spcPts val="0"/>
              </a:spcBef>
              <a:spcAft>
                <a:spcPts val="0"/>
              </a:spcAft>
            </a:pPr>
            <a:r>
              <a:rPr sz="2800" b="1" i="0">
                <a:solidFill>
                  <a:srgbClr val="22304A"/>
                </a:solidFill>
                <a:latin typeface="Georgia"/>
              </a:rPr>
              <a:t>≤ v</a:t>
            </a:r>
          </a:p>
          <a:p>
            <a:pPr algn="ctr">
              <a:lnSpc>
                <a:spcPct val="100000"/>
              </a:lnSpc>
              <a:spcBef>
                <a:spcPts val="0"/>
              </a:spcBef>
              <a:spcAft>
                <a:spcPts val="0"/>
              </a:spcAft>
            </a:pPr>
            <a:r>
              <a:rPr sz="1200" b="0" i="0">
                <a:solidFill>
                  <a:srgbClr val="66758C"/>
                </a:solidFill>
                <a:latin typeface="Consolas"/>
              </a:rPr>
              <a:t>A[low .. j−1]</a:t>
            </a:r>
          </a:p>
        </p:txBody>
      </p:sp>
      <p:sp>
        <p:nvSpPr>
          <p:cNvPr id="13" name="Rounded Rectangle 12"/>
          <p:cNvSpPr/>
          <p:nvPr/>
        </p:nvSpPr>
        <p:spPr>
          <a:xfrm>
            <a:off x="7699248" y="1645920"/>
            <a:ext cx="1188720" cy="1005840"/>
          </a:xfrm>
          <a:prstGeom prst="roundRect">
            <a:avLst>
              <a:gd name="adj" fmla="val 10909"/>
            </a:avLst>
          </a:prstGeom>
          <a:solidFill>
            <a:srgbClr val="F3A08A"/>
          </a:solidFill>
          <a:ln w="25400">
            <a:solidFill>
              <a:srgbClr val="E07A5F"/>
            </a:solidFill>
          </a:ln>
        </p:spPr>
        <p:txBody>
          <a:bodyPr rtlCol="0" anchor="ctr" wrap="square" lIns="73152" tIns="36576" rIns="73152" bIns="36576">
            <a:noAutofit/>
          </a:bodyPr>
          <a:lstStyle/>
          <a:p>
            <a:pPr algn="ctr">
              <a:lnSpc>
                <a:spcPct val="100000"/>
              </a:lnSpc>
              <a:spcBef>
                <a:spcPts val="0"/>
              </a:spcBef>
              <a:spcAft>
                <a:spcPts val="0"/>
              </a:spcAft>
            </a:pPr>
            <a:r>
              <a:rPr sz="3200" b="1" i="0">
                <a:solidFill>
                  <a:srgbClr val="22304A"/>
                </a:solidFill>
                <a:latin typeface="Georgia"/>
              </a:rPr>
              <a:t>v</a:t>
            </a:r>
          </a:p>
          <a:p>
            <a:pPr algn="ctr">
              <a:lnSpc>
                <a:spcPct val="100000"/>
              </a:lnSpc>
              <a:spcBef>
                <a:spcPts val="0"/>
              </a:spcBef>
              <a:spcAft>
                <a:spcPts val="0"/>
              </a:spcAft>
            </a:pPr>
            <a:r>
              <a:rPr sz="1200" b="0" i="0">
                <a:solidFill>
                  <a:srgbClr val="22304A"/>
                </a:solidFill>
                <a:latin typeface="Consolas"/>
              </a:rPr>
              <a:t>A[j]</a:t>
            </a:r>
          </a:p>
        </p:txBody>
      </p:sp>
      <p:sp>
        <p:nvSpPr>
          <p:cNvPr id="14" name="Rounded Rectangle 13"/>
          <p:cNvSpPr/>
          <p:nvPr/>
        </p:nvSpPr>
        <p:spPr>
          <a:xfrm>
            <a:off x="8997696" y="1645920"/>
            <a:ext cx="2633472" cy="1005840"/>
          </a:xfrm>
          <a:prstGeom prst="roundRect">
            <a:avLst>
              <a:gd name="adj" fmla="val 10909"/>
            </a:avLst>
          </a:prstGeom>
          <a:solidFill>
            <a:srgbClr val="BCD8F1"/>
          </a:solidFill>
          <a:ln w="19050">
            <a:solidFill>
              <a:srgbClr val="4F8FCB"/>
            </a:solidFill>
          </a:ln>
        </p:spPr>
        <p:txBody>
          <a:bodyPr rtlCol="0" anchor="ctr" wrap="square" lIns="73152" tIns="36576" rIns="73152" bIns="36576">
            <a:noAutofit/>
          </a:bodyPr>
          <a:lstStyle/>
          <a:p>
            <a:pPr algn="ctr">
              <a:lnSpc>
                <a:spcPct val="100000"/>
              </a:lnSpc>
              <a:spcBef>
                <a:spcPts val="0"/>
              </a:spcBef>
              <a:spcAft>
                <a:spcPts val="0"/>
              </a:spcAft>
            </a:pPr>
            <a:r>
              <a:rPr sz="2800" b="1" i="0">
                <a:solidFill>
                  <a:srgbClr val="22304A"/>
                </a:solidFill>
                <a:latin typeface="Georgia"/>
              </a:rPr>
              <a:t>≥ v</a:t>
            </a:r>
          </a:p>
          <a:p>
            <a:pPr algn="ctr">
              <a:lnSpc>
                <a:spcPct val="100000"/>
              </a:lnSpc>
              <a:spcBef>
                <a:spcPts val="0"/>
              </a:spcBef>
              <a:spcAft>
                <a:spcPts val="0"/>
              </a:spcAft>
            </a:pPr>
            <a:r>
              <a:rPr sz="1200" b="0" i="0">
                <a:solidFill>
                  <a:srgbClr val="66758C"/>
                </a:solidFill>
                <a:latin typeface="Consolas"/>
              </a:rPr>
              <a:t>A[j+1 .. high]</a:t>
            </a:r>
          </a:p>
        </p:txBody>
      </p:sp>
      <p:sp>
        <p:nvSpPr>
          <p:cNvPr id="15" name="Rectangle 14"/>
          <p:cNvSpPr/>
          <p:nvPr/>
        </p:nvSpPr>
        <p:spPr>
          <a:xfrm>
            <a:off x="4846320" y="2697480"/>
            <a:ext cx="2743200" cy="274320"/>
          </a:xfrm>
          <a:prstGeom prst="rect">
            <a:avLst/>
          </a:prstGeom>
          <a:noFill/>
          <a:ln>
            <a:noFill/>
          </a:ln>
        </p:spPr>
        <p:txBody>
          <a:bodyPr rtlCol="0" anchor="ctr" wrap="square" lIns="0" tIns="0" rIns="0" bIns="0">
            <a:noAutofit/>
          </a:bodyPr>
          <a:lstStyle/>
          <a:p>
            <a:pPr algn="ctr">
              <a:lnSpc>
                <a:spcPct val="100000"/>
              </a:lnSpc>
              <a:spcBef>
                <a:spcPts val="0"/>
              </a:spcBef>
              <a:spcAft>
                <a:spcPts val="0"/>
              </a:spcAft>
            </a:pPr>
            <a:r>
              <a:rPr sz="1300" b="0" i="0">
                <a:solidFill>
                  <a:srgbClr val="66758C"/>
                </a:solidFill>
                <a:latin typeface="Segoe UI"/>
              </a:rPr>
              <a:t>sorted on its own</a:t>
            </a:r>
          </a:p>
        </p:txBody>
      </p:sp>
      <p:sp>
        <p:nvSpPr>
          <p:cNvPr id="16" name="Rectangle 15"/>
          <p:cNvSpPr/>
          <p:nvPr/>
        </p:nvSpPr>
        <p:spPr>
          <a:xfrm>
            <a:off x="7699248" y="2697480"/>
            <a:ext cx="1188720" cy="274320"/>
          </a:xfrm>
          <a:prstGeom prst="rect">
            <a:avLst/>
          </a:prstGeom>
          <a:noFill/>
          <a:ln>
            <a:noFill/>
          </a:ln>
        </p:spPr>
        <p:txBody>
          <a:bodyPr rtlCol="0" anchor="ctr" wrap="square" lIns="0" tIns="0" rIns="0" bIns="0">
            <a:noAutofit/>
          </a:bodyPr>
          <a:lstStyle/>
          <a:p>
            <a:pPr algn="ctr">
              <a:lnSpc>
                <a:spcPct val="100000"/>
              </a:lnSpc>
              <a:spcBef>
                <a:spcPts val="0"/>
              </a:spcBef>
              <a:spcAft>
                <a:spcPts val="0"/>
              </a:spcAft>
            </a:pPr>
            <a:r>
              <a:rPr sz="1300" b="1" i="0">
                <a:solidFill>
                  <a:srgbClr val="22304A"/>
                </a:solidFill>
                <a:latin typeface="Segoe UI"/>
              </a:rPr>
              <a:t>final spot</a:t>
            </a:r>
          </a:p>
        </p:txBody>
      </p:sp>
      <p:sp>
        <p:nvSpPr>
          <p:cNvPr id="17" name="Rectangle 16"/>
          <p:cNvSpPr/>
          <p:nvPr/>
        </p:nvSpPr>
        <p:spPr>
          <a:xfrm>
            <a:off x="8997696" y="2697480"/>
            <a:ext cx="2633472" cy="274320"/>
          </a:xfrm>
          <a:prstGeom prst="rect">
            <a:avLst/>
          </a:prstGeom>
          <a:noFill/>
          <a:ln>
            <a:noFill/>
          </a:ln>
        </p:spPr>
        <p:txBody>
          <a:bodyPr rtlCol="0" anchor="ctr" wrap="square" lIns="0" tIns="0" rIns="0" bIns="0">
            <a:noAutofit/>
          </a:bodyPr>
          <a:lstStyle/>
          <a:p>
            <a:pPr algn="ctr">
              <a:lnSpc>
                <a:spcPct val="100000"/>
              </a:lnSpc>
              <a:spcBef>
                <a:spcPts val="0"/>
              </a:spcBef>
              <a:spcAft>
                <a:spcPts val="0"/>
              </a:spcAft>
            </a:pPr>
            <a:r>
              <a:rPr sz="1300" b="0" i="0">
                <a:solidFill>
                  <a:srgbClr val="66758C"/>
                </a:solidFill>
                <a:latin typeface="Segoe UI"/>
              </a:rPr>
              <a:t>sorted on its own</a:t>
            </a:r>
          </a:p>
        </p:txBody>
      </p:sp>
      <p:graphicFrame>
        <p:nvGraphicFramePr>
          <p:cNvPr id="18" name="Table 17"/>
          <p:cNvGraphicFramePr>
            <a:graphicFrameLocks noGrp="1"/>
          </p:cNvGraphicFramePr>
          <p:nvPr/>
        </p:nvGraphicFramePr>
        <p:xfrm>
          <a:off x="548640" y="3337560"/>
          <a:ext cx="11091672" cy="2157984"/>
        </p:xfrm>
        <a:graphic>
          <a:graphicData uri="http://schemas.openxmlformats.org/drawingml/2006/table">
            <a:tbl>
              <a:tblPr>
                <a:tableStyleId>{2D5ABB26-0587-4C30-8999-92F81FD0307C}</a:tableStyleId>
              </a:tblPr>
              <a:tblGrid>
                <a:gridCol w="1828800"/>
                <a:gridCol w="4631436"/>
                <a:gridCol w="4631436"/>
              </a:tblGrid>
              <a:tr h="457200">
                <a:tc>
                  <a:txBody>
                    <a:bodyPr wrap="square"/>
                    <a:lstStyle/>
                    <a:p>
                      <a:pPr algn="l">
                        <a:lnSpc>
                          <a:spcPct val="100000"/>
                        </a:lnSpc>
                      </a:pPr>
                      <a:r>
                        <a:rPr sz="1500" b="1">
                          <a:solidFill>
                            <a:srgbClr val="22304A"/>
                          </a:solidFill>
                          <a:latin typeface="Segoe UI"/>
                        </a:rPr>
                        <a:t/>
                      </a:r>
                    </a:p>
                  </a:txBody>
                  <a:tcPr marL="128016" marT="45720" marR="128016" marB="45720" anchor="ctr">
                    <a:lnL w="0">
                      <a:noFill/>
                    </a:lnL>
                    <a:lnR w="0">
                      <a:noFill/>
                    </a:lnR>
                    <a:lnT w="0">
                      <a:noFill/>
                    </a:lnT>
                    <a:lnB w="9525" cap="flat" cmpd="sng">
                      <a:solidFill>
                        <a:srgbClr val="BCD8F1"/>
                      </a:solidFill>
                      <a:prstDash val="solid"/>
                    </a:lnB>
                    <a:solidFill>
                      <a:srgbClr val="BCD8F1"/>
                    </a:solidFill>
                  </a:tcPr>
                </a:tc>
                <a:tc>
                  <a:txBody>
                    <a:bodyPr wrap="square"/>
                    <a:lstStyle/>
                    <a:p>
                      <a:pPr algn="l">
                        <a:lnSpc>
                          <a:spcPct val="100000"/>
                        </a:lnSpc>
                      </a:pPr>
                      <a:r>
                        <a:rPr sz="1500" b="1">
                          <a:solidFill>
                            <a:srgbClr val="22304A"/>
                          </a:solidFill>
                          <a:latin typeface="Segoe UI"/>
                        </a:rPr>
                        <a:t>Merge sort</a:t>
                      </a:r>
                    </a:p>
                  </a:txBody>
                  <a:tcPr marL="128016" marT="45720" marR="128016" marB="45720" anchor="ctr">
                    <a:lnL w="0">
                      <a:noFill/>
                    </a:lnL>
                    <a:lnR w="0">
                      <a:noFill/>
                    </a:lnR>
                    <a:lnT w="0">
                      <a:noFill/>
                    </a:lnT>
                    <a:lnB w="9525" cap="flat" cmpd="sng">
                      <a:solidFill>
                        <a:srgbClr val="BCD8F1"/>
                      </a:solidFill>
                      <a:prstDash val="solid"/>
                    </a:lnB>
                    <a:solidFill>
                      <a:srgbClr val="BCD8F1"/>
                    </a:solidFill>
                  </a:tcPr>
                </a:tc>
                <a:tc>
                  <a:txBody>
                    <a:bodyPr wrap="square"/>
                    <a:lstStyle/>
                    <a:p>
                      <a:pPr algn="l">
                        <a:lnSpc>
                          <a:spcPct val="100000"/>
                        </a:lnSpc>
                      </a:pPr>
                      <a:r>
                        <a:rPr sz="1500" b="1">
                          <a:solidFill>
                            <a:srgbClr val="22304A"/>
                          </a:solidFill>
                          <a:latin typeface="Segoe UI"/>
                        </a:rPr>
                        <a:t>Quick sort</a:t>
                      </a:r>
                    </a:p>
                  </a:txBody>
                  <a:tcPr marL="128016" marT="45720" marR="128016" marB="45720" anchor="ctr">
                    <a:lnL w="0">
                      <a:noFill/>
                    </a:lnL>
                    <a:lnR w="0">
                      <a:noFill/>
                    </a:lnR>
                    <a:lnT w="0">
                      <a:noFill/>
                    </a:lnT>
                    <a:lnB w="9525" cap="flat" cmpd="sng">
                      <a:solidFill>
                        <a:srgbClr val="BCD8F1"/>
                      </a:solidFill>
                      <a:prstDash val="solid"/>
                    </a:lnB>
                    <a:solidFill>
                      <a:srgbClr val="BCD8F1"/>
                    </a:solidFill>
                  </a:tcPr>
                </a:tc>
              </a:tr>
              <a:tr h="566928">
                <a:tc>
                  <a:txBody>
                    <a:bodyPr wrap="square"/>
                    <a:lstStyle/>
                    <a:p>
                      <a:pPr algn="l">
                        <a:lnSpc>
                          <a:spcPct val="100000"/>
                        </a:lnSpc>
                      </a:pPr>
                      <a:r>
                        <a:rPr sz="1600" b="1">
                          <a:solidFill>
                            <a:srgbClr val="22304A"/>
                          </a:solidFill>
                          <a:latin typeface="Segoe UI"/>
                        </a:rPr>
                        <a:t>Divide</a:t>
                      </a:r>
                    </a:p>
                  </a:txBody>
                  <a:tcPr marL="128016" marT="45720" marR="128016" marB="45720" anchor="ctr">
                    <a:lnL w="0">
                      <a:noFill/>
                    </a:lnL>
                    <a:lnR w="0">
                      <a:noFill/>
                    </a:lnR>
                    <a:lnT w="0">
                      <a:noFill/>
                    </a:lnT>
                    <a:lnB w="9525" cap="flat" cmpd="sng">
                      <a:solidFill>
                        <a:srgbClr val="BCD8F1"/>
                      </a:solidFill>
                      <a:prstDash val="solid"/>
                    </a:lnB>
                    <a:solidFill>
                      <a:srgbClr val="FFFFFF"/>
                    </a:solidFill>
                  </a:tcPr>
                </a:tc>
                <a:tc>
                  <a:txBody>
                    <a:bodyPr wrap="square"/>
                    <a:lstStyle/>
                    <a:p>
                      <a:pPr algn="l">
                        <a:lnSpc>
                          <a:spcPct val="100000"/>
                        </a:lnSpc>
                      </a:pPr>
                      <a:r>
                        <a:rPr sz="1600" b="0">
                          <a:solidFill>
                            <a:srgbClr val="22304A"/>
                          </a:solidFill>
                          <a:latin typeface="Segoe UI"/>
                        </a:rPr>
                        <a:t>Trivial: cut the array in the middle</a:t>
                      </a:r>
                    </a:p>
                  </a:txBody>
                  <a:tcPr marL="128016" marT="45720" marR="128016" marB="45720" anchor="ctr">
                    <a:lnL w="0">
                      <a:noFill/>
                    </a:lnL>
                    <a:lnR w="0">
                      <a:noFill/>
                    </a:lnR>
                    <a:lnT w="0">
                      <a:noFill/>
                    </a:lnT>
                    <a:lnB w="9525" cap="flat" cmpd="sng">
                      <a:solidFill>
                        <a:srgbClr val="BCD8F1"/>
                      </a:solidFill>
                      <a:prstDash val="solid"/>
                    </a:lnB>
                    <a:solidFill>
                      <a:srgbClr val="FFFFFF"/>
                    </a:solidFill>
                  </a:tcPr>
                </a:tc>
                <a:tc>
                  <a:txBody>
                    <a:bodyPr wrap="square"/>
                    <a:lstStyle/>
                    <a:p>
                      <a:pPr algn="l">
                        <a:lnSpc>
                          <a:spcPct val="100000"/>
                        </a:lnSpc>
                      </a:pPr>
                      <a:r>
                        <a:rPr sz="1600" b="1">
                          <a:solidFill>
                            <a:srgbClr val="22304A"/>
                          </a:solidFill>
                          <a:latin typeface="Segoe UI"/>
                        </a:rPr>
                        <a:t>The real work: partition around a pivot</a:t>
                      </a:r>
                    </a:p>
                  </a:txBody>
                  <a:tcPr marL="128016" marT="45720" marR="128016" marB="45720" anchor="ctr">
                    <a:lnL w="57150" cap="flat" cmpd="sng">
                      <a:solidFill>
                        <a:srgbClr val="E07A5F"/>
                      </a:solidFill>
                      <a:prstDash val="solid"/>
                    </a:lnL>
                    <a:lnR w="0">
                      <a:noFill/>
                    </a:lnR>
                    <a:lnT w="0">
                      <a:noFill/>
                    </a:lnT>
                    <a:lnB w="9525" cap="flat" cmpd="sng">
                      <a:solidFill>
                        <a:srgbClr val="BCD8F1"/>
                      </a:solidFill>
                      <a:prstDash val="solid"/>
                    </a:lnB>
                    <a:solidFill>
                      <a:srgbClr val="FBE3DB"/>
                    </a:solidFill>
                  </a:tcPr>
                </a:tc>
              </a:tr>
              <a:tr h="566928">
                <a:tc>
                  <a:txBody>
                    <a:bodyPr wrap="square"/>
                    <a:lstStyle/>
                    <a:p>
                      <a:pPr algn="l">
                        <a:lnSpc>
                          <a:spcPct val="100000"/>
                        </a:lnSpc>
                      </a:pPr>
                      <a:r>
                        <a:rPr sz="1600" b="1">
                          <a:solidFill>
                            <a:srgbClr val="22304A"/>
                          </a:solidFill>
                          <a:latin typeface="Segoe UI"/>
                        </a:rPr>
                        <a:t>Conquer</a:t>
                      </a:r>
                    </a:p>
                  </a:txBody>
                  <a:tcPr marL="128016" marT="45720" marR="128016" marB="45720" anchor="ctr">
                    <a:lnL w="0">
                      <a:noFill/>
                    </a:lnL>
                    <a:lnR w="0">
                      <a:noFill/>
                    </a:lnR>
                    <a:lnT w="0">
                      <a:noFill/>
                    </a:lnT>
                    <a:lnB w="9525" cap="flat" cmpd="sng">
                      <a:solidFill>
                        <a:srgbClr val="BCD8F1"/>
                      </a:solidFill>
                      <a:prstDash val="solid"/>
                    </a:lnB>
                    <a:solidFill>
                      <a:srgbClr val="E8F2FB"/>
                    </a:solidFill>
                  </a:tcPr>
                </a:tc>
                <a:tc>
                  <a:txBody>
                    <a:bodyPr wrap="square"/>
                    <a:lstStyle/>
                    <a:p>
                      <a:pPr algn="l">
                        <a:lnSpc>
                          <a:spcPct val="100000"/>
                        </a:lnSpc>
                      </a:pPr>
                      <a:r>
                        <a:rPr sz="1600" b="0">
                          <a:solidFill>
                            <a:srgbClr val="22304A"/>
                          </a:solidFill>
                          <a:latin typeface="Segoe UI"/>
                        </a:rPr>
                        <a:t>Sort both halves recursively</a:t>
                      </a:r>
                    </a:p>
                  </a:txBody>
                  <a:tcPr marL="128016" marT="45720" marR="128016" marB="45720" anchor="ctr">
                    <a:lnL w="0">
                      <a:noFill/>
                    </a:lnL>
                    <a:lnR w="0">
                      <a:noFill/>
                    </a:lnR>
                    <a:lnT w="0">
                      <a:noFill/>
                    </a:lnT>
                    <a:lnB w="9525" cap="flat" cmpd="sng">
                      <a:solidFill>
                        <a:srgbClr val="BCD8F1"/>
                      </a:solidFill>
                      <a:prstDash val="solid"/>
                    </a:lnB>
                    <a:solidFill>
                      <a:srgbClr val="E8F2FB"/>
                    </a:solidFill>
                  </a:tcPr>
                </a:tc>
                <a:tc>
                  <a:txBody>
                    <a:bodyPr wrap="square"/>
                    <a:lstStyle/>
                    <a:p>
                      <a:pPr algn="l">
                        <a:lnSpc>
                          <a:spcPct val="100000"/>
                        </a:lnSpc>
                      </a:pPr>
                      <a:r>
                        <a:rPr sz="1600" b="0">
                          <a:solidFill>
                            <a:srgbClr val="22304A"/>
                          </a:solidFill>
                          <a:latin typeface="Segoe UI"/>
                        </a:rPr>
                        <a:t>Sort both parts recursively</a:t>
                      </a:r>
                    </a:p>
                  </a:txBody>
                  <a:tcPr marL="128016" marT="45720" marR="128016" marB="45720" anchor="ctr">
                    <a:lnL w="0">
                      <a:noFill/>
                    </a:lnL>
                    <a:lnR w="0">
                      <a:noFill/>
                    </a:lnR>
                    <a:lnT w="0">
                      <a:noFill/>
                    </a:lnT>
                    <a:lnB w="9525" cap="flat" cmpd="sng">
                      <a:solidFill>
                        <a:srgbClr val="BCD8F1"/>
                      </a:solidFill>
                      <a:prstDash val="solid"/>
                    </a:lnB>
                    <a:solidFill>
                      <a:srgbClr val="E8F2FB"/>
                    </a:solidFill>
                  </a:tcPr>
                </a:tc>
              </a:tr>
              <a:tr h="566928">
                <a:tc>
                  <a:txBody>
                    <a:bodyPr wrap="square"/>
                    <a:lstStyle/>
                    <a:p>
                      <a:pPr algn="l">
                        <a:lnSpc>
                          <a:spcPct val="100000"/>
                        </a:lnSpc>
                      </a:pPr>
                      <a:r>
                        <a:rPr sz="1600" b="1">
                          <a:solidFill>
                            <a:srgbClr val="22304A"/>
                          </a:solidFill>
                          <a:latin typeface="Segoe UI"/>
                        </a:rPr>
                        <a:t>Combine</a:t>
                      </a:r>
                    </a:p>
                  </a:txBody>
                  <a:tcPr marL="128016" marT="45720" marR="128016" marB="45720" anchor="ctr">
                    <a:lnL w="0">
                      <a:noFill/>
                    </a:lnL>
                    <a:lnR w="0">
                      <a:noFill/>
                    </a:lnR>
                    <a:lnT w="0">
                      <a:noFill/>
                    </a:lnT>
                    <a:lnB w="12700" cap="flat" cmpd="sng">
                      <a:solidFill>
                        <a:srgbClr val="4F8FCB"/>
                      </a:solidFill>
                      <a:prstDash val="solid"/>
                    </a:lnB>
                    <a:solidFill>
                      <a:srgbClr val="FFFFFF"/>
                    </a:solidFill>
                  </a:tcPr>
                </a:tc>
                <a:tc>
                  <a:txBody>
                    <a:bodyPr wrap="square"/>
                    <a:lstStyle/>
                    <a:p>
                      <a:pPr algn="l">
                        <a:lnSpc>
                          <a:spcPct val="100000"/>
                        </a:lnSpc>
                      </a:pPr>
                      <a:r>
                        <a:rPr sz="1600" b="1">
                          <a:solidFill>
                            <a:srgbClr val="22304A"/>
                          </a:solidFill>
                          <a:latin typeface="Segoe UI"/>
                        </a:rPr>
                        <a:t>The real work: merge two sorted halves</a:t>
                      </a:r>
                    </a:p>
                  </a:txBody>
                  <a:tcPr marL="128016" marT="45720" marR="128016" marB="45720" anchor="ctr">
                    <a:lnL w="57150" cap="flat" cmpd="sng">
                      <a:solidFill>
                        <a:srgbClr val="E07A5F"/>
                      </a:solidFill>
                      <a:prstDash val="solid"/>
                    </a:lnL>
                    <a:lnR w="0">
                      <a:noFill/>
                    </a:lnR>
                    <a:lnT w="0">
                      <a:noFill/>
                    </a:lnT>
                    <a:lnB w="12700" cap="flat" cmpd="sng">
                      <a:solidFill>
                        <a:srgbClr val="4F8FCB"/>
                      </a:solidFill>
                      <a:prstDash val="solid"/>
                    </a:lnB>
                    <a:solidFill>
                      <a:srgbClr val="FBE3DB"/>
                    </a:solidFill>
                  </a:tcPr>
                </a:tc>
                <a:tc>
                  <a:txBody>
                    <a:bodyPr wrap="square"/>
                    <a:lstStyle/>
                    <a:p>
                      <a:pPr algn="l">
                        <a:lnSpc>
                          <a:spcPct val="100000"/>
                        </a:lnSpc>
                      </a:pPr>
                      <a:r>
                        <a:rPr sz="1600" b="0">
                          <a:solidFill>
                            <a:srgbClr val="22304A"/>
                          </a:solidFill>
                          <a:latin typeface="Segoe UI"/>
                        </a:rPr>
                        <a:t>Nothing. The array is already in order</a:t>
                      </a:r>
                    </a:p>
                  </a:txBody>
                  <a:tcPr marL="128016" marT="45720" marR="128016" marB="45720" anchor="ctr">
                    <a:lnL w="0">
                      <a:noFill/>
                    </a:lnL>
                    <a:lnR w="0">
                      <a:noFill/>
                    </a:lnR>
                    <a:lnT w="0">
                      <a:noFill/>
                    </a:lnT>
                    <a:lnB w="12700" cap="flat" cmpd="sng">
                      <a:solidFill>
                        <a:srgbClr val="4F8FCB"/>
                      </a:solidFill>
                      <a:prstDash val="solid"/>
                    </a:lnB>
                    <a:solidFill>
                      <a:srgbClr val="FFFFFF"/>
                    </a:solidFill>
                  </a:tcPr>
                </a:tc>
              </a:tr>
            </a:tbl>
          </a:graphicData>
        </a:graphic>
      </p:graphicFrame>
      <p:sp>
        <p:nvSpPr>
          <p:cNvPr id="19" name="Rectangle 18"/>
          <p:cNvSpPr/>
          <p:nvPr/>
        </p:nvSpPr>
        <p:spPr>
          <a:xfrm>
            <a:off x="548640" y="5596128"/>
            <a:ext cx="11094415" cy="548640"/>
          </a:xfrm>
          <a:prstGeom prst="rect">
            <a:avLst/>
          </a:prstGeom>
          <a:noFill/>
          <a:ln>
            <a:noFill/>
          </a:ln>
        </p:spPr>
        <p:txBody>
          <a:bodyPr rtlCol="0" anchor="ctr" wrap="square" lIns="0" tIns="0" rIns="0" bIns="0">
            <a:noAutofit/>
          </a:bodyPr>
          <a:lstStyle/>
          <a:p>
            <a:pPr algn="l">
              <a:lnSpc>
                <a:spcPct val="100000"/>
              </a:lnSpc>
              <a:spcBef>
                <a:spcPts val="0"/>
              </a:spcBef>
              <a:spcAft>
                <a:spcPts val="0"/>
              </a:spcAft>
            </a:pPr>
            <a:r>
              <a:rPr sz="2200" b="1" i="0">
                <a:solidFill>
                  <a:srgbClr val="22304A"/>
                </a:solidFill>
                <a:latin typeface="Georgia"/>
              </a:rPr>
              <a:t>Quick sort moves the effort from combine to divide.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gradFill rotWithShape="1">
          <a:gsLst>
            <a:gs pos="0">
              <a:srgbClr val="DDEBFA"/>
            </a:gs>
            <a:gs pos="100000">
              <a:srgbClr val="FFEFE8"/>
            </a:gs>
          </a:gsLst>
          <a:lin scaled="0" ang="2700000"/>
        </a:gradFill>
        <a:effectLst/>
      </p:bgPr>
    </p:bg>
    <p:spTree>
      <p:nvGrpSpPr>
        <p:cNvPr id="1" name=""/>
        <p:cNvGrpSpPr/>
        <p:nvPr/>
      </p:nvGrpSpPr>
      <p:grpSpPr/>
      <p:sp>
        <p:nvSpPr>
          <p:cNvPr id="3" name="Rounded Rectangle 2"/>
          <p:cNvSpPr/>
          <p:nvPr/>
        </p:nvSpPr>
        <p:spPr>
          <a:xfrm>
            <a:off x="256032" y="182880"/>
            <a:ext cx="11679631" cy="6492240"/>
          </a:xfrm>
          <a:prstGeom prst="roundRect">
            <a:avLst>
              <a:gd name="adj" fmla="val 3943"/>
            </a:avLst>
          </a:prstGeom>
          <a:solidFill>
            <a:srgbClr val="FFFFFF"/>
          </a:solidFill>
          <a:ln w="9525">
            <a:solidFill>
              <a:srgbClr val="BCD8F1"/>
            </a:solidFill>
          </a:ln>
        </p:spPr>
        <p:txBody>
          <a:bodyPr rtlCol="0" anchor="ctr"/>
          <a:lstStyle/>
          <a:p>
            <a:pPr algn="ctr"/>
          </a:p>
        </p:txBody>
      </p:sp>
      <p:sp>
        <p:nvSpPr>
          <p:cNvPr id="2" name="Title 1"/>
          <p:cNvSpPr>
            <a:spLocks noGrp="1"/>
          </p:cNvSpPr>
          <p:nvPr>
            <p:ph type="title"/>
          </p:nvPr>
        </p:nvSpPr>
        <p:spPr>
          <a:xfrm>
            <a:off x="548640" y="566928"/>
            <a:ext cx="11094415" cy="658368"/>
          </a:xfrm>
        </p:spPr>
        <p:txBody>
          <a:bodyPr wrap="square" lIns="0" tIns="27432" rIns="0" bIns="27432" anchor="ctr">
            <a:noAutofit/>
          </a:bodyPr>
          <a:lstStyle/>
          <a:p>
            <a:pPr algn="l">
              <a:lnSpc>
                <a:spcPct val="100000"/>
              </a:lnSpc>
              <a:spcBef>
                <a:spcPts val="0"/>
              </a:spcBef>
              <a:spcAft>
                <a:spcPts val="0"/>
              </a:spcAft>
            </a:pPr>
            <a:r>
              <a:rPr sz="3000" b="1" i="0">
                <a:solidFill>
                  <a:srgbClr val="22304A"/>
                </a:solidFill>
                <a:latin typeface="Georgia"/>
              </a:rPr>
              <a:t>Two pointers, one swap, one pivot home</a:t>
            </a:r>
          </a:p>
        </p:txBody>
      </p:sp>
      <p:sp>
        <p:nvSpPr>
          <p:cNvPr id="4" name="Rectangle 3"/>
          <p:cNvSpPr/>
          <p:nvPr/>
        </p:nvSpPr>
        <p:spPr>
          <a:xfrm>
            <a:off x="548640" y="310896"/>
            <a:ext cx="8229600" cy="246888"/>
          </a:xfrm>
          <a:prstGeom prst="rect">
            <a:avLst/>
          </a:prstGeom>
          <a:noFill/>
          <a:ln>
            <a:noFill/>
          </a:ln>
        </p:spPr>
        <p:txBody>
          <a:bodyPr rtlCol="0" anchor="ctr" wrap="none" lIns="0" tIns="0" rIns="0" bIns="0">
            <a:noAutofit/>
          </a:bodyPr>
          <a:lstStyle/>
          <a:p>
            <a:pPr algn="l">
              <a:lnSpc>
                <a:spcPct val="100000"/>
              </a:lnSpc>
              <a:spcBef>
                <a:spcPts val="0"/>
              </a:spcBef>
              <a:spcAft>
                <a:spcPts val="0"/>
              </a:spcAft>
            </a:pPr>
            <a:r>
              <a:rPr sz="1100" b="1" i="0" spc="150">
                <a:solidFill>
                  <a:srgbClr val="4F8FCB"/>
                </a:solidFill>
                <a:latin typeface="Segoe UI"/>
              </a:rPr>
              <a:t>CHAPTER 2 · THE MOVE</a:t>
            </a:r>
          </a:p>
        </p:txBody>
      </p:sp>
      <p:sp>
        <p:nvSpPr>
          <p:cNvPr id="5" name="Rectangle 4"/>
          <p:cNvSpPr/>
          <p:nvPr/>
        </p:nvSpPr>
        <p:spPr>
          <a:xfrm>
            <a:off x="548640" y="1280160"/>
            <a:ext cx="1097280" cy="54864"/>
          </a:xfrm>
          <a:prstGeom prst="rect">
            <a:avLst/>
          </a:prstGeom>
          <a:solidFill>
            <a:srgbClr val="F3A08A"/>
          </a:solidFill>
          <a:ln>
            <a:noFill/>
          </a:ln>
        </p:spPr>
        <p:txBody>
          <a:bodyPr rtlCol="0" anchor="ctr"/>
          <a:lstStyle/>
          <a:p>
            <a:pPr algn="ctr"/>
          </a:p>
        </p:txBody>
      </p:sp>
      <p:cxnSp>
        <p:nvCxnSpPr>
          <p:cNvPr id="6" name="Connector 5"/>
          <p:cNvCxnSpPr/>
          <p:nvPr/>
        </p:nvCxnSpPr>
        <p:spPr>
          <a:xfrm>
            <a:off x="548640" y="6309360"/>
            <a:ext cx="11094415" cy="0"/>
          </a:xfrm>
          <a:prstGeom prst="line">
            <a:avLst/>
          </a:prstGeom>
          <a:ln w="9525">
            <a:solidFill>
              <a:srgbClr val="BCD8F1"/>
            </a:solidFill>
          </a:ln>
        </p:spPr>
      </p:cxnSp>
      <p:sp>
        <p:nvSpPr>
          <p:cNvPr id="7" name="Rectangle 6"/>
          <p:cNvSpPr/>
          <p:nvPr/>
        </p:nvSpPr>
        <p:spPr>
          <a:xfrm>
            <a:off x="548640" y="6364224"/>
            <a:ext cx="5486400" cy="246888"/>
          </a:xfrm>
          <a:prstGeom prst="rect">
            <a:avLst/>
          </a:prstGeom>
          <a:noFill/>
          <a:ln>
            <a:noFill/>
          </a:ln>
        </p:spPr>
        <p:txBody>
          <a:bodyPr rtlCol="0" anchor="ctr" wrap="none" lIns="0" tIns="0" rIns="0" bIns="0">
            <a:noAutofit/>
          </a:bodyPr>
          <a:lstStyle/>
          <a:p>
            <a:pPr algn="l">
              <a:lnSpc>
                <a:spcPct val="100000"/>
              </a:lnSpc>
              <a:spcBef>
                <a:spcPts val="0"/>
              </a:spcBef>
              <a:spcAft>
                <a:spcPts val="0"/>
              </a:spcAft>
            </a:pPr>
            <a:r>
              <a:rPr sz="1100" b="0" i="0">
                <a:solidFill>
                  <a:srgbClr val="66758C"/>
                </a:solidFill>
                <a:latin typeface="Segoe UI"/>
              </a:rPr>
              <a:t>Quick Sort  ·  DAA Unit 2</a:t>
            </a:r>
          </a:p>
        </p:txBody>
      </p:sp>
      <p:sp>
        <p:nvSpPr>
          <p:cNvPr id="8" name="Rectangle 7"/>
          <p:cNvSpPr/>
          <p:nvPr/>
        </p:nvSpPr>
        <p:spPr>
          <a:xfrm>
            <a:off x="10271455" y="6364224"/>
            <a:ext cx="1371600" cy="246888"/>
          </a:xfrm>
          <a:prstGeom prst="rect">
            <a:avLst/>
          </a:prstGeom>
          <a:noFill/>
          <a:ln>
            <a:noFill/>
          </a:ln>
        </p:spPr>
        <p:txBody>
          <a:bodyPr rtlCol="0" anchor="ctr" wrap="none" lIns="0" tIns="0" rIns="0" bIns="0">
            <a:noAutofit/>
          </a:bodyPr>
          <a:lstStyle/>
          <a:p>
            <a:pPr algn="r">
              <a:lnSpc>
                <a:spcPct val="100000"/>
              </a:lnSpc>
              <a:spcBef>
                <a:spcPts val="0"/>
              </a:spcBef>
              <a:spcAft>
                <a:spcPts val="0"/>
              </a:spcAft>
            </a:pPr>
            <a:r>
              <a:rPr sz="1100" b="0" i="0">
                <a:solidFill>
                  <a:srgbClr val="66758C"/>
                </a:solidFill>
                <a:latin typeface="Segoe UI"/>
              </a:rPr>
              <a:t>3</a:t>
            </a:r>
          </a:p>
        </p:txBody>
      </p:sp>
      <p:sp>
        <p:nvSpPr>
          <p:cNvPr id="9" name="Rounded Rectangle 8"/>
          <p:cNvSpPr/>
          <p:nvPr/>
        </p:nvSpPr>
        <p:spPr>
          <a:xfrm>
            <a:off x="548640" y="1645920"/>
            <a:ext cx="6583680" cy="3337560"/>
          </a:xfrm>
          <a:prstGeom prst="roundRect">
            <a:avLst>
              <a:gd name="adj" fmla="val 3287"/>
            </a:avLst>
          </a:prstGeom>
          <a:solidFill>
            <a:srgbClr val="E8F2FB"/>
          </a:solidFill>
          <a:ln>
            <a:noFill/>
          </a:ln>
        </p:spPr>
        <p:txBody>
          <a:bodyPr rtlCol="0" anchor="ctr"/>
          <a:lstStyle/>
          <a:p>
            <a:pPr algn="ctr"/>
          </a:p>
        </p:txBody>
      </p:sp>
      <p:sp>
        <p:nvSpPr>
          <p:cNvPr id="10" name="Rectangle 9"/>
          <p:cNvSpPr/>
          <p:nvPr/>
        </p:nvSpPr>
        <p:spPr>
          <a:xfrm>
            <a:off x="548640" y="1645920"/>
            <a:ext cx="82296" cy="3337560"/>
          </a:xfrm>
          <a:prstGeom prst="rect">
            <a:avLst/>
          </a:prstGeom>
          <a:solidFill>
            <a:srgbClr val="4F8FCB"/>
          </a:solidFill>
          <a:ln>
            <a:noFill/>
          </a:ln>
        </p:spPr>
        <p:txBody>
          <a:bodyPr rtlCol="0" anchor="ctr"/>
          <a:lstStyle/>
          <a:p>
            <a:pPr algn="ctr"/>
          </a:p>
        </p:txBody>
      </p:sp>
      <p:sp>
        <p:nvSpPr>
          <p:cNvPr id="11" name="Rectangle 10"/>
          <p:cNvSpPr/>
          <p:nvPr/>
        </p:nvSpPr>
        <p:spPr>
          <a:xfrm>
            <a:off x="822959" y="1691640"/>
            <a:ext cx="6126480" cy="3246120"/>
          </a:xfrm>
          <a:prstGeom prst="rect">
            <a:avLst/>
          </a:prstGeom>
          <a:noFill/>
          <a:ln>
            <a:noFill/>
          </a:ln>
        </p:spPr>
        <p:txBody>
          <a:bodyPr rtlCol="0" anchor="ctr" wrap="square" lIns="45720" rIns="45720">
            <a:noAutofit/>
          </a:bodyPr>
          <a:lstStyle/>
          <a:p>
            <a:pPr algn="l">
              <a:lnSpc>
                <a:spcPct val="100000"/>
              </a:lnSpc>
              <a:spcBef>
                <a:spcPts val="0"/>
              </a:spcBef>
              <a:spcAft>
                <a:spcPts val="200"/>
              </a:spcAft>
            </a:pPr>
            <a:r>
              <a:rPr sz="1600" b="0" i="0">
                <a:solidFill>
                  <a:srgbClr val="66758C"/>
                </a:solidFill>
                <a:latin typeface="Consolas"/>
              </a:rPr>
              <a:t> 1  </a:t>
            </a:r>
            <a:r>
              <a:rPr sz="1600" b="1" i="0">
                <a:solidFill>
                  <a:srgbClr val="22304A"/>
                </a:solidFill>
                <a:latin typeface="Consolas"/>
              </a:rPr>
              <a:t>Partition(A, low, high)</a:t>
            </a:r>
          </a:p>
          <a:p>
            <a:pPr algn="l">
              <a:lnSpc>
                <a:spcPct val="100000"/>
              </a:lnSpc>
              <a:spcBef>
                <a:spcPts val="0"/>
              </a:spcBef>
              <a:spcAft>
                <a:spcPts val="200"/>
              </a:spcAft>
            </a:pPr>
            <a:r>
              <a:rPr sz="1600" b="0" i="0">
                <a:solidFill>
                  <a:srgbClr val="66758C"/>
                </a:solidFill>
                <a:latin typeface="Consolas"/>
              </a:rPr>
              <a:t> 2  </a:t>
            </a:r>
            <a:r>
              <a:rPr sz="1600" b="0" i="0">
                <a:solidFill>
                  <a:srgbClr val="22304A"/>
                </a:solidFill>
                <a:latin typeface="Consolas"/>
              </a:rPr>
              <a:t>  pivot = A[low]</a:t>
            </a:r>
          </a:p>
          <a:p>
            <a:pPr algn="l">
              <a:lnSpc>
                <a:spcPct val="100000"/>
              </a:lnSpc>
              <a:spcBef>
                <a:spcPts val="0"/>
              </a:spcBef>
              <a:spcAft>
                <a:spcPts val="200"/>
              </a:spcAft>
            </a:pPr>
            <a:r>
              <a:rPr sz="1600" b="0" i="0">
                <a:solidFill>
                  <a:srgbClr val="66758C"/>
                </a:solidFill>
                <a:latin typeface="Consolas"/>
              </a:rPr>
              <a:t> 3  </a:t>
            </a:r>
            <a:r>
              <a:rPr sz="1600" b="0" i="0">
                <a:solidFill>
                  <a:srgbClr val="22304A"/>
                </a:solidFill>
                <a:latin typeface="Consolas"/>
              </a:rPr>
              <a:t>  i = low + 1</a:t>
            </a:r>
          </a:p>
          <a:p>
            <a:pPr algn="l">
              <a:lnSpc>
                <a:spcPct val="100000"/>
              </a:lnSpc>
              <a:spcBef>
                <a:spcPts val="0"/>
              </a:spcBef>
              <a:spcAft>
                <a:spcPts val="200"/>
              </a:spcAft>
            </a:pPr>
            <a:r>
              <a:rPr sz="1600" b="0" i="0">
                <a:solidFill>
                  <a:srgbClr val="66758C"/>
                </a:solidFill>
                <a:latin typeface="Consolas"/>
              </a:rPr>
              <a:t> 4  </a:t>
            </a:r>
            <a:r>
              <a:rPr sz="1600" b="0" i="0">
                <a:solidFill>
                  <a:srgbClr val="22304A"/>
                </a:solidFill>
                <a:latin typeface="Consolas"/>
              </a:rPr>
              <a:t>  j = high</a:t>
            </a:r>
          </a:p>
          <a:p>
            <a:pPr algn="l">
              <a:lnSpc>
                <a:spcPct val="100000"/>
              </a:lnSpc>
              <a:spcBef>
                <a:spcPts val="0"/>
              </a:spcBef>
              <a:spcAft>
                <a:spcPts val="200"/>
              </a:spcAft>
            </a:pPr>
            <a:r>
              <a:rPr sz="1600" b="0" i="0">
                <a:solidFill>
                  <a:srgbClr val="66758C"/>
                </a:solidFill>
                <a:latin typeface="Consolas"/>
              </a:rPr>
              <a:t> 5  </a:t>
            </a:r>
            <a:r>
              <a:rPr sz="1600" b="0" i="0">
                <a:solidFill>
                  <a:srgbClr val="22304A"/>
                </a:solidFill>
                <a:latin typeface="Consolas"/>
              </a:rPr>
              <a:t>  while true</a:t>
            </a:r>
          </a:p>
          <a:p>
            <a:pPr algn="l">
              <a:lnSpc>
                <a:spcPct val="100000"/>
              </a:lnSpc>
              <a:spcBef>
                <a:spcPts val="0"/>
              </a:spcBef>
              <a:spcAft>
                <a:spcPts val="200"/>
              </a:spcAft>
            </a:pPr>
            <a:r>
              <a:rPr sz="1600" b="0" i="0">
                <a:solidFill>
                  <a:srgbClr val="66758C"/>
                </a:solidFill>
                <a:latin typeface="Consolas"/>
              </a:rPr>
              <a:t> 6  </a:t>
            </a:r>
            <a:r>
              <a:rPr sz="1600" b="0" i="0">
                <a:solidFill>
                  <a:srgbClr val="22304A"/>
                </a:solidFill>
                <a:latin typeface="Consolas"/>
              </a:rPr>
              <a:t>    while A[i] &lt;= pivot: i++</a:t>
            </a:r>
          </a:p>
          <a:p>
            <a:pPr algn="l">
              <a:lnSpc>
                <a:spcPct val="100000"/>
              </a:lnSpc>
              <a:spcBef>
                <a:spcPts val="0"/>
              </a:spcBef>
              <a:spcAft>
                <a:spcPts val="200"/>
              </a:spcAft>
            </a:pPr>
            <a:r>
              <a:rPr sz="1600" b="0" i="0">
                <a:solidFill>
                  <a:srgbClr val="66758C"/>
                </a:solidFill>
                <a:latin typeface="Consolas"/>
              </a:rPr>
              <a:t> 7  </a:t>
            </a:r>
            <a:r>
              <a:rPr sz="1600" b="0" i="0">
                <a:solidFill>
                  <a:srgbClr val="22304A"/>
                </a:solidFill>
                <a:latin typeface="Consolas"/>
              </a:rPr>
              <a:t>    while A[j] &gt;  pivot: j--</a:t>
            </a:r>
          </a:p>
          <a:p>
            <a:pPr algn="l">
              <a:lnSpc>
                <a:spcPct val="100000"/>
              </a:lnSpc>
              <a:spcBef>
                <a:spcPts val="0"/>
              </a:spcBef>
              <a:spcAft>
                <a:spcPts val="200"/>
              </a:spcAft>
            </a:pPr>
            <a:r>
              <a:rPr sz="1600" b="0" i="0">
                <a:solidFill>
                  <a:srgbClr val="66758C"/>
                </a:solidFill>
                <a:latin typeface="Consolas"/>
              </a:rPr>
              <a:t> 8  </a:t>
            </a:r>
            <a:r>
              <a:rPr sz="1600" b="0" i="0">
                <a:solidFill>
                  <a:srgbClr val="22304A"/>
                </a:solidFill>
                <a:latin typeface="Consolas"/>
              </a:rPr>
              <a:t>    if i &lt; j: swap(A[i], A[j])</a:t>
            </a:r>
          </a:p>
          <a:p>
            <a:pPr algn="l">
              <a:lnSpc>
                <a:spcPct val="100000"/>
              </a:lnSpc>
              <a:spcBef>
                <a:spcPts val="0"/>
              </a:spcBef>
              <a:spcAft>
                <a:spcPts val="200"/>
              </a:spcAft>
            </a:pPr>
            <a:r>
              <a:rPr sz="1600" b="0" i="0">
                <a:solidFill>
                  <a:srgbClr val="66758C"/>
                </a:solidFill>
                <a:latin typeface="Consolas"/>
              </a:rPr>
              <a:t> 9  </a:t>
            </a:r>
            <a:r>
              <a:rPr sz="1600" b="0" i="0">
                <a:solidFill>
                  <a:srgbClr val="22304A"/>
                </a:solidFill>
                <a:latin typeface="Consolas"/>
              </a:rPr>
              <a:t>    else: break</a:t>
            </a:r>
          </a:p>
          <a:p>
            <a:pPr algn="l">
              <a:lnSpc>
                <a:spcPct val="100000"/>
              </a:lnSpc>
              <a:spcBef>
                <a:spcPts val="0"/>
              </a:spcBef>
              <a:spcAft>
                <a:spcPts val="200"/>
              </a:spcAft>
            </a:pPr>
            <a:r>
              <a:rPr sz="1600" b="0" i="0">
                <a:solidFill>
                  <a:srgbClr val="66758C"/>
                </a:solidFill>
                <a:latin typeface="Consolas"/>
              </a:rPr>
              <a:t>10  </a:t>
            </a:r>
            <a:r>
              <a:rPr sz="1600" b="0" i="0">
                <a:solidFill>
                  <a:srgbClr val="22304A"/>
                </a:solidFill>
                <a:latin typeface="Consolas"/>
              </a:rPr>
              <a:t>  swap(A[low], A[j])</a:t>
            </a:r>
          </a:p>
          <a:p>
            <a:pPr algn="l">
              <a:lnSpc>
                <a:spcPct val="100000"/>
              </a:lnSpc>
              <a:spcBef>
                <a:spcPts val="0"/>
              </a:spcBef>
              <a:spcAft>
                <a:spcPts val="200"/>
              </a:spcAft>
            </a:pPr>
            <a:r>
              <a:rPr sz="1600" b="0" i="0">
                <a:solidFill>
                  <a:srgbClr val="66758C"/>
                </a:solidFill>
                <a:latin typeface="Consolas"/>
              </a:rPr>
              <a:t>11  </a:t>
            </a:r>
            <a:r>
              <a:rPr sz="1600" b="0" i="0">
                <a:solidFill>
                  <a:srgbClr val="22304A"/>
                </a:solidFill>
                <a:latin typeface="Consolas"/>
              </a:rPr>
              <a:t>  return j</a:t>
            </a:r>
          </a:p>
        </p:txBody>
      </p:sp>
      <p:sp>
        <p:nvSpPr>
          <p:cNvPr id="12" name="Rounded Rectangle 11"/>
          <p:cNvSpPr/>
          <p:nvPr/>
        </p:nvSpPr>
        <p:spPr>
          <a:xfrm>
            <a:off x="7406640" y="1801368"/>
            <a:ext cx="868680" cy="457200"/>
          </a:xfrm>
          <a:prstGeom prst="roundRect">
            <a:avLst>
              <a:gd name="adj" fmla="val 20000"/>
            </a:avLst>
          </a:prstGeom>
          <a:solidFill>
            <a:srgbClr val="BCD8F1"/>
          </a:solidFill>
          <a:ln>
            <a:noFill/>
          </a:ln>
        </p:spPr>
        <p:txBody>
          <a:bodyPr rtlCol="0" anchor="ctr" wrap="square" lIns="0" tIns="0" rIns="0" bIns="0">
            <a:noAutofit/>
          </a:bodyPr>
          <a:lstStyle/>
          <a:p>
            <a:pPr algn="ctr">
              <a:lnSpc>
                <a:spcPct val="100000"/>
              </a:lnSpc>
              <a:spcBef>
                <a:spcPts val="0"/>
              </a:spcBef>
              <a:spcAft>
                <a:spcPts val="0"/>
              </a:spcAft>
            </a:pPr>
            <a:r>
              <a:rPr sz="1600" b="1" i="0">
                <a:solidFill>
                  <a:srgbClr val="22304A"/>
                </a:solidFill>
                <a:latin typeface="Consolas"/>
              </a:rPr>
              <a:t>i</a:t>
            </a:r>
          </a:p>
        </p:txBody>
      </p:sp>
      <p:sp>
        <p:nvSpPr>
          <p:cNvPr id="13" name="Rectangle 12"/>
          <p:cNvSpPr/>
          <p:nvPr/>
        </p:nvSpPr>
        <p:spPr>
          <a:xfrm>
            <a:off x="8412480" y="1645920"/>
            <a:ext cx="3227832" cy="777240"/>
          </a:xfrm>
          <a:prstGeom prst="rect">
            <a:avLst/>
          </a:prstGeom>
          <a:noFill/>
          <a:ln>
            <a:noFill/>
          </a:ln>
        </p:spPr>
        <p:txBody>
          <a:bodyPr rtlCol="0" anchor="ctr" wrap="square" lIns="0" tIns="0" rIns="0" bIns="0">
            <a:noAutofit/>
          </a:bodyPr>
          <a:lstStyle/>
          <a:p>
            <a:pPr algn="l">
              <a:lnSpc>
                <a:spcPct val="100000"/>
              </a:lnSpc>
              <a:spcBef>
                <a:spcPts val="0"/>
              </a:spcBef>
              <a:spcAft>
                <a:spcPts val="0"/>
              </a:spcAft>
            </a:pPr>
            <a:r>
              <a:rPr sz="1500" b="0" i="0">
                <a:solidFill>
                  <a:srgbClr val="22304A"/>
                </a:solidFill>
                <a:latin typeface="Segoe UI"/>
              </a:rPr>
              <a:t>Scans right. Stops at the first element greater than the pivot.</a:t>
            </a:r>
          </a:p>
        </p:txBody>
      </p:sp>
      <p:sp>
        <p:nvSpPr>
          <p:cNvPr id="14" name="Rounded Rectangle 13"/>
          <p:cNvSpPr/>
          <p:nvPr/>
        </p:nvSpPr>
        <p:spPr>
          <a:xfrm>
            <a:off x="7406640" y="2642616"/>
            <a:ext cx="868680" cy="457200"/>
          </a:xfrm>
          <a:prstGeom prst="roundRect">
            <a:avLst>
              <a:gd name="adj" fmla="val 20000"/>
            </a:avLst>
          </a:prstGeom>
          <a:solidFill>
            <a:srgbClr val="BCD8F1"/>
          </a:solidFill>
          <a:ln>
            <a:noFill/>
          </a:ln>
        </p:spPr>
        <p:txBody>
          <a:bodyPr rtlCol="0" anchor="ctr" wrap="square" lIns="0" tIns="0" rIns="0" bIns="0">
            <a:noAutofit/>
          </a:bodyPr>
          <a:lstStyle/>
          <a:p>
            <a:pPr algn="ctr">
              <a:lnSpc>
                <a:spcPct val="100000"/>
              </a:lnSpc>
              <a:spcBef>
                <a:spcPts val="0"/>
              </a:spcBef>
              <a:spcAft>
                <a:spcPts val="0"/>
              </a:spcAft>
            </a:pPr>
            <a:r>
              <a:rPr sz="1600" b="1" i="0">
                <a:solidFill>
                  <a:srgbClr val="22304A"/>
                </a:solidFill>
                <a:latin typeface="Consolas"/>
              </a:rPr>
              <a:t>j</a:t>
            </a:r>
          </a:p>
        </p:txBody>
      </p:sp>
      <p:sp>
        <p:nvSpPr>
          <p:cNvPr id="15" name="Rectangle 14"/>
          <p:cNvSpPr/>
          <p:nvPr/>
        </p:nvSpPr>
        <p:spPr>
          <a:xfrm>
            <a:off x="8412480" y="2487168"/>
            <a:ext cx="3227832" cy="777240"/>
          </a:xfrm>
          <a:prstGeom prst="rect">
            <a:avLst/>
          </a:prstGeom>
          <a:noFill/>
          <a:ln>
            <a:noFill/>
          </a:ln>
        </p:spPr>
        <p:txBody>
          <a:bodyPr rtlCol="0" anchor="ctr" wrap="square" lIns="0" tIns="0" rIns="0" bIns="0">
            <a:noAutofit/>
          </a:bodyPr>
          <a:lstStyle/>
          <a:p>
            <a:pPr algn="l">
              <a:lnSpc>
                <a:spcPct val="100000"/>
              </a:lnSpc>
              <a:spcBef>
                <a:spcPts val="0"/>
              </a:spcBef>
              <a:spcAft>
                <a:spcPts val="0"/>
              </a:spcAft>
            </a:pPr>
            <a:r>
              <a:rPr sz="1500" b="0" i="0">
                <a:solidFill>
                  <a:srgbClr val="22304A"/>
                </a:solidFill>
                <a:latin typeface="Segoe UI"/>
              </a:rPr>
              <a:t>Scans left. Stops at the first element not greater than the pivot.</a:t>
            </a:r>
          </a:p>
        </p:txBody>
      </p:sp>
      <p:sp>
        <p:nvSpPr>
          <p:cNvPr id="16" name="Rounded Rectangle 15"/>
          <p:cNvSpPr/>
          <p:nvPr/>
        </p:nvSpPr>
        <p:spPr>
          <a:xfrm>
            <a:off x="7406640" y="3483864"/>
            <a:ext cx="868680" cy="457200"/>
          </a:xfrm>
          <a:prstGeom prst="roundRect">
            <a:avLst>
              <a:gd name="adj" fmla="val 20000"/>
            </a:avLst>
          </a:prstGeom>
          <a:solidFill>
            <a:srgbClr val="BCD8F1"/>
          </a:solidFill>
          <a:ln>
            <a:noFill/>
          </a:ln>
        </p:spPr>
        <p:txBody>
          <a:bodyPr rtlCol="0" anchor="ctr" wrap="square" lIns="0" tIns="0" rIns="0" bIns="0">
            <a:noAutofit/>
          </a:bodyPr>
          <a:lstStyle/>
          <a:p>
            <a:pPr algn="ctr">
              <a:lnSpc>
                <a:spcPct val="100000"/>
              </a:lnSpc>
              <a:spcBef>
                <a:spcPts val="0"/>
              </a:spcBef>
              <a:spcAft>
                <a:spcPts val="0"/>
              </a:spcAft>
            </a:pPr>
            <a:r>
              <a:rPr sz="1600" b="1" i="0">
                <a:solidFill>
                  <a:srgbClr val="22304A"/>
                </a:solidFill>
                <a:latin typeface="Consolas"/>
              </a:rPr>
              <a:t>swap</a:t>
            </a:r>
          </a:p>
        </p:txBody>
      </p:sp>
      <p:sp>
        <p:nvSpPr>
          <p:cNvPr id="17" name="Rectangle 16"/>
          <p:cNvSpPr/>
          <p:nvPr/>
        </p:nvSpPr>
        <p:spPr>
          <a:xfrm>
            <a:off x="8412480" y="3328416"/>
            <a:ext cx="3227832" cy="777240"/>
          </a:xfrm>
          <a:prstGeom prst="rect">
            <a:avLst/>
          </a:prstGeom>
          <a:noFill/>
          <a:ln>
            <a:noFill/>
          </a:ln>
        </p:spPr>
        <p:txBody>
          <a:bodyPr rtlCol="0" anchor="ctr" wrap="square" lIns="0" tIns="0" rIns="0" bIns="0">
            <a:noAutofit/>
          </a:bodyPr>
          <a:lstStyle/>
          <a:p>
            <a:pPr algn="l">
              <a:lnSpc>
                <a:spcPct val="100000"/>
              </a:lnSpc>
              <a:spcBef>
                <a:spcPts val="0"/>
              </a:spcBef>
              <a:spcAft>
                <a:spcPts val="0"/>
              </a:spcAft>
            </a:pPr>
            <a:r>
              <a:rPr sz="1500" b="0" i="0">
                <a:solidFill>
                  <a:srgbClr val="22304A"/>
                </a:solidFill>
                <a:latin typeface="Segoe UI"/>
              </a:rPr>
              <a:t>If i &lt; j, swap A[i] and A[j], then keep scanning.</a:t>
            </a:r>
          </a:p>
        </p:txBody>
      </p:sp>
      <p:sp>
        <p:nvSpPr>
          <p:cNvPr id="18" name="Rounded Rectangle 17"/>
          <p:cNvSpPr/>
          <p:nvPr/>
        </p:nvSpPr>
        <p:spPr>
          <a:xfrm>
            <a:off x="7406640" y="4325112"/>
            <a:ext cx="868680" cy="457200"/>
          </a:xfrm>
          <a:prstGeom prst="roundRect">
            <a:avLst>
              <a:gd name="adj" fmla="val 20000"/>
            </a:avLst>
          </a:prstGeom>
          <a:solidFill>
            <a:srgbClr val="F3A08A"/>
          </a:solidFill>
          <a:ln>
            <a:noFill/>
          </a:ln>
        </p:spPr>
        <p:txBody>
          <a:bodyPr rtlCol="0" anchor="ctr" wrap="square" lIns="0" tIns="0" rIns="0" bIns="0">
            <a:noAutofit/>
          </a:bodyPr>
          <a:lstStyle/>
          <a:p>
            <a:pPr algn="ctr">
              <a:lnSpc>
                <a:spcPct val="100000"/>
              </a:lnSpc>
              <a:spcBef>
                <a:spcPts val="0"/>
              </a:spcBef>
              <a:spcAft>
                <a:spcPts val="0"/>
              </a:spcAft>
            </a:pPr>
            <a:r>
              <a:rPr sz="1600" b="1" i="0">
                <a:solidFill>
                  <a:srgbClr val="22304A"/>
                </a:solidFill>
                <a:latin typeface="Consolas"/>
              </a:rPr>
              <a:t>end</a:t>
            </a:r>
          </a:p>
        </p:txBody>
      </p:sp>
      <p:sp>
        <p:nvSpPr>
          <p:cNvPr id="19" name="Rectangle 18"/>
          <p:cNvSpPr/>
          <p:nvPr/>
        </p:nvSpPr>
        <p:spPr>
          <a:xfrm>
            <a:off x="8412480" y="4169664"/>
            <a:ext cx="3227832" cy="777240"/>
          </a:xfrm>
          <a:prstGeom prst="rect">
            <a:avLst/>
          </a:prstGeom>
          <a:noFill/>
          <a:ln>
            <a:noFill/>
          </a:ln>
        </p:spPr>
        <p:txBody>
          <a:bodyPr rtlCol="0" anchor="ctr" wrap="square" lIns="0" tIns="0" rIns="0" bIns="0">
            <a:noAutofit/>
          </a:bodyPr>
          <a:lstStyle/>
          <a:p>
            <a:pPr algn="l">
              <a:lnSpc>
                <a:spcPct val="100000"/>
              </a:lnSpc>
              <a:spcBef>
                <a:spcPts val="0"/>
              </a:spcBef>
              <a:spcAft>
                <a:spcPts val="0"/>
              </a:spcAft>
            </a:pPr>
            <a:r>
              <a:rPr sz="1500" b="0" i="0">
                <a:solidFill>
                  <a:srgbClr val="22304A"/>
                </a:solidFill>
                <a:latin typeface="Segoe UI"/>
              </a:rPr>
              <a:t>Once they cross, swap the pivot into A[j]. That index is final.</a:t>
            </a:r>
          </a:p>
        </p:txBody>
      </p:sp>
      <p:sp>
        <p:nvSpPr>
          <p:cNvPr id="20" name="Rounded Rectangle 19"/>
          <p:cNvSpPr/>
          <p:nvPr/>
        </p:nvSpPr>
        <p:spPr>
          <a:xfrm>
            <a:off x="548640" y="5166360"/>
            <a:ext cx="11094415" cy="1005840"/>
          </a:xfrm>
          <a:prstGeom prst="roundRect">
            <a:avLst>
              <a:gd name="adj" fmla="val 10909"/>
            </a:avLst>
          </a:prstGeom>
          <a:solidFill>
            <a:srgbClr val="FBE3DB"/>
          </a:solidFill>
          <a:ln>
            <a:noFill/>
          </a:ln>
        </p:spPr>
        <p:txBody>
          <a:bodyPr rtlCol="0" anchor="ctr"/>
          <a:lstStyle/>
          <a:p>
            <a:pPr algn="ctr"/>
          </a:p>
        </p:txBody>
      </p:sp>
      <p:sp>
        <p:nvSpPr>
          <p:cNvPr id="21" name="Rectangle 20"/>
          <p:cNvSpPr/>
          <p:nvPr/>
        </p:nvSpPr>
        <p:spPr>
          <a:xfrm>
            <a:off x="548640" y="5166360"/>
            <a:ext cx="82296" cy="1005840"/>
          </a:xfrm>
          <a:prstGeom prst="rect">
            <a:avLst/>
          </a:prstGeom>
          <a:solidFill>
            <a:srgbClr val="E07A5F"/>
          </a:solidFill>
          <a:ln>
            <a:noFill/>
          </a:ln>
        </p:spPr>
        <p:txBody>
          <a:bodyPr rtlCol="0" anchor="ctr"/>
          <a:lstStyle/>
          <a:p>
            <a:pPr algn="ctr"/>
          </a:p>
        </p:txBody>
      </p:sp>
      <p:sp>
        <p:nvSpPr>
          <p:cNvPr id="22" name="Rectangle 21"/>
          <p:cNvSpPr/>
          <p:nvPr/>
        </p:nvSpPr>
        <p:spPr>
          <a:xfrm>
            <a:off x="822959" y="5193792"/>
            <a:ext cx="10637215" cy="950976"/>
          </a:xfrm>
          <a:prstGeom prst="rect">
            <a:avLst/>
          </a:prstGeom>
          <a:noFill/>
          <a:ln>
            <a:noFill/>
          </a:ln>
        </p:spPr>
        <p:txBody>
          <a:bodyPr rtlCol="0" anchor="ctr" wrap="square" lIns="45720" tIns="18288" rIns="45720" bIns="18288">
            <a:noAutofit/>
          </a:bodyPr>
          <a:lstStyle/>
          <a:p>
            <a:pPr algn="l">
              <a:lnSpc>
                <a:spcPct val="100000"/>
              </a:lnSpc>
              <a:spcBef>
                <a:spcPts val="0"/>
              </a:spcBef>
              <a:spcAft>
                <a:spcPts val="0"/>
              </a:spcAft>
            </a:pPr>
            <a:r>
              <a:rPr sz="1500" b="1" i="0">
                <a:solidFill>
                  <a:srgbClr val="22304A"/>
                </a:solidFill>
                <a:latin typeface="Segoe UI"/>
              </a:rPr>
              <a:t>Plot twist: a bounds bug in the notes. </a:t>
            </a:r>
            <a:r>
              <a:rPr sz="1500" b="0" i="0">
                <a:solidFill>
                  <a:srgbClr val="22304A"/>
                </a:solidFill>
                <a:latin typeface="Segoe UI"/>
              </a:rPr>
              <a:t>If the pivot is the largest value, i runs past the end: on [85 80 75 70] (indices 5 to 8) it reads A[9]. Fix: </a:t>
            </a:r>
            <a:r>
              <a:rPr sz="1400" b="1" i="0">
                <a:solidFill>
                  <a:srgbClr val="22304A"/>
                </a:solidFill>
                <a:latin typeface="Consolas"/>
              </a:rPr>
              <a:t>while i &lt;= high and A[i] &lt;= pivot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gradFill rotWithShape="1">
          <a:gsLst>
            <a:gs pos="0">
              <a:srgbClr val="DDEBFA"/>
            </a:gs>
            <a:gs pos="100000">
              <a:srgbClr val="FFEFE8"/>
            </a:gs>
          </a:gsLst>
          <a:lin scaled="0" ang="2700000"/>
        </a:gradFill>
        <a:effectLst/>
      </p:bgPr>
    </p:bg>
    <p:spTree>
      <p:nvGrpSpPr>
        <p:cNvPr id="1" name=""/>
        <p:cNvGrpSpPr/>
        <p:nvPr/>
      </p:nvGrpSpPr>
      <p:grpSpPr/>
      <p:sp>
        <p:nvSpPr>
          <p:cNvPr id="3" name="Rounded Rectangle 2"/>
          <p:cNvSpPr/>
          <p:nvPr/>
        </p:nvSpPr>
        <p:spPr>
          <a:xfrm>
            <a:off x="256032" y="182880"/>
            <a:ext cx="11679631" cy="6492240"/>
          </a:xfrm>
          <a:prstGeom prst="roundRect">
            <a:avLst>
              <a:gd name="adj" fmla="val 3943"/>
            </a:avLst>
          </a:prstGeom>
          <a:solidFill>
            <a:srgbClr val="FFFFFF"/>
          </a:solidFill>
          <a:ln w="9525">
            <a:solidFill>
              <a:srgbClr val="BCD8F1"/>
            </a:solidFill>
          </a:ln>
        </p:spPr>
        <p:txBody>
          <a:bodyPr rtlCol="0" anchor="ctr"/>
          <a:lstStyle/>
          <a:p>
            <a:pPr algn="ctr"/>
          </a:p>
        </p:txBody>
      </p:sp>
      <p:sp>
        <p:nvSpPr>
          <p:cNvPr id="2" name="Title 1"/>
          <p:cNvSpPr>
            <a:spLocks noGrp="1"/>
          </p:cNvSpPr>
          <p:nvPr>
            <p:ph type="title"/>
          </p:nvPr>
        </p:nvSpPr>
        <p:spPr>
          <a:xfrm>
            <a:off x="548640" y="566928"/>
            <a:ext cx="11094415" cy="658368"/>
          </a:xfrm>
        </p:spPr>
        <p:txBody>
          <a:bodyPr wrap="square" lIns="0" tIns="27432" rIns="0" bIns="27432" anchor="ctr">
            <a:noAutofit/>
          </a:bodyPr>
          <a:lstStyle/>
          <a:p>
            <a:pPr algn="l">
              <a:lnSpc>
                <a:spcPct val="100000"/>
              </a:lnSpc>
              <a:spcBef>
                <a:spcPts val="0"/>
              </a:spcBef>
              <a:spcAft>
                <a:spcPts val="0"/>
              </a:spcAft>
            </a:pPr>
            <a:r>
              <a:rPr sz="3000" b="1" i="0">
                <a:solidFill>
                  <a:srgbClr val="22304A"/>
                </a:solidFill>
                <a:latin typeface="Georgia"/>
              </a:rPr>
              <a:t>Follow the pivot 65 to its home</a:t>
            </a:r>
          </a:p>
        </p:txBody>
      </p:sp>
      <p:sp>
        <p:nvSpPr>
          <p:cNvPr id="4" name="Rectangle 3"/>
          <p:cNvSpPr/>
          <p:nvPr/>
        </p:nvSpPr>
        <p:spPr>
          <a:xfrm>
            <a:off x="548640" y="310896"/>
            <a:ext cx="8229600" cy="246888"/>
          </a:xfrm>
          <a:prstGeom prst="rect">
            <a:avLst/>
          </a:prstGeom>
          <a:noFill/>
          <a:ln>
            <a:noFill/>
          </a:ln>
        </p:spPr>
        <p:txBody>
          <a:bodyPr rtlCol="0" anchor="ctr" wrap="none" lIns="0" tIns="0" rIns="0" bIns="0">
            <a:noAutofit/>
          </a:bodyPr>
          <a:lstStyle/>
          <a:p>
            <a:pPr algn="l">
              <a:lnSpc>
                <a:spcPct val="100000"/>
              </a:lnSpc>
              <a:spcBef>
                <a:spcPts val="0"/>
              </a:spcBef>
              <a:spcAft>
                <a:spcPts val="0"/>
              </a:spcAft>
            </a:pPr>
            <a:r>
              <a:rPr sz="1100" b="1" i="0" spc="150">
                <a:solidFill>
                  <a:srgbClr val="4F8FCB"/>
                </a:solidFill>
                <a:latin typeface="Segoe UI"/>
              </a:rPr>
              <a:t>CHAPTER 3 · WATCHING IT WORK</a:t>
            </a:r>
          </a:p>
        </p:txBody>
      </p:sp>
      <p:sp>
        <p:nvSpPr>
          <p:cNvPr id="5" name="Rectangle 4"/>
          <p:cNvSpPr/>
          <p:nvPr/>
        </p:nvSpPr>
        <p:spPr>
          <a:xfrm>
            <a:off x="548640" y="1280160"/>
            <a:ext cx="1097280" cy="54864"/>
          </a:xfrm>
          <a:prstGeom prst="rect">
            <a:avLst/>
          </a:prstGeom>
          <a:solidFill>
            <a:srgbClr val="F3A08A"/>
          </a:solidFill>
          <a:ln>
            <a:noFill/>
          </a:ln>
        </p:spPr>
        <p:txBody>
          <a:bodyPr rtlCol="0" anchor="ctr"/>
          <a:lstStyle/>
          <a:p>
            <a:pPr algn="ctr"/>
          </a:p>
        </p:txBody>
      </p:sp>
      <p:cxnSp>
        <p:nvCxnSpPr>
          <p:cNvPr id="6" name="Connector 5"/>
          <p:cNvCxnSpPr/>
          <p:nvPr/>
        </p:nvCxnSpPr>
        <p:spPr>
          <a:xfrm>
            <a:off x="548640" y="6309360"/>
            <a:ext cx="11094415" cy="0"/>
          </a:xfrm>
          <a:prstGeom prst="line">
            <a:avLst/>
          </a:prstGeom>
          <a:ln w="9525">
            <a:solidFill>
              <a:srgbClr val="BCD8F1"/>
            </a:solidFill>
          </a:ln>
        </p:spPr>
      </p:cxnSp>
      <p:sp>
        <p:nvSpPr>
          <p:cNvPr id="7" name="Rectangle 6"/>
          <p:cNvSpPr/>
          <p:nvPr/>
        </p:nvSpPr>
        <p:spPr>
          <a:xfrm>
            <a:off x="548640" y="6364224"/>
            <a:ext cx="5486400" cy="246888"/>
          </a:xfrm>
          <a:prstGeom prst="rect">
            <a:avLst/>
          </a:prstGeom>
          <a:noFill/>
          <a:ln>
            <a:noFill/>
          </a:ln>
        </p:spPr>
        <p:txBody>
          <a:bodyPr rtlCol="0" anchor="ctr" wrap="none" lIns="0" tIns="0" rIns="0" bIns="0">
            <a:noAutofit/>
          </a:bodyPr>
          <a:lstStyle/>
          <a:p>
            <a:pPr algn="l">
              <a:lnSpc>
                <a:spcPct val="100000"/>
              </a:lnSpc>
              <a:spcBef>
                <a:spcPts val="0"/>
              </a:spcBef>
              <a:spcAft>
                <a:spcPts val="0"/>
              </a:spcAft>
            </a:pPr>
            <a:r>
              <a:rPr sz="1100" b="0" i="0">
                <a:solidFill>
                  <a:srgbClr val="66758C"/>
                </a:solidFill>
                <a:latin typeface="Segoe UI"/>
              </a:rPr>
              <a:t>Quick Sort  ·  DAA Unit 2</a:t>
            </a:r>
          </a:p>
        </p:txBody>
      </p:sp>
      <p:sp>
        <p:nvSpPr>
          <p:cNvPr id="8" name="Rectangle 7"/>
          <p:cNvSpPr/>
          <p:nvPr/>
        </p:nvSpPr>
        <p:spPr>
          <a:xfrm>
            <a:off x="10271455" y="6364224"/>
            <a:ext cx="1371600" cy="246888"/>
          </a:xfrm>
          <a:prstGeom prst="rect">
            <a:avLst/>
          </a:prstGeom>
          <a:noFill/>
          <a:ln>
            <a:noFill/>
          </a:ln>
        </p:spPr>
        <p:txBody>
          <a:bodyPr rtlCol="0" anchor="ctr" wrap="none" lIns="0" tIns="0" rIns="0" bIns="0">
            <a:noAutofit/>
          </a:bodyPr>
          <a:lstStyle/>
          <a:p>
            <a:pPr algn="r">
              <a:lnSpc>
                <a:spcPct val="100000"/>
              </a:lnSpc>
              <a:spcBef>
                <a:spcPts val="0"/>
              </a:spcBef>
              <a:spcAft>
                <a:spcPts val="0"/>
              </a:spcAft>
            </a:pPr>
            <a:r>
              <a:rPr sz="1100" b="0" i="0">
                <a:solidFill>
                  <a:srgbClr val="66758C"/>
                </a:solidFill>
                <a:latin typeface="Segoe UI"/>
              </a:rPr>
              <a:t>4</a:t>
            </a:r>
          </a:p>
        </p:txBody>
      </p:sp>
      <p:sp>
        <p:nvSpPr>
          <p:cNvPr id="9" name="Rectangle 8"/>
          <p:cNvSpPr/>
          <p:nvPr/>
        </p:nvSpPr>
        <p:spPr>
          <a:xfrm>
            <a:off x="1920240" y="1627632"/>
            <a:ext cx="475488" cy="219456"/>
          </a:xfrm>
          <a:prstGeom prst="rect">
            <a:avLst/>
          </a:prstGeom>
          <a:noFill/>
          <a:ln>
            <a:noFill/>
          </a:ln>
        </p:spPr>
        <p:txBody>
          <a:bodyPr rtlCol="0" anchor="ctr" wrap="none" lIns="0" tIns="0" rIns="0" bIns="0">
            <a:noAutofit/>
          </a:bodyPr>
          <a:lstStyle/>
          <a:p>
            <a:pPr algn="ctr">
              <a:lnSpc>
                <a:spcPct val="100000"/>
              </a:lnSpc>
              <a:spcBef>
                <a:spcPts val="0"/>
              </a:spcBef>
              <a:spcAft>
                <a:spcPts val="0"/>
              </a:spcAft>
            </a:pPr>
            <a:r>
              <a:rPr sz="1100" b="0" i="0">
                <a:solidFill>
                  <a:srgbClr val="66758C"/>
                </a:solidFill>
                <a:latin typeface="Segoe UI"/>
              </a:rPr>
              <a:t>0</a:t>
            </a:r>
          </a:p>
        </p:txBody>
      </p:sp>
      <p:sp>
        <p:nvSpPr>
          <p:cNvPr id="10" name="Rectangle 9"/>
          <p:cNvSpPr/>
          <p:nvPr/>
        </p:nvSpPr>
        <p:spPr>
          <a:xfrm>
            <a:off x="2450592" y="1627632"/>
            <a:ext cx="475488" cy="219456"/>
          </a:xfrm>
          <a:prstGeom prst="rect">
            <a:avLst/>
          </a:prstGeom>
          <a:noFill/>
          <a:ln>
            <a:noFill/>
          </a:ln>
        </p:spPr>
        <p:txBody>
          <a:bodyPr rtlCol="0" anchor="ctr" wrap="none" lIns="0" tIns="0" rIns="0" bIns="0">
            <a:noAutofit/>
          </a:bodyPr>
          <a:lstStyle/>
          <a:p>
            <a:pPr algn="ctr">
              <a:lnSpc>
                <a:spcPct val="100000"/>
              </a:lnSpc>
              <a:spcBef>
                <a:spcPts val="0"/>
              </a:spcBef>
              <a:spcAft>
                <a:spcPts val="0"/>
              </a:spcAft>
            </a:pPr>
            <a:r>
              <a:rPr sz="1100" b="0" i="0">
                <a:solidFill>
                  <a:srgbClr val="66758C"/>
                </a:solidFill>
                <a:latin typeface="Segoe UI"/>
              </a:rPr>
              <a:t>1</a:t>
            </a:r>
          </a:p>
        </p:txBody>
      </p:sp>
      <p:sp>
        <p:nvSpPr>
          <p:cNvPr id="11" name="Rectangle 10"/>
          <p:cNvSpPr/>
          <p:nvPr/>
        </p:nvSpPr>
        <p:spPr>
          <a:xfrm>
            <a:off x="2980944" y="1627632"/>
            <a:ext cx="475488" cy="219456"/>
          </a:xfrm>
          <a:prstGeom prst="rect">
            <a:avLst/>
          </a:prstGeom>
          <a:noFill/>
          <a:ln>
            <a:noFill/>
          </a:ln>
        </p:spPr>
        <p:txBody>
          <a:bodyPr rtlCol="0" anchor="ctr" wrap="none" lIns="0" tIns="0" rIns="0" bIns="0">
            <a:noAutofit/>
          </a:bodyPr>
          <a:lstStyle/>
          <a:p>
            <a:pPr algn="ctr">
              <a:lnSpc>
                <a:spcPct val="100000"/>
              </a:lnSpc>
              <a:spcBef>
                <a:spcPts val="0"/>
              </a:spcBef>
              <a:spcAft>
                <a:spcPts val="0"/>
              </a:spcAft>
            </a:pPr>
            <a:r>
              <a:rPr sz="1100" b="0" i="0">
                <a:solidFill>
                  <a:srgbClr val="66758C"/>
                </a:solidFill>
                <a:latin typeface="Segoe UI"/>
              </a:rPr>
              <a:t>2</a:t>
            </a:r>
          </a:p>
        </p:txBody>
      </p:sp>
      <p:sp>
        <p:nvSpPr>
          <p:cNvPr id="12" name="Rectangle 11"/>
          <p:cNvSpPr/>
          <p:nvPr/>
        </p:nvSpPr>
        <p:spPr>
          <a:xfrm>
            <a:off x="3511296" y="1627632"/>
            <a:ext cx="475488" cy="219456"/>
          </a:xfrm>
          <a:prstGeom prst="rect">
            <a:avLst/>
          </a:prstGeom>
          <a:noFill/>
          <a:ln>
            <a:noFill/>
          </a:ln>
        </p:spPr>
        <p:txBody>
          <a:bodyPr rtlCol="0" anchor="ctr" wrap="none" lIns="0" tIns="0" rIns="0" bIns="0">
            <a:noAutofit/>
          </a:bodyPr>
          <a:lstStyle/>
          <a:p>
            <a:pPr algn="ctr">
              <a:lnSpc>
                <a:spcPct val="100000"/>
              </a:lnSpc>
              <a:spcBef>
                <a:spcPts val="0"/>
              </a:spcBef>
              <a:spcAft>
                <a:spcPts val="0"/>
              </a:spcAft>
            </a:pPr>
            <a:r>
              <a:rPr sz="1100" b="0" i="0">
                <a:solidFill>
                  <a:srgbClr val="66758C"/>
                </a:solidFill>
                <a:latin typeface="Segoe UI"/>
              </a:rPr>
              <a:t>3</a:t>
            </a:r>
          </a:p>
        </p:txBody>
      </p:sp>
      <p:sp>
        <p:nvSpPr>
          <p:cNvPr id="13" name="Rectangle 12"/>
          <p:cNvSpPr/>
          <p:nvPr/>
        </p:nvSpPr>
        <p:spPr>
          <a:xfrm>
            <a:off x="4041648" y="1627632"/>
            <a:ext cx="475488" cy="219456"/>
          </a:xfrm>
          <a:prstGeom prst="rect">
            <a:avLst/>
          </a:prstGeom>
          <a:noFill/>
          <a:ln>
            <a:noFill/>
          </a:ln>
        </p:spPr>
        <p:txBody>
          <a:bodyPr rtlCol="0" anchor="ctr" wrap="none" lIns="0" tIns="0" rIns="0" bIns="0">
            <a:noAutofit/>
          </a:bodyPr>
          <a:lstStyle/>
          <a:p>
            <a:pPr algn="ctr">
              <a:lnSpc>
                <a:spcPct val="100000"/>
              </a:lnSpc>
              <a:spcBef>
                <a:spcPts val="0"/>
              </a:spcBef>
              <a:spcAft>
                <a:spcPts val="0"/>
              </a:spcAft>
            </a:pPr>
            <a:r>
              <a:rPr sz="1100" b="0" i="0">
                <a:solidFill>
                  <a:srgbClr val="66758C"/>
                </a:solidFill>
                <a:latin typeface="Segoe UI"/>
              </a:rPr>
              <a:t>4</a:t>
            </a:r>
          </a:p>
        </p:txBody>
      </p:sp>
      <p:sp>
        <p:nvSpPr>
          <p:cNvPr id="14" name="Rectangle 13"/>
          <p:cNvSpPr/>
          <p:nvPr/>
        </p:nvSpPr>
        <p:spPr>
          <a:xfrm>
            <a:off x="4572000" y="1627632"/>
            <a:ext cx="475488" cy="219456"/>
          </a:xfrm>
          <a:prstGeom prst="rect">
            <a:avLst/>
          </a:prstGeom>
          <a:noFill/>
          <a:ln>
            <a:noFill/>
          </a:ln>
        </p:spPr>
        <p:txBody>
          <a:bodyPr rtlCol="0" anchor="ctr" wrap="none" lIns="0" tIns="0" rIns="0" bIns="0">
            <a:noAutofit/>
          </a:bodyPr>
          <a:lstStyle/>
          <a:p>
            <a:pPr algn="ctr">
              <a:lnSpc>
                <a:spcPct val="100000"/>
              </a:lnSpc>
              <a:spcBef>
                <a:spcPts val="0"/>
              </a:spcBef>
              <a:spcAft>
                <a:spcPts val="0"/>
              </a:spcAft>
            </a:pPr>
            <a:r>
              <a:rPr sz="1100" b="0" i="0">
                <a:solidFill>
                  <a:srgbClr val="66758C"/>
                </a:solidFill>
                <a:latin typeface="Segoe UI"/>
              </a:rPr>
              <a:t>5</a:t>
            </a:r>
          </a:p>
        </p:txBody>
      </p:sp>
      <p:sp>
        <p:nvSpPr>
          <p:cNvPr id="15" name="Rectangle 14"/>
          <p:cNvSpPr/>
          <p:nvPr/>
        </p:nvSpPr>
        <p:spPr>
          <a:xfrm>
            <a:off x="5102352" y="1627632"/>
            <a:ext cx="475488" cy="219456"/>
          </a:xfrm>
          <a:prstGeom prst="rect">
            <a:avLst/>
          </a:prstGeom>
          <a:noFill/>
          <a:ln>
            <a:noFill/>
          </a:ln>
        </p:spPr>
        <p:txBody>
          <a:bodyPr rtlCol="0" anchor="ctr" wrap="none" lIns="0" tIns="0" rIns="0" bIns="0">
            <a:noAutofit/>
          </a:bodyPr>
          <a:lstStyle/>
          <a:p>
            <a:pPr algn="ctr">
              <a:lnSpc>
                <a:spcPct val="100000"/>
              </a:lnSpc>
              <a:spcBef>
                <a:spcPts val="0"/>
              </a:spcBef>
              <a:spcAft>
                <a:spcPts val="0"/>
              </a:spcAft>
            </a:pPr>
            <a:r>
              <a:rPr sz="1100" b="0" i="0">
                <a:solidFill>
                  <a:srgbClr val="66758C"/>
                </a:solidFill>
                <a:latin typeface="Segoe UI"/>
              </a:rPr>
              <a:t>6</a:t>
            </a:r>
          </a:p>
        </p:txBody>
      </p:sp>
      <p:sp>
        <p:nvSpPr>
          <p:cNvPr id="16" name="Rectangle 15"/>
          <p:cNvSpPr/>
          <p:nvPr/>
        </p:nvSpPr>
        <p:spPr>
          <a:xfrm>
            <a:off x="5632704" y="1627632"/>
            <a:ext cx="475488" cy="219456"/>
          </a:xfrm>
          <a:prstGeom prst="rect">
            <a:avLst/>
          </a:prstGeom>
          <a:noFill/>
          <a:ln>
            <a:noFill/>
          </a:ln>
        </p:spPr>
        <p:txBody>
          <a:bodyPr rtlCol="0" anchor="ctr" wrap="none" lIns="0" tIns="0" rIns="0" bIns="0">
            <a:noAutofit/>
          </a:bodyPr>
          <a:lstStyle/>
          <a:p>
            <a:pPr algn="ctr">
              <a:lnSpc>
                <a:spcPct val="100000"/>
              </a:lnSpc>
              <a:spcBef>
                <a:spcPts val="0"/>
              </a:spcBef>
              <a:spcAft>
                <a:spcPts val="0"/>
              </a:spcAft>
            </a:pPr>
            <a:r>
              <a:rPr sz="1100" b="0" i="0">
                <a:solidFill>
                  <a:srgbClr val="66758C"/>
                </a:solidFill>
                <a:latin typeface="Segoe UI"/>
              </a:rPr>
              <a:t>7</a:t>
            </a:r>
          </a:p>
        </p:txBody>
      </p:sp>
      <p:sp>
        <p:nvSpPr>
          <p:cNvPr id="17" name="Rectangle 16"/>
          <p:cNvSpPr/>
          <p:nvPr/>
        </p:nvSpPr>
        <p:spPr>
          <a:xfrm>
            <a:off x="6163056" y="1627632"/>
            <a:ext cx="475488" cy="219456"/>
          </a:xfrm>
          <a:prstGeom prst="rect">
            <a:avLst/>
          </a:prstGeom>
          <a:noFill/>
          <a:ln>
            <a:noFill/>
          </a:ln>
        </p:spPr>
        <p:txBody>
          <a:bodyPr rtlCol="0" anchor="ctr" wrap="none" lIns="0" tIns="0" rIns="0" bIns="0">
            <a:noAutofit/>
          </a:bodyPr>
          <a:lstStyle/>
          <a:p>
            <a:pPr algn="ctr">
              <a:lnSpc>
                <a:spcPct val="100000"/>
              </a:lnSpc>
              <a:spcBef>
                <a:spcPts val="0"/>
              </a:spcBef>
              <a:spcAft>
                <a:spcPts val="0"/>
              </a:spcAft>
            </a:pPr>
            <a:r>
              <a:rPr sz="1100" b="0" i="0">
                <a:solidFill>
                  <a:srgbClr val="66758C"/>
                </a:solidFill>
                <a:latin typeface="Segoe UI"/>
              </a:rPr>
              <a:t>8</a:t>
            </a:r>
          </a:p>
        </p:txBody>
      </p:sp>
      <p:sp>
        <p:nvSpPr>
          <p:cNvPr id="18" name="Rectangle 17"/>
          <p:cNvSpPr/>
          <p:nvPr/>
        </p:nvSpPr>
        <p:spPr>
          <a:xfrm>
            <a:off x="548640" y="1920240"/>
            <a:ext cx="1280160" cy="475488"/>
          </a:xfrm>
          <a:prstGeom prst="rect">
            <a:avLst/>
          </a:prstGeom>
          <a:noFill/>
          <a:ln>
            <a:noFill/>
          </a:ln>
        </p:spPr>
        <p:txBody>
          <a:bodyPr rtlCol="0" anchor="ctr" wrap="none" lIns="0" tIns="0" rIns="0" bIns="0">
            <a:noAutofit/>
          </a:bodyPr>
          <a:lstStyle/>
          <a:p>
            <a:pPr algn="l">
              <a:lnSpc>
                <a:spcPct val="100000"/>
              </a:lnSpc>
              <a:spcBef>
                <a:spcPts val="0"/>
              </a:spcBef>
              <a:spcAft>
                <a:spcPts val="0"/>
              </a:spcAft>
            </a:pPr>
            <a:r>
              <a:rPr sz="1500" b="1" i="0">
                <a:solidFill>
                  <a:srgbClr val="22304A"/>
                </a:solidFill>
                <a:latin typeface="Segoe UI"/>
              </a:rPr>
              <a:t>start</a:t>
            </a:r>
          </a:p>
        </p:txBody>
      </p:sp>
      <p:sp>
        <p:nvSpPr>
          <p:cNvPr id="19" name="Rectangle 18"/>
          <p:cNvSpPr/>
          <p:nvPr/>
        </p:nvSpPr>
        <p:spPr>
          <a:xfrm>
            <a:off x="1920240" y="1920240"/>
            <a:ext cx="475488" cy="475488"/>
          </a:xfrm>
          <a:prstGeom prst="rect">
            <a:avLst/>
          </a:prstGeom>
          <a:solidFill>
            <a:srgbClr val="F3A08A"/>
          </a:solidFill>
          <a:ln w="22225">
            <a:solidFill>
              <a:srgbClr val="E07A5F"/>
            </a:solidFill>
          </a:ln>
        </p:spPr>
        <p:txBody>
          <a:bodyPr rtlCol="0" anchor="ctr" wrap="none" lIns="0" tIns="0" rIns="0" bIns="0">
            <a:noAutofit/>
          </a:bodyPr>
          <a:lstStyle/>
          <a:p>
            <a:pPr algn="ctr">
              <a:lnSpc>
                <a:spcPct val="100000"/>
              </a:lnSpc>
              <a:spcBef>
                <a:spcPts val="0"/>
              </a:spcBef>
              <a:spcAft>
                <a:spcPts val="0"/>
              </a:spcAft>
            </a:pPr>
            <a:r>
              <a:rPr sz="1600" b="1" i="0">
                <a:solidFill>
                  <a:srgbClr val="22304A"/>
                </a:solidFill>
                <a:latin typeface="Consolas"/>
              </a:rPr>
              <a:t>65</a:t>
            </a:r>
          </a:p>
        </p:txBody>
      </p:sp>
      <p:sp>
        <p:nvSpPr>
          <p:cNvPr id="20" name="Rectangle 19"/>
          <p:cNvSpPr/>
          <p:nvPr/>
        </p:nvSpPr>
        <p:spPr>
          <a:xfrm>
            <a:off x="2450592" y="1920240"/>
            <a:ext cx="475488" cy="475488"/>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70</a:t>
            </a:r>
          </a:p>
        </p:txBody>
      </p:sp>
      <p:sp>
        <p:nvSpPr>
          <p:cNvPr id="21" name="Rectangle 20"/>
          <p:cNvSpPr/>
          <p:nvPr/>
        </p:nvSpPr>
        <p:spPr>
          <a:xfrm>
            <a:off x="2980944" y="1920240"/>
            <a:ext cx="475488" cy="475488"/>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75</a:t>
            </a:r>
          </a:p>
        </p:txBody>
      </p:sp>
      <p:sp>
        <p:nvSpPr>
          <p:cNvPr id="22" name="Rectangle 21"/>
          <p:cNvSpPr/>
          <p:nvPr/>
        </p:nvSpPr>
        <p:spPr>
          <a:xfrm>
            <a:off x="3511296" y="1920240"/>
            <a:ext cx="475488" cy="475488"/>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80</a:t>
            </a:r>
          </a:p>
        </p:txBody>
      </p:sp>
      <p:sp>
        <p:nvSpPr>
          <p:cNvPr id="23" name="Rectangle 22"/>
          <p:cNvSpPr/>
          <p:nvPr/>
        </p:nvSpPr>
        <p:spPr>
          <a:xfrm>
            <a:off x="4041648" y="1920240"/>
            <a:ext cx="475488" cy="475488"/>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85</a:t>
            </a:r>
          </a:p>
        </p:txBody>
      </p:sp>
      <p:sp>
        <p:nvSpPr>
          <p:cNvPr id="24" name="Rectangle 23"/>
          <p:cNvSpPr/>
          <p:nvPr/>
        </p:nvSpPr>
        <p:spPr>
          <a:xfrm>
            <a:off x="4572000" y="1920240"/>
            <a:ext cx="475488" cy="475488"/>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60</a:t>
            </a:r>
          </a:p>
        </p:txBody>
      </p:sp>
      <p:sp>
        <p:nvSpPr>
          <p:cNvPr id="25" name="Rectangle 24"/>
          <p:cNvSpPr/>
          <p:nvPr/>
        </p:nvSpPr>
        <p:spPr>
          <a:xfrm>
            <a:off x="5102352" y="1920240"/>
            <a:ext cx="475488" cy="475488"/>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55</a:t>
            </a:r>
          </a:p>
        </p:txBody>
      </p:sp>
      <p:sp>
        <p:nvSpPr>
          <p:cNvPr id="26" name="Rectangle 25"/>
          <p:cNvSpPr/>
          <p:nvPr/>
        </p:nvSpPr>
        <p:spPr>
          <a:xfrm>
            <a:off x="5632704" y="1920240"/>
            <a:ext cx="475488" cy="475488"/>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50</a:t>
            </a:r>
          </a:p>
        </p:txBody>
      </p:sp>
      <p:sp>
        <p:nvSpPr>
          <p:cNvPr id="27" name="Rectangle 26"/>
          <p:cNvSpPr/>
          <p:nvPr/>
        </p:nvSpPr>
        <p:spPr>
          <a:xfrm>
            <a:off x="6163056" y="1920240"/>
            <a:ext cx="475488" cy="475488"/>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45</a:t>
            </a:r>
          </a:p>
        </p:txBody>
      </p:sp>
      <p:sp>
        <p:nvSpPr>
          <p:cNvPr id="28" name="Rectangle 27"/>
          <p:cNvSpPr/>
          <p:nvPr/>
        </p:nvSpPr>
        <p:spPr>
          <a:xfrm>
            <a:off x="6949440" y="1920240"/>
            <a:ext cx="4690872" cy="475488"/>
          </a:xfrm>
          <a:prstGeom prst="rect">
            <a:avLst/>
          </a:prstGeom>
          <a:noFill/>
          <a:ln>
            <a:noFill/>
          </a:ln>
        </p:spPr>
        <p:txBody>
          <a:bodyPr rtlCol="0" anchor="ctr" wrap="square" lIns="0" tIns="0" rIns="0" bIns="0">
            <a:noAutofit/>
          </a:bodyPr>
          <a:lstStyle/>
          <a:p>
            <a:pPr algn="l">
              <a:lnSpc>
                <a:spcPct val="100000"/>
              </a:lnSpc>
              <a:spcBef>
                <a:spcPts val="0"/>
              </a:spcBef>
              <a:spcAft>
                <a:spcPts val="0"/>
              </a:spcAft>
            </a:pPr>
            <a:r>
              <a:rPr sz="1400" b="0" i="0">
                <a:solidFill>
                  <a:srgbClr val="22304A"/>
                </a:solidFill>
                <a:latin typeface="Segoe UI"/>
              </a:rPr>
              <a:t>Pivot = A[0] = 65</a:t>
            </a:r>
          </a:p>
        </p:txBody>
      </p:sp>
      <p:sp>
        <p:nvSpPr>
          <p:cNvPr id="29" name="Rectangle 28"/>
          <p:cNvSpPr/>
          <p:nvPr/>
        </p:nvSpPr>
        <p:spPr>
          <a:xfrm>
            <a:off x="548640" y="2560320"/>
            <a:ext cx="1280160" cy="475488"/>
          </a:xfrm>
          <a:prstGeom prst="rect">
            <a:avLst/>
          </a:prstGeom>
          <a:noFill/>
          <a:ln>
            <a:noFill/>
          </a:ln>
        </p:spPr>
        <p:txBody>
          <a:bodyPr rtlCol="0" anchor="ctr" wrap="none" lIns="0" tIns="0" rIns="0" bIns="0">
            <a:noAutofit/>
          </a:bodyPr>
          <a:lstStyle/>
          <a:p>
            <a:pPr algn="l">
              <a:lnSpc>
                <a:spcPct val="100000"/>
              </a:lnSpc>
              <a:spcBef>
                <a:spcPts val="0"/>
              </a:spcBef>
              <a:spcAft>
                <a:spcPts val="0"/>
              </a:spcAft>
            </a:pPr>
            <a:r>
              <a:rPr sz="1500" b="1" i="0">
                <a:solidFill>
                  <a:srgbClr val="22304A"/>
                </a:solidFill>
                <a:latin typeface="Segoe UI"/>
              </a:rPr>
              <a:t>swap 1</a:t>
            </a:r>
          </a:p>
        </p:txBody>
      </p:sp>
      <p:sp>
        <p:nvSpPr>
          <p:cNvPr id="30" name="Rectangle 29"/>
          <p:cNvSpPr/>
          <p:nvPr/>
        </p:nvSpPr>
        <p:spPr>
          <a:xfrm>
            <a:off x="1920240" y="2560320"/>
            <a:ext cx="475488" cy="475488"/>
          </a:xfrm>
          <a:prstGeom prst="rect">
            <a:avLst/>
          </a:prstGeom>
          <a:solidFill>
            <a:srgbClr val="F3A08A"/>
          </a:solidFill>
          <a:ln w="22225">
            <a:solidFill>
              <a:srgbClr val="E07A5F"/>
            </a:solidFill>
          </a:ln>
        </p:spPr>
        <p:txBody>
          <a:bodyPr rtlCol="0" anchor="ctr" wrap="none" lIns="0" tIns="0" rIns="0" bIns="0">
            <a:noAutofit/>
          </a:bodyPr>
          <a:lstStyle/>
          <a:p>
            <a:pPr algn="ctr">
              <a:lnSpc>
                <a:spcPct val="100000"/>
              </a:lnSpc>
              <a:spcBef>
                <a:spcPts val="0"/>
              </a:spcBef>
              <a:spcAft>
                <a:spcPts val="0"/>
              </a:spcAft>
            </a:pPr>
            <a:r>
              <a:rPr sz="1600" b="1" i="0">
                <a:solidFill>
                  <a:srgbClr val="22304A"/>
                </a:solidFill>
                <a:latin typeface="Consolas"/>
              </a:rPr>
              <a:t>65</a:t>
            </a:r>
          </a:p>
        </p:txBody>
      </p:sp>
      <p:sp>
        <p:nvSpPr>
          <p:cNvPr id="31" name="Rectangle 30"/>
          <p:cNvSpPr/>
          <p:nvPr/>
        </p:nvSpPr>
        <p:spPr>
          <a:xfrm>
            <a:off x="2450592" y="2560320"/>
            <a:ext cx="475488" cy="475488"/>
          </a:xfrm>
          <a:prstGeom prst="rect">
            <a:avLst/>
          </a:prstGeom>
          <a:solidFill>
            <a:srgbClr val="BCD8F1"/>
          </a:solidFill>
          <a:ln w="28575">
            <a:solidFill>
              <a:srgbClr val="4F8FCB"/>
            </a:solidFill>
          </a:ln>
        </p:spPr>
        <p:txBody>
          <a:bodyPr rtlCol="0" anchor="ctr" wrap="none" lIns="0" tIns="0" rIns="0" bIns="0">
            <a:noAutofit/>
          </a:bodyPr>
          <a:lstStyle/>
          <a:p>
            <a:pPr algn="ctr">
              <a:lnSpc>
                <a:spcPct val="100000"/>
              </a:lnSpc>
              <a:spcBef>
                <a:spcPts val="0"/>
              </a:spcBef>
              <a:spcAft>
                <a:spcPts val="0"/>
              </a:spcAft>
            </a:pPr>
            <a:r>
              <a:rPr sz="1600" b="1" i="0">
                <a:solidFill>
                  <a:srgbClr val="22304A"/>
                </a:solidFill>
                <a:latin typeface="Consolas"/>
              </a:rPr>
              <a:t>45</a:t>
            </a:r>
          </a:p>
        </p:txBody>
      </p:sp>
      <p:sp>
        <p:nvSpPr>
          <p:cNvPr id="32" name="Rectangle 31"/>
          <p:cNvSpPr/>
          <p:nvPr/>
        </p:nvSpPr>
        <p:spPr>
          <a:xfrm>
            <a:off x="2980944" y="2560320"/>
            <a:ext cx="475488" cy="475488"/>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75</a:t>
            </a:r>
          </a:p>
        </p:txBody>
      </p:sp>
      <p:sp>
        <p:nvSpPr>
          <p:cNvPr id="33" name="Rectangle 32"/>
          <p:cNvSpPr/>
          <p:nvPr/>
        </p:nvSpPr>
        <p:spPr>
          <a:xfrm>
            <a:off x="3511296" y="2560320"/>
            <a:ext cx="475488" cy="475488"/>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80</a:t>
            </a:r>
          </a:p>
        </p:txBody>
      </p:sp>
      <p:sp>
        <p:nvSpPr>
          <p:cNvPr id="34" name="Rectangle 33"/>
          <p:cNvSpPr/>
          <p:nvPr/>
        </p:nvSpPr>
        <p:spPr>
          <a:xfrm>
            <a:off x="4041648" y="2560320"/>
            <a:ext cx="475488" cy="475488"/>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85</a:t>
            </a:r>
          </a:p>
        </p:txBody>
      </p:sp>
      <p:sp>
        <p:nvSpPr>
          <p:cNvPr id="35" name="Rectangle 34"/>
          <p:cNvSpPr/>
          <p:nvPr/>
        </p:nvSpPr>
        <p:spPr>
          <a:xfrm>
            <a:off x="4572000" y="2560320"/>
            <a:ext cx="475488" cy="475488"/>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60</a:t>
            </a:r>
          </a:p>
        </p:txBody>
      </p:sp>
      <p:sp>
        <p:nvSpPr>
          <p:cNvPr id="36" name="Rectangle 35"/>
          <p:cNvSpPr/>
          <p:nvPr/>
        </p:nvSpPr>
        <p:spPr>
          <a:xfrm>
            <a:off x="5102352" y="2560320"/>
            <a:ext cx="475488" cy="475488"/>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55</a:t>
            </a:r>
          </a:p>
        </p:txBody>
      </p:sp>
      <p:sp>
        <p:nvSpPr>
          <p:cNvPr id="37" name="Rectangle 36"/>
          <p:cNvSpPr/>
          <p:nvPr/>
        </p:nvSpPr>
        <p:spPr>
          <a:xfrm>
            <a:off x="5632704" y="2560320"/>
            <a:ext cx="475488" cy="475488"/>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50</a:t>
            </a:r>
          </a:p>
        </p:txBody>
      </p:sp>
      <p:sp>
        <p:nvSpPr>
          <p:cNvPr id="38" name="Rectangle 37"/>
          <p:cNvSpPr/>
          <p:nvPr/>
        </p:nvSpPr>
        <p:spPr>
          <a:xfrm>
            <a:off x="6163056" y="2560320"/>
            <a:ext cx="475488" cy="475488"/>
          </a:xfrm>
          <a:prstGeom prst="rect">
            <a:avLst/>
          </a:prstGeom>
          <a:solidFill>
            <a:srgbClr val="BCD8F1"/>
          </a:solidFill>
          <a:ln w="28575">
            <a:solidFill>
              <a:srgbClr val="4F8FCB"/>
            </a:solidFill>
          </a:ln>
        </p:spPr>
        <p:txBody>
          <a:bodyPr rtlCol="0" anchor="ctr" wrap="none" lIns="0" tIns="0" rIns="0" bIns="0">
            <a:noAutofit/>
          </a:bodyPr>
          <a:lstStyle/>
          <a:p>
            <a:pPr algn="ctr">
              <a:lnSpc>
                <a:spcPct val="100000"/>
              </a:lnSpc>
              <a:spcBef>
                <a:spcPts val="0"/>
              </a:spcBef>
              <a:spcAft>
                <a:spcPts val="0"/>
              </a:spcAft>
            </a:pPr>
            <a:r>
              <a:rPr sz="1600" b="1" i="0">
                <a:solidFill>
                  <a:srgbClr val="22304A"/>
                </a:solidFill>
                <a:latin typeface="Consolas"/>
              </a:rPr>
              <a:t>70</a:t>
            </a:r>
          </a:p>
        </p:txBody>
      </p:sp>
      <p:sp>
        <p:nvSpPr>
          <p:cNvPr id="39" name="Rectangle 38"/>
          <p:cNvSpPr/>
          <p:nvPr/>
        </p:nvSpPr>
        <p:spPr>
          <a:xfrm>
            <a:off x="6949440" y="2560320"/>
            <a:ext cx="4690872" cy="475488"/>
          </a:xfrm>
          <a:prstGeom prst="rect">
            <a:avLst/>
          </a:prstGeom>
          <a:noFill/>
          <a:ln>
            <a:noFill/>
          </a:ln>
        </p:spPr>
        <p:txBody>
          <a:bodyPr rtlCol="0" anchor="ctr" wrap="square" lIns="0" tIns="0" rIns="0" bIns="0">
            <a:noAutofit/>
          </a:bodyPr>
          <a:lstStyle/>
          <a:p>
            <a:pPr algn="l">
              <a:lnSpc>
                <a:spcPct val="100000"/>
              </a:lnSpc>
              <a:spcBef>
                <a:spcPts val="0"/>
              </a:spcBef>
              <a:spcAft>
                <a:spcPts val="0"/>
              </a:spcAft>
            </a:pPr>
            <a:r>
              <a:rPr sz="1400" b="0" i="0">
                <a:solidFill>
                  <a:srgbClr val="22304A"/>
                </a:solidFill>
                <a:latin typeface="Segoe UI"/>
              </a:rPr>
              <a:t>i stops at A[1] = 70, j stops at A[8] = 45: swap</a:t>
            </a:r>
          </a:p>
        </p:txBody>
      </p:sp>
      <p:sp>
        <p:nvSpPr>
          <p:cNvPr id="40" name="Rectangle 39"/>
          <p:cNvSpPr/>
          <p:nvPr/>
        </p:nvSpPr>
        <p:spPr>
          <a:xfrm>
            <a:off x="548640" y="3200400"/>
            <a:ext cx="1280160" cy="475488"/>
          </a:xfrm>
          <a:prstGeom prst="rect">
            <a:avLst/>
          </a:prstGeom>
          <a:noFill/>
          <a:ln>
            <a:noFill/>
          </a:ln>
        </p:spPr>
        <p:txBody>
          <a:bodyPr rtlCol="0" anchor="ctr" wrap="none" lIns="0" tIns="0" rIns="0" bIns="0">
            <a:noAutofit/>
          </a:bodyPr>
          <a:lstStyle/>
          <a:p>
            <a:pPr algn="l">
              <a:lnSpc>
                <a:spcPct val="100000"/>
              </a:lnSpc>
              <a:spcBef>
                <a:spcPts val="0"/>
              </a:spcBef>
              <a:spcAft>
                <a:spcPts val="0"/>
              </a:spcAft>
            </a:pPr>
            <a:r>
              <a:rPr sz="1500" b="1" i="0">
                <a:solidFill>
                  <a:srgbClr val="22304A"/>
                </a:solidFill>
                <a:latin typeface="Segoe UI"/>
              </a:rPr>
              <a:t>swap 2</a:t>
            </a:r>
          </a:p>
        </p:txBody>
      </p:sp>
      <p:sp>
        <p:nvSpPr>
          <p:cNvPr id="41" name="Rectangle 40"/>
          <p:cNvSpPr/>
          <p:nvPr/>
        </p:nvSpPr>
        <p:spPr>
          <a:xfrm>
            <a:off x="1920240" y="3200400"/>
            <a:ext cx="475488" cy="475488"/>
          </a:xfrm>
          <a:prstGeom prst="rect">
            <a:avLst/>
          </a:prstGeom>
          <a:solidFill>
            <a:srgbClr val="F3A08A"/>
          </a:solidFill>
          <a:ln w="22225">
            <a:solidFill>
              <a:srgbClr val="E07A5F"/>
            </a:solidFill>
          </a:ln>
        </p:spPr>
        <p:txBody>
          <a:bodyPr rtlCol="0" anchor="ctr" wrap="none" lIns="0" tIns="0" rIns="0" bIns="0">
            <a:noAutofit/>
          </a:bodyPr>
          <a:lstStyle/>
          <a:p>
            <a:pPr algn="ctr">
              <a:lnSpc>
                <a:spcPct val="100000"/>
              </a:lnSpc>
              <a:spcBef>
                <a:spcPts val="0"/>
              </a:spcBef>
              <a:spcAft>
                <a:spcPts val="0"/>
              </a:spcAft>
            </a:pPr>
            <a:r>
              <a:rPr sz="1600" b="1" i="0">
                <a:solidFill>
                  <a:srgbClr val="22304A"/>
                </a:solidFill>
                <a:latin typeface="Consolas"/>
              </a:rPr>
              <a:t>65</a:t>
            </a:r>
          </a:p>
        </p:txBody>
      </p:sp>
      <p:sp>
        <p:nvSpPr>
          <p:cNvPr id="42" name="Rectangle 41"/>
          <p:cNvSpPr/>
          <p:nvPr/>
        </p:nvSpPr>
        <p:spPr>
          <a:xfrm>
            <a:off x="2450592" y="3200400"/>
            <a:ext cx="475488" cy="475488"/>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45</a:t>
            </a:r>
          </a:p>
        </p:txBody>
      </p:sp>
      <p:sp>
        <p:nvSpPr>
          <p:cNvPr id="43" name="Rectangle 42"/>
          <p:cNvSpPr/>
          <p:nvPr/>
        </p:nvSpPr>
        <p:spPr>
          <a:xfrm>
            <a:off x="2980944" y="3200400"/>
            <a:ext cx="475488" cy="475488"/>
          </a:xfrm>
          <a:prstGeom prst="rect">
            <a:avLst/>
          </a:prstGeom>
          <a:solidFill>
            <a:srgbClr val="BCD8F1"/>
          </a:solidFill>
          <a:ln w="28575">
            <a:solidFill>
              <a:srgbClr val="4F8FCB"/>
            </a:solidFill>
          </a:ln>
        </p:spPr>
        <p:txBody>
          <a:bodyPr rtlCol="0" anchor="ctr" wrap="none" lIns="0" tIns="0" rIns="0" bIns="0">
            <a:noAutofit/>
          </a:bodyPr>
          <a:lstStyle/>
          <a:p>
            <a:pPr algn="ctr">
              <a:lnSpc>
                <a:spcPct val="100000"/>
              </a:lnSpc>
              <a:spcBef>
                <a:spcPts val="0"/>
              </a:spcBef>
              <a:spcAft>
                <a:spcPts val="0"/>
              </a:spcAft>
            </a:pPr>
            <a:r>
              <a:rPr sz="1600" b="1" i="0">
                <a:solidFill>
                  <a:srgbClr val="22304A"/>
                </a:solidFill>
                <a:latin typeface="Consolas"/>
              </a:rPr>
              <a:t>50</a:t>
            </a:r>
          </a:p>
        </p:txBody>
      </p:sp>
      <p:sp>
        <p:nvSpPr>
          <p:cNvPr id="44" name="Rectangle 43"/>
          <p:cNvSpPr/>
          <p:nvPr/>
        </p:nvSpPr>
        <p:spPr>
          <a:xfrm>
            <a:off x="3511296" y="3200400"/>
            <a:ext cx="475488" cy="475488"/>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80</a:t>
            </a:r>
          </a:p>
        </p:txBody>
      </p:sp>
      <p:sp>
        <p:nvSpPr>
          <p:cNvPr id="45" name="Rectangle 44"/>
          <p:cNvSpPr/>
          <p:nvPr/>
        </p:nvSpPr>
        <p:spPr>
          <a:xfrm>
            <a:off x="4041648" y="3200400"/>
            <a:ext cx="475488" cy="475488"/>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85</a:t>
            </a:r>
          </a:p>
        </p:txBody>
      </p:sp>
      <p:sp>
        <p:nvSpPr>
          <p:cNvPr id="46" name="Rectangle 45"/>
          <p:cNvSpPr/>
          <p:nvPr/>
        </p:nvSpPr>
        <p:spPr>
          <a:xfrm>
            <a:off x="4572000" y="3200400"/>
            <a:ext cx="475488" cy="475488"/>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60</a:t>
            </a:r>
          </a:p>
        </p:txBody>
      </p:sp>
      <p:sp>
        <p:nvSpPr>
          <p:cNvPr id="47" name="Rectangle 46"/>
          <p:cNvSpPr/>
          <p:nvPr/>
        </p:nvSpPr>
        <p:spPr>
          <a:xfrm>
            <a:off x="5102352" y="3200400"/>
            <a:ext cx="475488" cy="475488"/>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55</a:t>
            </a:r>
          </a:p>
        </p:txBody>
      </p:sp>
      <p:sp>
        <p:nvSpPr>
          <p:cNvPr id="48" name="Rectangle 47"/>
          <p:cNvSpPr/>
          <p:nvPr/>
        </p:nvSpPr>
        <p:spPr>
          <a:xfrm>
            <a:off x="5632704" y="3200400"/>
            <a:ext cx="475488" cy="475488"/>
          </a:xfrm>
          <a:prstGeom prst="rect">
            <a:avLst/>
          </a:prstGeom>
          <a:solidFill>
            <a:srgbClr val="BCD8F1"/>
          </a:solidFill>
          <a:ln w="28575">
            <a:solidFill>
              <a:srgbClr val="4F8FCB"/>
            </a:solidFill>
          </a:ln>
        </p:spPr>
        <p:txBody>
          <a:bodyPr rtlCol="0" anchor="ctr" wrap="none" lIns="0" tIns="0" rIns="0" bIns="0">
            <a:noAutofit/>
          </a:bodyPr>
          <a:lstStyle/>
          <a:p>
            <a:pPr algn="ctr">
              <a:lnSpc>
                <a:spcPct val="100000"/>
              </a:lnSpc>
              <a:spcBef>
                <a:spcPts val="0"/>
              </a:spcBef>
              <a:spcAft>
                <a:spcPts val="0"/>
              </a:spcAft>
            </a:pPr>
            <a:r>
              <a:rPr sz="1600" b="1" i="0">
                <a:solidFill>
                  <a:srgbClr val="22304A"/>
                </a:solidFill>
                <a:latin typeface="Consolas"/>
              </a:rPr>
              <a:t>75</a:t>
            </a:r>
          </a:p>
        </p:txBody>
      </p:sp>
      <p:sp>
        <p:nvSpPr>
          <p:cNvPr id="49" name="Rectangle 48"/>
          <p:cNvSpPr/>
          <p:nvPr/>
        </p:nvSpPr>
        <p:spPr>
          <a:xfrm>
            <a:off x="6163056" y="3200400"/>
            <a:ext cx="475488" cy="475488"/>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70</a:t>
            </a:r>
          </a:p>
        </p:txBody>
      </p:sp>
      <p:sp>
        <p:nvSpPr>
          <p:cNvPr id="50" name="Rectangle 49"/>
          <p:cNvSpPr/>
          <p:nvPr/>
        </p:nvSpPr>
        <p:spPr>
          <a:xfrm>
            <a:off x="6949440" y="3200400"/>
            <a:ext cx="4690872" cy="475488"/>
          </a:xfrm>
          <a:prstGeom prst="rect">
            <a:avLst/>
          </a:prstGeom>
          <a:noFill/>
          <a:ln>
            <a:noFill/>
          </a:ln>
        </p:spPr>
        <p:txBody>
          <a:bodyPr rtlCol="0" anchor="ctr" wrap="square" lIns="0" tIns="0" rIns="0" bIns="0">
            <a:noAutofit/>
          </a:bodyPr>
          <a:lstStyle/>
          <a:p>
            <a:pPr algn="l">
              <a:lnSpc>
                <a:spcPct val="100000"/>
              </a:lnSpc>
              <a:spcBef>
                <a:spcPts val="0"/>
              </a:spcBef>
              <a:spcAft>
                <a:spcPts val="0"/>
              </a:spcAft>
            </a:pPr>
            <a:r>
              <a:rPr sz="1400" b="0" i="0">
                <a:solidFill>
                  <a:srgbClr val="22304A"/>
                </a:solidFill>
                <a:latin typeface="Segoe UI"/>
              </a:rPr>
              <a:t>i stops at A[2] = 75, j stops at A[7] = 50: swap</a:t>
            </a:r>
          </a:p>
        </p:txBody>
      </p:sp>
      <p:sp>
        <p:nvSpPr>
          <p:cNvPr id="51" name="Rectangle 50"/>
          <p:cNvSpPr/>
          <p:nvPr/>
        </p:nvSpPr>
        <p:spPr>
          <a:xfrm>
            <a:off x="548640" y="3840479"/>
            <a:ext cx="1280160" cy="475488"/>
          </a:xfrm>
          <a:prstGeom prst="rect">
            <a:avLst/>
          </a:prstGeom>
          <a:noFill/>
          <a:ln>
            <a:noFill/>
          </a:ln>
        </p:spPr>
        <p:txBody>
          <a:bodyPr rtlCol="0" anchor="ctr" wrap="none" lIns="0" tIns="0" rIns="0" bIns="0">
            <a:noAutofit/>
          </a:bodyPr>
          <a:lstStyle/>
          <a:p>
            <a:pPr algn="l">
              <a:lnSpc>
                <a:spcPct val="100000"/>
              </a:lnSpc>
              <a:spcBef>
                <a:spcPts val="0"/>
              </a:spcBef>
              <a:spcAft>
                <a:spcPts val="0"/>
              </a:spcAft>
            </a:pPr>
            <a:r>
              <a:rPr sz="1500" b="1" i="0">
                <a:solidFill>
                  <a:srgbClr val="22304A"/>
                </a:solidFill>
                <a:latin typeface="Segoe UI"/>
              </a:rPr>
              <a:t>swap 3</a:t>
            </a:r>
          </a:p>
        </p:txBody>
      </p:sp>
      <p:sp>
        <p:nvSpPr>
          <p:cNvPr id="52" name="Rectangle 51"/>
          <p:cNvSpPr/>
          <p:nvPr/>
        </p:nvSpPr>
        <p:spPr>
          <a:xfrm>
            <a:off x="1920240" y="3840479"/>
            <a:ext cx="475488" cy="475488"/>
          </a:xfrm>
          <a:prstGeom prst="rect">
            <a:avLst/>
          </a:prstGeom>
          <a:solidFill>
            <a:srgbClr val="F3A08A"/>
          </a:solidFill>
          <a:ln w="22225">
            <a:solidFill>
              <a:srgbClr val="E07A5F"/>
            </a:solidFill>
          </a:ln>
        </p:spPr>
        <p:txBody>
          <a:bodyPr rtlCol="0" anchor="ctr" wrap="none" lIns="0" tIns="0" rIns="0" bIns="0">
            <a:noAutofit/>
          </a:bodyPr>
          <a:lstStyle/>
          <a:p>
            <a:pPr algn="ctr">
              <a:lnSpc>
                <a:spcPct val="100000"/>
              </a:lnSpc>
              <a:spcBef>
                <a:spcPts val="0"/>
              </a:spcBef>
              <a:spcAft>
                <a:spcPts val="0"/>
              </a:spcAft>
            </a:pPr>
            <a:r>
              <a:rPr sz="1600" b="1" i="0">
                <a:solidFill>
                  <a:srgbClr val="22304A"/>
                </a:solidFill>
                <a:latin typeface="Consolas"/>
              </a:rPr>
              <a:t>65</a:t>
            </a:r>
          </a:p>
        </p:txBody>
      </p:sp>
      <p:sp>
        <p:nvSpPr>
          <p:cNvPr id="53" name="Rectangle 52"/>
          <p:cNvSpPr/>
          <p:nvPr/>
        </p:nvSpPr>
        <p:spPr>
          <a:xfrm>
            <a:off x="2450592" y="3840479"/>
            <a:ext cx="475488" cy="475488"/>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45</a:t>
            </a:r>
          </a:p>
        </p:txBody>
      </p:sp>
      <p:sp>
        <p:nvSpPr>
          <p:cNvPr id="54" name="Rectangle 53"/>
          <p:cNvSpPr/>
          <p:nvPr/>
        </p:nvSpPr>
        <p:spPr>
          <a:xfrm>
            <a:off x="2980944" y="3840479"/>
            <a:ext cx="475488" cy="475488"/>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50</a:t>
            </a:r>
          </a:p>
        </p:txBody>
      </p:sp>
      <p:sp>
        <p:nvSpPr>
          <p:cNvPr id="55" name="Rectangle 54"/>
          <p:cNvSpPr/>
          <p:nvPr/>
        </p:nvSpPr>
        <p:spPr>
          <a:xfrm>
            <a:off x="3511296" y="3840479"/>
            <a:ext cx="475488" cy="475488"/>
          </a:xfrm>
          <a:prstGeom prst="rect">
            <a:avLst/>
          </a:prstGeom>
          <a:solidFill>
            <a:srgbClr val="BCD8F1"/>
          </a:solidFill>
          <a:ln w="28575">
            <a:solidFill>
              <a:srgbClr val="4F8FCB"/>
            </a:solidFill>
          </a:ln>
        </p:spPr>
        <p:txBody>
          <a:bodyPr rtlCol="0" anchor="ctr" wrap="none" lIns="0" tIns="0" rIns="0" bIns="0">
            <a:noAutofit/>
          </a:bodyPr>
          <a:lstStyle/>
          <a:p>
            <a:pPr algn="ctr">
              <a:lnSpc>
                <a:spcPct val="100000"/>
              </a:lnSpc>
              <a:spcBef>
                <a:spcPts val="0"/>
              </a:spcBef>
              <a:spcAft>
                <a:spcPts val="0"/>
              </a:spcAft>
            </a:pPr>
            <a:r>
              <a:rPr sz="1600" b="1" i="0">
                <a:solidFill>
                  <a:srgbClr val="22304A"/>
                </a:solidFill>
                <a:latin typeface="Consolas"/>
              </a:rPr>
              <a:t>55</a:t>
            </a:r>
          </a:p>
        </p:txBody>
      </p:sp>
      <p:sp>
        <p:nvSpPr>
          <p:cNvPr id="56" name="Rectangle 55"/>
          <p:cNvSpPr/>
          <p:nvPr/>
        </p:nvSpPr>
        <p:spPr>
          <a:xfrm>
            <a:off x="4041648" y="3840479"/>
            <a:ext cx="475488" cy="475488"/>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85</a:t>
            </a:r>
          </a:p>
        </p:txBody>
      </p:sp>
      <p:sp>
        <p:nvSpPr>
          <p:cNvPr id="57" name="Rectangle 56"/>
          <p:cNvSpPr/>
          <p:nvPr/>
        </p:nvSpPr>
        <p:spPr>
          <a:xfrm>
            <a:off x="4572000" y="3840479"/>
            <a:ext cx="475488" cy="475488"/>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60</a:t>
            </a:r>
          </a:p>
        </p:txBody>
      </p:sp>
      <p:sp>
        <p:nvSpPr>
          <p:cNvPr id="58" name="Rectangle 57"/>
          <p:cNvSpPr/>
          <p:nvPr/>
        </p:nvSpPr>
        <p:spPr>
          <a:xfrm>
            <a:off x="5102352" y="3840479"/>
            <a:ext cx="475488" cy="475488"/>
          </a:xfrm>
          <a:prstGeom prst="rect">
            <a:avLst/>
          </a:prstGeom>
          <a:solidFill>
            <a:srgbClr val="BCD8F1"/>
          </a:solidFill>
          <a:ln w="28575">
            <a:solidFill>
              <a:srgbClr val="4F8FCB"/>
            </a:solidFill>
          </a:ln>
        </p:spPr>
        <p:txBody>
          <a:bodyPr rtlCol="0" anchor="ctr" wrap="none" lIns="0" tIns="0" rIns="0" bIns="0">
            <a:noAutofit/>
          </a:bodyPr>
          <a:lstStyle/>
          <a:p>
            <a:pPr algn="ctr">
              <a:lnSpc>
                <a:spcPct val="100000"/>
              </a:lnSpc>
              <a:spcBef>
                <a:spcPts val="0"/>
              </a:spcBef>
              <a:spcAft>
                <a:spcPts val="0"/>
              </a:spcAft>
            </a:pPr>
            <a:r>
              <a:rPr sz="1600" b="1" i="0">
                <a:solidFill>
                  <a:srgbClr val="22304A"/>
                </a:solidFill>
                <a:latin typeface="Consolas"/>
              </a:rPr>
              <a:t>80</a:t>
            </a:r>
          </a:p>
        </p:txBody>
      </p:sp>
      <p:sp>
        <p:nvSpPr>
          <p:cNvPr id="59" name="Rectangle 58"/>
          <p:cNvSpPr/>
          <p:nvPr/>
        </p:nvSpPr>
        <p:spPr>
          <a:xfrm>
            <a:off x="5632704" y="3840479"/>
            <a:ext cx="475488" cy="475488"/>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75</a:t>
            </a:r>
          </a:p>
        </p:txBody>
      </p:sp>
      <p:sp>
        <p:nvSpPr>
          <p:cNvPr id="60" name="Rectangle 59"/>
          <p:cNvSpPr/>
          <p:nvPr/>
        </p:nvSpPr>
        <p:spPr>
          <a:xfrm>
            <a:off x="6163056" y="3840479"/>
            <a:ext cx="475488" cy="475488"/>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70</a:t>
            </a:r>
          </a:p>
        </p:txBody>
      </p:sp>
      <p:sp>
        <p:nvSpPr>
          <p:cNvPr id="61" name="Rectangle 60"/>
          <p:cNvSpPr/>
          <p:nvPr/>
        </p:nvSpPr>
        <p:spPr>
          <a:xfrm>
            <a:off x="6949440" y="3840479"/>
            <a:ext cx="4690872" cy="475488"/>
          </a:xfrm>
          <a:prstGeom prst="rect">
            <a:avLst/>
          </a:prstGeom>
          <a:noFill/>
          <a:ln>
            <a:noFill/>
          </a:ln>
        </p:spPr>
        <p:txBody>
          <a:bodyPr rtlCol="0" anchor="ctr" wrap="square" lIns="0" tIns="0" rIns="0" bIns="0">
            <a:noAutofit/>
          </a:bodyPr>
          <a:lstStyle/>
          <a:p>
            <a:pPr algn="l">
              <a:lnSpc>
                <a:spcPct val="100000"/>
              </a:lnSpc>
              <a:spcBef>
                <a:spcPts val="0"/>
              </a:spcBef>
              <a:spcAft>
                <a:spcPts val="0"/>
              </a:spcAft>
            </a:pPr>
            <a:r>
              <a:rPr sz="1400" b="0" i="0">
                <a:solidFill>
                  <a:srgbClr val="22304A"/>
                </a:solidFill>
                <a:latin typeface="Segoe UI"/>
              </a:rPr>
              <a:t>i stops at A[3] = 80, j stops at A[6] = 55: swap</a:t>
            </a:r>
          </a:p>
        </p:txBody>
      </p:sp>
      <p:sp>
        <p:nvSpPr>
          <p:cNvPr id="62" name="Rectangle 61"/>
          <p:cNvSpPr/>
          <p:nvPr/>
        </p:nvSpPr>
        <p:spPr>
          <a:xfrm>
            <a:off x="548640" y="4480560"/>
            <a:ext cx="1280160" cy="475488"/>
          </a:xfrm>
          <a:prstGeom prst="rect">
            <a:avLst/>
          </a:prstGeom>
          <a:noFill/>
          <a:ln>
            <a:noFill/>
          </a:ln>
        </p:spPr>
        <p:txBody>
          <a:bodyPr rtlCol="0" anchor="ctr" wrap="none" lIns="0" tIns="0" rIns="0" bIns="0">
            <a:noAutofit/>
          </a:bodyPr>
          <a:lstStyle/>
          <a:p>
            <a:pPr algn="l">
              <a:lnSpc>
                <a:spcPct val="100000"/>
              </a:lnSpc>
              <a:spcBef>
                <a:spcPts val="0"/>
              </a:spcBef>
              <a:spcAft>
                <a:spcPts val="0"/>
              </a:spcAft>
            </a:pPr>
            <a:r>
              <a:rPr sz="1500" b="1" i="0">
                <a:solidFill>
                  <a:srgbClr val="22304A"/>
                </a:solidFill>
                <a:latin typeface="Segoe UI"/>
              </a:rPr>
              <a:t>swap 4</a:t>
            </a:r>
          </a:p>
        </p:txBody>
      </p:sp>
      <p:sp>
        <p:nvSpPr>
          <p:cNvPr id="63" name="Rectangle 62"/>
          <p:cNvSpPr/>
          <p:nvPr/>
        </p:nvSpPr>
        <p:spPr>
          <a:xfrm>
            <a:off x="1920240" y="4480560"/>
            <a:ext cx="475488" cy="475488"/>
          </a:xfrm>
          <a:prstGeom prst="rect">
            <a:avLst/>
          </a:prstGeom>
          <a:solidFill>
            <a:srgbClr val="F3A08A"/>
          </a:solidFill>
          <a:ln w="22225">
            <a:solidFill>
              <a:srgbClr val="E07A5F"/>
            </a:solidFill>
          </a:ln>
        </p:spPr>
        <p:txBody>
          <a:bodyPr rtlCol="0" anchor="ctr" wrap="none" lIns="0" tIns="0" rIns="0" bIns="0">
            <a:noAutofit/>
          </a:bodyPr>
          <a:lstStyle/>
          <a:p>
            <a:pPr algn="ctr">
              <a:lnSpc>
                <a:spcPct val="100000"/>
              </a:lnSpc>
              <a:spcBef>
                <a:spcPts val="0"/>
              </a:spcBef>
              <a:spcAft>
                <a:spcPts val="0"/>
              </a:spcAft>
            </a:pPr>
            <a:r>
              <a:rPr sz="1600" b="1" i="0">
                <a:solidFill>
                  <a:srgbClr val="22304A"/>
                </a:solidFill>
                <a:latin typeface="Consolas"/>
              </a:rPr>
              <a:t>65</a:t>
            </a:r>
          </a:p>
        </p:txBody>
      </p:sp>
      <p:sp>
        <p:nvSpPr>
          <p:cNvPr id="64" name="Rectangle 63"/>
          <p:cNvSpPr/>
          <p:nvPr/>
        </p:nvSpPr>
        <p:spPr>
          <a:xfrm>
            <a:off x="2450592" y="4480560"/>
            <a:ext cx="475488" cy="475488"/>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45</a:t>
            </a:r>
          </a:p>
        </p:txBody>
      </p:sp>
      <p:sp>
        <p:nvSpPr>
          <p:cNvPr id="65" name="Rectangle 64"/>
          <p:cNvSpPr/>
          <p:nvPr/>
        </p:nvSpPr>
        <p:spPr>
          <a:xfrm>
            <a:off x="2980944" y="4480560"/>
            <a:ext cx="475488" cy="475488"/>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50</a:t>
            </a:r>
          </a:p>
        </p:txBody>
      </p:sp>
      <p:sp>
        <p:nvSpPr>
          <p:cNvPr id="66" name="Rectangle 65"/>
          <p:cNvSpPr/>
          <p:nvPr/>
        </p:nvSpPr>
        <p:spPr>
          <a:xfrm>
            <a:off x="3511296" y="4480560"/>
            <a:ext cx="475488" cy="475488"/>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55</a:t>
            </a:r>
          </a:p>
        </p:txBody>
      </p:sp>
      <p:sp>
        <p:nvSpPr>
          <p:cNvPr id="67" name="Rectangle 66"/>
          <p:cNvSpPr/>
          <p:nvPr/>
        </p:nvSpPr>
        <p:spPr>
          <a:xfrm>
            <a:off x="4041648" y="4480560"/>
            <a:ext cx="475488" cy="475488"/>
          </a:xfrm>
          <a:prstGeom prst="rect">
            <a:avLst/>
          </a:prstGeom>
          <a:solidFill>
            <a:srgbClr val="BCD8F1"/>
          </a:solidFill>
          <a:ln w="28575">
            <a:solidFill>
              <a:srgbClr val="4F8FCB"/>
            </a:solidFill>
          </a:ln>
        </p:spPr>
        <p:txBody>
          <a:bodyPr rtlCol="0" anchor="ctr" wrap="none" lIns="0" tIns="0" rIns="0" bIns="0">
            <a:noAutofit/>
          </a:bodyPr>
          <a:lstStyle/>
          <a:p>
            <a:pPr algn="ctr">
              <a:lnSpc>
                <a:spcPct val="100000"/>
              </a:lnSpc>
              <a:spcBef>
                <a:spcPts val="0"/>
              </a:spcBef>
              <a:spcAft>
                <a:spcPts val="0"/>
              </a:spcAft>
            </a:pPr>
            <a:r>
              <a:rPr sz="1600" b="1" i="0">
                <a:solidFill>
                  <a:srgbClr val="22304A"/>
                </a:solidFill>
                <a:latin typeface="Consolas"/>
              </a:rPr>
              <a:t>60</a:t>
            </a:r>
          </a:p>
        </p:txBody>
      </p:sp>
      <p:sp>
        <p:nvSpPr>
          <p:cNvPr id="68" name="Rectangle 67"/>
          <p:cNvSpPr/>
          <p:nvPr/>
        </p:nvSpPr>
        <p:spPr>
          <a:xfrm>
            <a:off x="4572000" y="4480560"/>
            <a:ext cx="475488" cy="475488"/>
          </a:xfrm>
          <a:prstGeom prst="rect">
            <a:avLst/>
          </a:prstGeom>
          <a:solidFill>
            <a:srgbClr val="BCD8F1"/>
          </a:solidFill>
          <a:ln w="28575">
            <a:solidFill>
              <a:srgbClr val="4F8FCB"/>
            </a:solidFill>
          </a:ln>
        </p:spPr>
        <p:txBody>
          <a:bodyPr rtlCol="0" anchor="ctr" wrap="none" lIns="0" tIns="0" rIns="0" bIns="0">
            <a:noAutofit/>
          </a:bodyPr>
          <a:lstStyle/>
          <a:p>
            <a:pPr algn="ctr">
              <a:lnSpc>
                <a:spcPct val="100000"/>
              </a:lnSpc>
              <a:spcBef>
                <a:spcPts val="0"/>
              </a:spcBef>
              <a:spcAft>
                <a:spcPts val="0"/>
              </a:spcAft>
            </a:pPr>
            <a:r>
              <a:rPr sz="1600" b="1" i="0">
                <a:solidFill>
                  <a:srgbClr val="22304A"/>
                </a:solidFill>
                <a:latin typeface="Consolas"/>
              </a:rPr>
              <a:t>85</a:t>
            </a:r>
          </a:p>
        </p:txBody>
      </p:sp>
      <p:sp>
        <p:nvSpPr>
          <p:cNvPr id="69" name="Rectangle 68"/>
          <p:cNvSpPr/>
          <p:nvPr/>
        </p:nvSpPr>
        <p:spPr>
          <a:xfrm>
            <a:off x="5102352" y="4480560"/>
            <a:ext cx="475488" cy="475488"/>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80</a:t>
            </a:r>
          </a:p>
        </p:txBody>
      </p:sp>
      <p:sp>
        <p:nvSpPr>
          <p:cNvPr id="70" name="Rectangle 69"/>
          <p:cNvSpPr/>
          <p:nvPr/>
        </p:nvSpPr>
        <p:spPr>
          <a:xfrm>
            <a:off x="5632704" y="4480560"/>
            <a:ext cx="475488" cy="475488"/>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75</a:t>
            </a:r>
          </a:p>
        </p:txBody>
      </p:sp>
      <p:sp>
        <p:nvSpPr>
          <p:cNvPr id="71" name="Rectangle 70"/>
          <p:cNvSpPr/>
          <p:nvPr/>
        </p:nvSpPr>
        <p:spPr>
          <a:xfrm>
            <a:off x="6163056" y="4480560"/>
            <a:ext cx="475488" cy="475488"/>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70</a:t>
            </a:r>
          </a:p>
        </p:txBody>
      </p:sp>
      <p:sp>
        <p:nvSpPr>
          <p:cNvPr id="72" name="Rectangle 71"/>
          <p:cNvSpPr/>
          <p:nvPr/>
        </p:nvSpPr>
        <p:spPr>
          <a:xfrm>
            <a:off x="6949440" y="4480560"/>
            <a:ext cx="4690872" cy="475488"/>
          </a:xfrm>
          <a:prstGeom prst="rect">
            <a:avLst/>
          </a:prstGeom>
          <a:noFill/>
          <a:ln>
            <a:noFill/>
          </a:ln>
        </p:spPr>
        <p:txBody>
          <a:bodyPr rtlCol="0" anchor="ctr" wrap="square" lIns="0" tIns="0" rIns="0" bIns="0">
            <a:noAutofit/>
          </a:bodyPr>
          <a:lstStyle/>
          <a:p>
            <a:pPr algn="l">
              <a:lnSpc>
                <a:spcPct val="100000"/>
              </a:lnSpc>
              <a:spcBef>
                <a:spcPts val="0"/>
              </a:spcBef>
              <a:spcAft>
                <a:spcPts val="0"/>
              </a:spcAft>
            </a:pPr>
            <a:r>
              <a:rPr sz="1400" b="0" i="0">
                <a:solidFill>
                  <a:srgbClr val="22304A"/>
                </a:solidFill>
                <a:latin typeface="Segoe UI"/>
              </a:rPr>
              <a:t>i stops at A[4] = 85, j stops at A[5] = 60: swap</a:t>
            </a:r>
          </a:p>
        </p:txBody>
      </p:sp>
      <p:sp>
        <p:nvSpPr>
          <p:cNvPr id="73" name="Rectangle 72"/>
          <p:cNvSpPr/>
          <p:nvPr/>
        </p:nvSpPr>
        <p:spPr>
          <a:xfrm>
            <a:off x="548640" y="5120640"/>
            <a:ext cx="1280160" cy="475488"/>
          </a:xfrm>
          <a:prstGeom prst="rect">
            <a:avLst/>
          </a:prstGeom>
          <a:noFill/>
          <a:ln>
            <a:noFill/>
          </a:ln>
        </p:spPr>
        <p:txBody>
          <a:bodyPr rtlCol="0" anchor="ctr" wrap="none" lIns="0" tIns="0" rIns="0" bIns="0">
            <a:noAutofit/>
          </a:bodyPr>
          <a:lstStyle/>
          <a:p>
            <a:pPr algn="l">
              <a:lnSpc>
                <a:spcPct val="100000"/>
              </a:lnSpc>
              <a:spcBef>
                <a:spcPts val="0"/>
              </a:spcBef>
              <a:spcAft>
                <a:spcPts val="0"/>
              </a:spcAft>
            </a:pPr>
            <a:r>
              <a:rPr sz="1500" b="1" i="0">
                <a:solidFill>
                  <a:srgbClr val="22304A"/>
                </a:solidFill>
                <a:latin typeface="Segoe UI"/>
              </a:rPr>
              <a:t>finish</a:t>
            </a:r>
          </a:p>
        </p:txBody>
      </p:sp>
      <p:sp>
        <p:nvSpPr>
          <p:cNvPr id="74" name="Rectangle 73"/>
          <p:cNvSpPr/>
          <p:nvPr/>
        </p:nvSpPr>
        <p:spPr>
          <a:xfrm>
            <a:off x="1920240" y="5120640"/>
            <a:ext cx="475488" cy="475488"/>
          </a:xfrm>
          <a:prstGeom prst="rect">
            <a:avLst/>
          </a:prstGeom>
          <a:solidFill>
            <a:srgbClr val="E8F2FB"/>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60</a:t>
            </a:r>
          </a:p>
        </p:txBody>
      </p:sp>
      <p:sp>
        <p:nvSpPr>
          <p:cNvPr id="75" name="Rectangle 74"/>
          <p:cNvSpPr/>
          <p:nvPr/>
        </p:nvSpPr>
        <p:spPr>
          <a:xfrm>
            <a:off x="2450592" y="5120640"/>
            <a:ext cx="475488" cy="475488"/>
          </a:xfrm>
          <a:prstGeom prst="rect">
            <a:avLst/>
          </a:prstGeom>
          <a:solidFill>
            <a:srgbClr val="E8F2FB"/>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45</a:t>
            </a:r>
          </a:p>
        </p:txBody>
      </p:sp>
      <p:sp>
        <p:nvSpPr>
          <p:cNvPr id="76" name="Rectangle 75"/>
          <p:cNvSpPr/>
          <p:nvPr/>
        </p:nvSpPr>
        <p:spPr>
          <a:xfrm>
            <a:off x="2980944" y="5120640"/>
            <a:ext cx="475488" cy="475488"/>
          </a:xfrm>
          <a:prstGeom prst="rect">
            <a:avLst/>
          </a:prstGeom>
          <a:solidFill>
            <a:srgbClr val="E8F2FB"/>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50</a:t>
            </a:r>
          </a:p>
        </p:txBody>
      </p:sp>
      <p:sp>
        <p:nvSpPr>
          <p:cNvPr id="77" name="Rectangle 76"/>
          <p:cNvSpPr/>
          <p:nvPr/>
        </p:nvSpPr>
        <p:spPr>
          <a:xfrm>
            <a:off x="3511296" y="5120640"/>
            <a:ext cx="475488" cy="475488"/>
          </a:xfrm>
          <a:prstGeom prst="rect">
            <a:avLst/>
          </a:prstGeom>
          <a:solidFill>
            <a:srgbClr val="E8F2FB"/>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55</a:t>
            </a:r>
          </a:p>
        </p:txBody>
      </p:sp>
      <p:sp>
        <p:nvSpPr>
          <p:cNvPr id="78" name="Rectangle 77"/>
          <p:cNvSpPr/>
          <p:nvPr/>
        </p:nvSpPr>
        <p:spPr>
          <a:xfrm>
            <a:off x="4041648" y="5120640"/>
            <a:ext cx="475488" cy="475488"/>
          </a:xfrm>
          <a:prstGeom prst="rect">
            <a:avLst/>
          </a:prstGeom>
          <a:solidFill>
            <a:srgbClr val="F3A08A"/>
          </a:solidFill>
          <a:ln w="22225">
            <a:solidFill>
              <a:srgbClr val="E07A5F"/>
            </a:solidFill>
          </a:ln>
        </p:spPr>
        <p:txBody>
          <a:bodyPr rtlCol="0" anchor="ctr" wrap="none" lIns="0" tIns="0" rIns="0" bIns="0">
            <a:noAutofit/>
          </a:bodyPr>
          <a:lstStyle/>
          <a:p>
            <a:pPr algn="ctr">
              <a:lnSpc>
                <a:spcPct val="100000"/>
              </a:lnSpc>
              <a:spcBef>
                <a:spcPts val="0"/>
              </a:spcBef>
              <a:spcAft>
                <a:spcPts val="0"/>
              </a:spcAft>
            </a:pPr>
            <a:r>
              <a:rPr sz="1600" b="1" i="0">
                <a:solidFill>
                  <a:srgbClr val="22304A"/>
                </a:solidFill>
                <a:latin typeface="Consolas"/>
              </a:rPr>
              <a:t>65</a:t>
            </a:r>
          </a:p>
        </p:txBody>
      </p:sp>
      <p:sp>
        <p:nvSpPr>
          <p:cNvPr id="79" name="Rectangle 78"/>
          <p:cNvSpPr/>
          <p:nvPr/>
        </p:nvSpPr>
        <p:spPr>
          <a:xfrm>
            <a:off x="4572000" y="5120640"/>
            <a:ext cx="475488" cy="475488"/>
          </a:xfrm>
          <a:prstGeom prst="rect">
            <a:avLst/>
          </a:prstGeom>
          <a:solidFill>
            <a:srgbClr val="E8F2FB"/>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85</a:t>
            </a:r>
          </a:p>
        </p:txBody>
      </p:sp>
      <p:sp>
        <p:nvSpPr>
          <p:cNvPr id="80" name="Rectangle 79"/>
          <p:cNvSpPr/>
          <p:nvPr/>
        </p:nvSpPr>
        <p:spPr>
          <a:xfrm>
            <a:off x="5102352" y="5120640"/>
            <a:ext cx="475488" cy="475488"/>
          </a:xfrm>
          <a:prstGeom prst="rect">
            <a:avLst/>
          </a:prstGeom>
          <a:solidFill>
            <a:srgbClr val="E8F2FB"/>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80</a:t>
            </a:r>
          </a:p>
        </p:txBody>
      </p:sp>
      <p:sp>
        <p:nvSpPr>
          <p:cNvPr id="81" name="Rectangle 80"/>
          <p:cNvSpPr/>
          <p:nvPr/>
        </p:nvSpPr>
        <p:spPr>
          <a:xfrm>
            <a:off x="5632704" y="5120640"/>
            <a:ext cx="475488" cy="475488"/>
          </a:xfrm>
          <a:prstGeom prst="rect">
            <a:avLst/>
          </a:prstGeom>
          <a:solidFill>
            <a:srgbClr val="E8F2FB"/>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75</a:t>
            </a:r>
          </a:p>
        </p:txBody>
      </p:sp>
      <p:sp>
        <p:nvSpPr>
          <p:cNvPr id="82" name="Rectangle 81"/>
          <p:cNvSpPr/>
          <p:nvPr/>
        </p:nvSpPr>
        <p:spPr>
          <a:xfrm>
            <a:off x="6163056" y="5120640"/>
            <a:ext cx="475488" cy="475488"/>
          </a:xfrm>
          <a:prstGeom prst="rect">
            <a:avLst/>
          </a:prstGeom>
          <a:solidFill>
            <a:srgbClr val="E8F2FB"/>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600" b="0" i="0">
                <a:solidFill>
                  <a:srgbClr val="22304A"/>
                </a:solidFill>
                <a:latin typeface="Consolas"/>
              </a:rPr>
              <a:t>70</a:t>
            </a:r>
          </a:p>
        </p:txBody>
      </p:sp>
      <p:sp>
        <p:nvSpPr>
          <p:cNvPr id="83" name="Rectangle 82"/>
          <p:cNvSpPr/>
          <p:nvPr/>
        </p:nvSpPr>
        <p:spPr>
          <a:xfrm>
            <a:off x="6949440" y="5120640"/>
            <a:ext cx="4690872" cy="475488"/>
          </a:xfrm>
          <a:prstGeom prst="rect">
            <a:avLst/>
          </a:prstGeom>
          <a:noFill/>
          <a:ln>
            <a:noFill/>
          </a:ln>
        </p:spPr>
        <p:txBody>
          <a:bodyPr rtlCol="0" anchor="ctr" wrap="square" lIns="0" tIns="0" rIns="0" bIns="0">
            <a:noAutofit/>
          </a:bodyPr>
          <a:lstStyle/>
          <a:p>
            <a:pPr algn="l">
              <a:lnSpc>
                <a:spcPct val="100000"/>
              </a:lnSpc>
              <a:spcBef>
                <a:spcPts val="0"/>
              </a:spcBef>
              <a:spcAft>
                <a:spcPts val="0"/>
              </a:spcAft>
            </a:pPr>
            <a:r>
              <a:rPr sz="1400" b="1" i="0">
                <a:solidFill>
                  <a:srgbClr val="22304A"/>
                </a:solidFill>
                <a:latin typeface="Segoe UI"/>
              </a:rPr>
              <a:t>i = 5 has passed j = 4: swap the pivot with A[4]</a:t>
            </a:r>
          </a:p>
        </p:txBody>
      </p:sp>
      <p:sp>
        <p:nvSpPr>
          <p:cNvPr id="84" name="Rectangle 83"/>
          <p:cNvSpPr/>
          <p:nvPr/>
        </p:nvSpPr>
        <p:spPr>
          <a:xfrm>
            <a:off x="548640" y="5806440"/>
            <a:ext cx="256032" cy="256032"/>
          </a:xfrm>
          <a:prstGeom prst="rect">
            <a:avLst/>
          </a:prstGeom>
          <a:solidFill>
            <a:srgbClr val="F3A08A"/>
          </a:solidFill>
          <a:ln w="19050">
            <a:solidFill>
              <a:srgbClr val="E07A5F"/>
            </a:solidFill>
          </a:ln>
        </p:spPr>
        <p:txBody>
          <a:bodyPr rtlCol="0" anchor="ctr"/>
          <a:lstStyle/>
          <a:p>
            <a:pPr algn="ctr"/>
          </a:p>
        </p:txBody>
      </p:sp>
      <p:sp>
        <p:nvSpPr>
          <p:cNvPr id="85" name="Rectangle 84"/>
          <p:cNvSpPr/>
          <p:nvPr/>
        </p:nvSpPr>
        <p:spPr>
          <a:xfrm>
            <a:off x="896112" y="5760720"/>
            <a:ext cx="1097280" cy="347472"/>
          </a:xfrm>
          <a:prstGeom prst="rect">
            <a:avLst/>
          </a:prstGeom>
          <a:noFill/>
          <a:ln>
            <a:noFill/>
          </a:ln>
        </p:spPr>
        <p:txBody>
          <a:bodyPr rtlCol="0" anchor="ctr" wrap="none" lIns="0" tIns="0" rIns="0" bIns="0">
            <a:noAutofit/>
          </a:bodyPr>
          <a:lstStyle/>
          <a:p>
            <a:pPr algn="l">
              <a:lnSpc>
                <a:spcPct val="100000"/>
              </a:lnSpc>
              <a:spcBef>
                <a:spcPts val="0"/>
              </a:spcBef>
              <a:spcAft>
                <a:spcPts val="0"/>
              </a:spcAft>
            </a:pPr>
            <a:r>
              <a:rPr sz="1400" b="0" i="0">
                <a:solidFill>
                  <a:srgbClr val="66758C"/>
                </a:solidFill>
                <a:latin typeface="Segoe UI"/>
              </a:rPr>
              <a:t>pivot</a:t>
            </a:r>
          </a:p>
        </p:txBody>
      </p:sp>
      <p:sp>
        <p:nvSpPr>
          <p:cNvPr id="86" name="Rectangle 85"/>
          <p:cNvSpPr/>
          <p:nvPr/>
        </p:nvSpPr>
        <p:spPr>
          <a:xfrm>
            <a:off x="2103120" y="5806440"/>
            <a:ext cx="256032" cy="256032"/>
          </a:xfrm>
          <a:prstGeom prst="rect">
            <a:avLst/>
          </a:prstGeom>
          <a:solidFill>
            <a:srgbClr val="BCD8F1"/>
          </a:solidFill>
          <a:ln w="25400">
            <a:solidFill>
              <a:srgbClr val="4F8FCB"/>
            </a:solidFill>
          </a:ln>
        </p:spPr>
        <p:txBody>
          <a:bodyPr rtlCol="0" anchor="ctr"/>
          <a:lstStyle/>
          <a:p>
            <a:pPr algn="ctr"/>
          </a:p>
        </p:txBody>
      </p:sp>
      <p:sp>
        <p:nvSpPr>
          <p:cNvPr id="87" name="Rectangle 86"/>
          <p:cNvSpPr/>
          <p:nvPr/>
        </p:nvSpPr>
        <p:spPr>
          <a:xfrm>
            <a:off x="2450592" y="5760720"/>
            <a:ext cx="2011680" cy="347472"/>
          </a:xfrm>
          <a:prstGeom prst="rect">
            <a:avLst/>
          </a:prstGeom>
          <a:noFill/>
          <a:ln>
            <a:noFill/>
          </a:ln>
        </p:spPr>
        <p:txBody>
          <a:bodyPr rtlCol="0" anchor="ctr" wrap="none" lIns="0" tIns="0" rIns="0" bIns="0">
            <a:noAutofit/>
          </a:bodyPr>
          <a:lstStyle/>
          <a:p>
            <a:pPr algn="l">
              <a:lnSpc>
                <a:spcPct val="100000"/>
              </a:lnSpc>
              <a:spcBef>
                <a:spcPts val="0"/>
              </a:spcBef>
              <a:spcAft>
                <a:spcPts val="0"/>
              </a:spcAft>
            </a:pPr>
            <a:r>
              <a:rPr sz="1400" b="0" i="0">
                <a:solidFill>
                  <a:srgbClr val="66758C"/>
                </a:solidFill>
                <a:latin typeface="Segoe UI"/>
              </a:rPr>
              <a:t>swapped pair</a:t>
            </a:r>
          </a:p>
        </p:txBody>
      </p:sp>
      <p:sp>
        <p:nvSpPr>
          <p:cNvPr id="88" name="Rectangle 87"/>
          <p:cNvSpPr/>
          <p:nvPr/>
        </p:nvSpPr>
        <p:spPr>
          <a:xfrm>
            <a:off x="4480560" y="5806440"/>
            <a:ext cx="256032" cy="256032"/>
          </a:xfrm>
          <a:prstGeom prst="rect">
            <a:avLst/>
          </a:prstGeom>
          <a:solidFill>
            <a:srgbClr val="E8F2FB"/>
          </a:solidFill>
          <a:ln w="15875">
            <a:solidFill>
              <a:srgbClr val="4F8FCB"/>
            </a:solidFill>
          </a:ln>
        </p:spPr>
        <p:txBody>
          <a:bodyPr rtlCol="0" anchor="ctr"/>
          <a:lstStyle/>
          <a:p>
            <a:pPr algn="ctr"/>
          </a:p>
        </p:txBody>
      </p:sp>
      <p:sp>
        <p:nvSpPr>
          <p:cNvPr id="89" name="Rectangle 88"/>
          <p:cNvSpPr/>
          <p:nvPr/>
        </p:nvSpPr>
        <p:spPr>
          <a:xfrm>
            <a:off x="4828032" y="5760720"/>
            <a:ext cx="6766560" cy="347472"/>
          </a:xfrm>
          <a:prstGeom prst="rect">
            <a:avLst/>
          </a:prstGeom>
          <a:noFill/>
          <a:ln>
            <a:noFill/>
          </a:ln>
        </p:spPr>
        <p:txBody>
          <a:bodyPr rtlCol="0" anchor="ctr" wrap="none" lIns="0" tIns="0" rIns="0" bIns="0">
            <a:noAutofit/>
          </a:bodyPr>
          <a:lstStyle/>
          <a:p>
            <a:pPr algn="l">
              <a:lnSpc>
                <a:spcPct val="100000"/>
              </a:lnSpc>
              <a:spcBef>
                <a:spcPts val="0"/>
              </a:spcBef>
              <a:spcAft>
                <a:spcPts val="0"/>
              </a:spcAft>
            </a:pPr>
            <a:r>
              <a:rPr sz="1400" b="0" i="0">
                <a:solidFill>
                  <a:srgbClr val="66758C"/>
                </a:solidFill>
                <a:latin typeface="Segoe UI"/>
              </a:rPr>
              <a:t>final row: left four ≤ 65, right four ≥ 65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gradFill rotWithShape="1">
          <a:gsLst>
            <a:gs pos="0">
              <a:srgbClr val="DDEBFA"/>
            </a:gs>
            <a:gs pos="100000">
              <a:srgbClr val="FFEFE8"/>
            </a:gs>
          </a:gsLst>
          <a:lin scaled="0" ang="2700000"/>
        </a:gradFill>
        <a:effectLst/>
      </p:bgPr>
    </p:bg>
    <p:spTree>
      <p:nvGrpSpPr>
        <p:cNvPr id="1" name=""/>
        <p:cNvGrpSpPr/>
        <p:nvPr/>
      </p:nvGrpSpPr>
      <p:grpSpPr/>
      <p:sp>
        <p:nvSpPr>
          <p:cNvPr id="3" name="Rounded Rectangle 2"/>
          <p:cNvSpPr/>
          <p:nvPr/>
        </p:nvSpPr>
        <p:spPr>
          <a:xfrm>
            <a:off x="256032" y="182880"/>
            <a:ext cx="11679631" cy="6492240"/>
          </a:xfrm>
          <a:prstGeom prst="roundRect">
            <a:avLst>
              <a:gd name="adj" fmla="val 3943"/>
            </a:avLst>
          </a:prstGeom>
          <a:solidFill>
            <a:srgbClr val="FFFFFF"/>
          </a:solidFill>
          <a:ln w="9525">
            <a:solidFill>
              <a:srgbClr val="BCD8F1"/>
            </a:solidFill>
          </a:ln>
        </p:spPr>
        <p:txBody>
          <a:bodyPr rtlCol="0" anchor="ctr"/>
          <a:lstStyle/>
          <a:p>
            <a:pPr algn="ctr"/>
          </a:p>
        </p:txBody>
      </p:sp>
      <p:sp>
        <p:nvSpPr>
          <p:cNvPr id="2" name="Title 1"/>
          <p:cNvSpPr>
            <a:spLocks noGrp="1"/>
          </p:cNvSpPr>
          <p:nvPr>
            <p:ph type="title"/>
          </p:nvPr>
        </p:nvSpPr>
        <p:spPr>
          <a:xfrm>
            <a:off x="548640" y="566928"/>
            <a:ext cx="11094415" cy="658368"/>
          </a:xfrm>
        </p:spPr>
        <p:txBody>
          <a:bodyPr wrap="square" lIns="0" tIns="27432" rIns="0" bIns="27432" anchor="ctr">
            <a:noAutofit/>
          </a:bodyPr>
          <a:lstStyle/>
          <a:p>
            <a:pPr algn="l">
              <a:lnSpc>
                <a:spcPct val="100000"/>
              </a:lnSpc>
              <a:spcBef>
                <a:spcPts val="0"/>
              </a:spcBef>
              <a:spcAft>
                <a:spcPts val="0"/>
              </a:spcAft>
            </a:pPr>
            <a:r>
              <a:rPr sz="3000" b="1" i="0">
                <a:solidFill>
                  <a:srgbClr val="22304A"/>
                </a:solidFill>
                <a:latin typeface="Georgia"/>
              </a:rPr>
              <a:t>Do it again on both sides, until nothing is left</a:t>
            </a:r>
          </a:p>
        </p:txBody>
      </p:sp>
      <p:sp>
        <p:nvSpPr>
          <p:cNvPr id="4" name="Rectangle 3"/>
          <p:cNvSpPr/>
          <p:nvPr/>
        </p:nvSpPr>
        <p:spPr>
          <a:xfrm>
            <a:off x="548640" y="310896"/>
            <a:ext cx="8229600" cy="246888"/>
          </a:xfrm>
          <a:prstGeom prst="rect">
            <a:avLst/>
          </a:prstGeom>
          <a:noFill/>
          <a:ln>
            <a:noFill/>
          </a:ln>
        </p:spPr>
        <p:txBody>
          <a:bodyPr rtlCol="0" anchor="ctr" wrap="none" lIns="0" tIns="0" rIns="0" bIns="0">
            <a:noAutofit/>
          </a:bodyPr>
          <a:lstStyle/>
          <a:p>
            <a:pPr algn="l">
              <a:lnSpc>
                <a:spcPct val="100000"/>
              </a:lnSpc>
              <a:spcBef>
                <a:spcPts val="0"/>
              </a:spcBef>
              <a:spcAft>
                <a:spcPts val="0"/>
              </a:spcAft>
            </a:pPr>
            <a:r>
              <a:rPr sz="1100" b="1" i="0" spc="150">
                <a:solidFill>
                  <a:srgbClr val="4F8FCB"/>
                </a:solidFill>
                <a:latin typeface="Segoe UI"/>
              </a:rPr>
              <a:t>CHAPTER 4 · REPEAT</a:t>
            </a:r>
          </a:p>
        </p:txBody>
      </p:sp>
      <p:sp>
        <p:nvSpPr>
          <p:cNvPr id="5" name="Rectangle 4"/>
          <p:cNvSpPr/>
          <p:nvPr/>
        </p:nvSpPr>
        <p:spPr>
          <a:xfrm>
            <a:off x="548640" y="1280160"/>
            <a:ext cx="1097280" cy="54864"/>
          </a:xfrm>
          <a:prstGeom prst="rect">
            <a:avLst/>
          </a:prstGeom>
          <a:solidFill>
            <a:srgbClr val="F3A08A"/>
          </a:solidFill>
          <a:ln>
            <a:noFill/>
          </a:ln>
        </p:spPr>
        <p:txBody>
          <a:bodyPr rtlCol="0" anchor="ctr"/>
          <a:lstStyle/>
          <a:p>
            <a:pPr algn="ctr"/>
          </a:p>
        </p:txBody>
      </p:sp>
      <p:cxnSp>
        <p:nvCxnSpPr>
          <p:cNvPr id="6" name="Connector 5"/>
          <p:cNvCxnSpPr/>
          <p:nvPr/>
        </p:nvCxnSpPr>
        <p:spPr>
          <a:xfrm>
            <a:off x="548640" y="6309360"/>
            <a:ext cx="11094415" cy="0"/>
          </a:xfrm>
          <a:prstGeom prst="line">
            <a:avLst/>
          </a:prstGeom>
          <a:ln w="9525">
            <a:solidFill>
              <a:srgbClr val="BCD8F1"/>
            </a:solidFill>
          </a:ln>
        </p:spPr>
      </p:cxnSp>
      <p:sp>
        <p:nvSpPr>
          <p:cNvPr id="7" name="Rectangle 6"/>
          <p:cNvSpPr/>
          <p:nvPr/>
        </p:nvSpPr>
        <p:spPr>
          <a:xfrm>
            <a:off x="548640" y="6364224"/>
            <a:ext cx="5486400" cy="246888"/>
          </a:xfrm>
          <a:prstGeom prst="rect">
            <a:avLst/>
          </a:prstGeom>
          <a:noFill/>
          <a:ln>
            <a:noFill/>
          </a:ln>
        </p:spPr>
        <p:txBody>
          <a:bodyPr rtlCol="0" anchor="ctr" wrap="none" lIns="0" tIns="0" rIns="0" bIns="0">
            <a:noAutofit/>
          </a:bodyPr>
          <a:lstStyle/>
          <a:p>
            <a:pPr algn="l">
              <a:lnSpc>
                <a:spcPct val="100000"/>
              </a:lnSpc>
              <a:spcBef>
                <a:spcPts val="0"/>
              </a:spcBef>
              <a:spcAft>
                <a:spcPts val="0"/>
              </a:spcAft>
            </a:pPr>
            <a:r>
              <a:rPr sz="1100" b="0" i="0">
                <a:solidFill>
                  <a:srgbClr val="66758C"/>
                </a:solidFill>
                <a:latin typeface="Segoe UI"/>
              </a:rPr>
              <a:t>Quick Sort  ·  DAA Unit 2</a:t>
            </a:r>
          </a:p>
        </p:txBody>
      </p:sp>
      <p:sp>
        <p:nvSpPr>
          <p:cNvPr id="8" name="Rectangle 7"/>
          <p:cNvSpPr/>
          <p:nvPr/>
        </p:nvSpPr>
        <p:spPr>
          <a:xfrm>
            <a:off x="10271455" y="6364224"/>
            <a:ext cx="1371600" cy="246888"/>
          </a:xfrm>
          <a:prstGeom prst="rect">
            <a:avLst/>
          </a:prstGeom>
          <a:noFill/>
          <a:ln>
            <a:noFill/>
          </a:ln>
        </p:spPr>
        <p:txBody>
          <a:bodyPr rtlCol="0" anchor="ctr" wrap="none" lIns="0" tIns="0" rIns="0" bIns="0">
            <a:noAutofit/>
          </a:bodyPr>
          <a:lstStyle/>
          <a:p>
            <a:pPr algn="r">
              <a:lnSpc>
                <a:spcPct val="100000"/>
              </a:lnSpc>
              <a:spcBef>
                <a:spcPts val="0"/>
              </a:spcBef>
              <a:spcAft>
                <a:spcPts val="0"/>
              </a:spcAft>
            </a:pPr>
            <a:r>
              <a:rPr sz="1100" b="0" i="0">
                <a:solidFill>
                  <a:srgbClr val="66758C"/>
                </a:solidFill>
                <a:latin typeface="Segoe UI"/>
              </a:rPr>
              <a:t>5</a:t>
            </a:r>
          </a:p>
        </p:txBody>
      </p:sp>
      <p:sp>
        <p:nvSpPr>
          <p:cNvPr id="9" name="Rounded Rectangle 8"/>
          <p:cNvSpPr/>
          <p:nvPr/>
        </p:nvSpPr>
        <p:spPr>
          <a:xfrm>
            <a:off x="548640" y="1645920"/>
            <a:ext cx="5760720" cy="1600200"/>
          </a:xfrm>
          <a:prstGeom prst="roundRect">
            <a:avLst>
              <a:gd name="adj" fmla="val 6857"/>
            </a:avLst>
          </a:prstGeom>
          <a:solidFill>
            <a:srgbClr val="E8F2FB"/>
          </a:solidFill>
          <a:ln>
            <a:noFill/>
          </a:ln>
        </p:spPr>
        <p:txBody>
          <a:bodyPr rtlCol="0" anchor="ctr"/>
          <a:lstStyle/>
          <a:p>
            <a:pPr algn="ctr"/>
          </a:p>
        </p:txBody>
      </p:sp>
      <p:sp>
        <p:nvSpPr>
          <p:cNvPr id="10" name="Rectangle 9"/>
          <p:cNvSpPr/>
          <p:nvPr/>
        </p:nvSpPr>
        <p:spPr>
          <a:xfrm>
            <a:off x="548640" y="1645920"/>
            <a:ext cx="82296" cy="1600200"/>
          </a:xfrm>
          <a:prstGeom prst="rect">
            <a:avLst/>
          </a:prstGeom>
          <a:solidFill>
            <a:srgbClr val="4F8FCB"/>
          </a:solidFill>
          <a:ln>
            <a:noFill/>
          </a:ln>
        </p:spPr>
        <p:txBody>
          <a:bodyPr rtlCol="0" anchor="ctr"/>
          <a:lstStyle/>
          <a:p>
            <a:pPr algn="ctr"/>
          </a:p>
        </p:txBody>
      </p:sp>
      <p:sp>
        <p:nvSpPr>
          <p:cNvPr id="11" name="Rectangle 10"/>
          <p:cNvSpPr/>
          <p:nvPr/>
        </p:nvSpPr>
        <p:spPr>
          <a:xfrm>
            <a:off x="822959" y="1691640"/>
            <a:ext cx="5394960" cy="1508760"/>
          </a:xfrm>
          <a:prstGeom prst="rect">
            <a:avLst/>
          </a:prstGeom>
          <a:noFill/>
          <a:ln>
            <a:noFill/>
          </a:ln>
        </p:spPr>
        <p:txBody>
          <a:bodyPr rtlCol="0" anchor="ctr" wrap="square" lIns="45720" tIns="27432" rIns="45720" bIns="27432">
            <a:noAutofit/>
          </a:bodyPr>
          <a:lstStyle/>
          <a:p>
            <a:pPr algn="l">
              <a:lnSpc>
                <a:spcPct val="100000"/>
              </a:lnSpc>
              <a:spcBef>
                <a:spcPts val="0"/>
              </a:spcBef>
              <a:spcAft>
                <a:spcPts val="100"/>
              </a:spcAft>
            </a:pPr>
            <a:r>
              <a:rPr sz="1600" b="0" i="0">
                <a:solidFill>
                  <a:srgbClr val="66758C"/>
                </a:solidFill>
                <a:latin typeface="Consolas"/>
              </a:rPr>
              <a:t> 1  </a:t>
            </a:r>
            <a:r>
              <a:rPr sz="1600" b="1" i="0">
                <a:solidFill>
                  <a:srgbClr val="22304A"/>
                </a:solidFill>
                <a:latin typeface="Consolas"/>
              </a:rPr>
              <a:t>QuickSort(A, low, high)</a:t>
            </a:r>
          </a:p>
          <a:p>
            <a:pPr algn="l">
              <a:lnSpc>
                <a:spcPct val="100000"/>
              </a:lnSpc>
              <a:spcBef>
                <a:spcPts val="0"/>
              </a:spcBef>
              <a:spcAft>
                <a:spcPts val="100"/>
              </a:spcAft>
            </a:pPr>
            <a:r>
              <a:rPr sz="1600" b="0" i="0">
                <a:solidFill>
                  <a:srgbClr val="66758C"/>
                </a:solidFill>
                <a:latin typeface="Consolas"/>
              </a:rPr>
              <a:t> 2  </a:t>
            </a:r>
            <a:r>
              <a:rPr sz="1600" b="0" i="0">
                <a:solidFill>
                  <a:srgbClr val="22304A"/>
                </a:solidFill>
                <a:latin typeface="Consolas"/>
              </a:rPr>
              <a:t>  if low &lt; high</a:t>
            </a:r>
          </a:p>
          <a:p>
            <a:pPr algn="l">
              <a:lnSpc>
                <a:spcPct val="100000"/>
              </a:lnSpc>
              <a:spcBef>
                <a:spcPts val="0"/>
              </a:spcBef>
              <a:spcAft>
                <a:spcPts val="100"/>
              </a:spcAft>
            </a:pPr>
            <a:r>
              <a:rPr sz="1600" b="0" i="0">
                <a:solidFill>
                  <a:srgbClr val="66758C"/>
                </a:solidFill>
                <a:latin typeface="Consolas"/>
              </a:rPr>
              <a:t> 3  </a:t>
            </a:r>
            <a:r>
              <a:rPr sz="1600" b="0" i="0">
                <a:solidFill>
                  <a:srgbClr val="22304A"/>
                </a:solidFill>
                <a:latin typeface="Consolas"/>
              </a:rPr>
              <a:t>    j = Partition(A, low, high)</a:t>
            </a:r>
          </a:p>
          <a:p>
            <a:pPr algn="l">
              <a:lnSpc>
                <a:spcPct val="100000"/>
              </a:lnSpc>
              <a:spcBef>
                <a:spcPts val="0"/>
              </a:spcBef>
              <a:spcAft>
                <a:spcPts val="100"/>
              </a:spcAft>
            </a:pPr>
            <a:r>
              <a:rPr sz="1600" b="0" i="0">
                <a:solidFill>
                  <a:srgbClr val="66758C"/>
                </a:solidFill>
                <a:latin typeface="Consolas"/>
              </a:rPr>
              <a:t> 4  </a:t>
            </a:r>
            <a:r>
              <a:rPr sz="1600" b="0" i="0">
                <a:solidFill>
                  <a:srgbClr val="22304A"/>
                </a:solidFill>
                <a:latin typeface="Consolas"/>
              </a:rPr>
              <a:t>    QuickSort(A, low, j - 1)</a:t>
            </a:r>
          </a:p>
          <a:p>
            <a:pPr algn="l">
              <a:lnSpc>
                <a:spcPct val="100000"/>
              </a:lnSpc>
              <a:spcBef>
                <a:spcPts val="0"/>
              </a:spcBef>
              <a:spcAft>
                <a:spcPts val="100"/>
              </a:spcAft>
            </a:pPr>
            <a:r>
              <a:rPr sz="1600" b="0" i="0">
                <a:solidFill>
                  <a:srgbClr val="66758C"/>
                </a:solidFill>
                <a:latin typeface="Consolas"/>
              </a:rPr>
              <a:t> 5  </a:t>
            </a:r>
            <a:r>
              <a:rPr sz="1600" b="0" i="0">
                <a:solidFill>
                  <a:srgbClr val="22304A"/>
                </a:solidFill>
                <a:latin typeface="Consolas"/>
              </a:rPr>
              <a:t>    QuickSort(A, j + 1, high)</a:t>
            </a:r>
          </a:p>
        </p:txBody>
      </p:sp>
      <p:sp>
        <p:nvSpPr>
          <p:cNvPr id="12" name="Rounded Rectangle 11"/>
          <p:cNvSpPr/>
          <p:nvPr/>
        </p:nvSpPr>
        <p:spPr>
          <a:xfrm>
            <a:off x="548640" y="3383280"/>
            <a:ext cx="5760720" cy="822960"/>
          </a:xfrm>
          <a:prstGeom prst="roundRect">
            <a:avLst>
              <a:gd name="adj" fmla="val 13333"/>
            </a:avLst>
          </a:prstGeom>
          <a:solidFill>
            <a:srgbClr val="FBE3DB"/>
          </a:solidFill>
          <a:ln>
            <a:noFill/>
          </a:ln>
        </p:spPr>
        <p:txBody>
          <a:bodyPr rtlCol="0" anchor="ctr"/>
          <a:lstStyle/>
          <a:p>
            <a:pPr algn="ctr"/>
          </a:p>
        </p:txBody>
      </p:sp>
      <p:sp>
        <p:nvSpPr>
          <p:cNvPr id="13" name="Rectangle 12"/>
          <p:cNvSpPr/>
          <p:nvPr/>
        </p:nvSpPr>
        <p:spPr>
          <a:xfrm>
            <a:off x="548640" y="3383280"/>
            <a:ext cx="82296" cy="822960"/>
          </a:xfrm>
          <a:prstGeom prst="rect">
            <a:avLst/>
          </a:prstGeom>
          <a:solidFill>
            <a:srgbClr val="E07A5F"/>
          </a:solidFill>
          <a:ln>
            <a:noFill/>
          </a:ln>
        </p:spPr>
        <p:txBody>
          <a:bodyPr rtlCol="0" anchor="ctr"/>
          <a:lstStyle/>
          <a:p>
            <a:pPr algn="ctr"/>
          </a:p>
        </p:txBody>
      </p:sp>
      <p:sp>
        <p:nvSpPr>
          <p:cNvPr id="14" name="Rectangle 13"/>
          <p:cNvSpPr/>
          <p:nvPr/>
        </p:nvSpPr>
        <p:spPr>
          <a:xfrm>
            <a:off x="822959" y="3401568"/>
            <a:ext cx="5349240" cy="786384"/>
          </a:xfrm>
          <a:prstGeom prst="rect">
            <a:avLst/>
          </a:prstGeom>
          <a:noFill/>
          <a:ln>
            <a:noFill/>
          </a:ln>
        </p:spPr>
        <p:txBody>
          <a:bodyPr rtlCol="0" anchor="ctr" wrap="square" lIns="45720" tIns="18288" rIns="45720" bIns="18288">
            <a:noAutofit/>
          </a:bodyPr>
          <a:lstStyle/>
          <a:p>
            <a:pPr algn="l">
              <a:lnSpc>
                <a:spcPct val="100000"/>
              </a:lnSpc>
              <a:spcBef>
                <a:spcPts val="0"/>
              </a:spcBef>
              <a:spcAft>
                <a:spcPts val="0"/>
              </a:spcAft>
            </a:pPr>
            <a:r>
              <a:rPr sz="1500" b="1" i="0">
                <a:solidFill>
                  <a:srgbClr val="22304A"/>
                </a:solidFill>
                <a:latin typeface="Segoe UI"/>
              </a:rPr>
              <a:t>No combine step. </a:t>
            </a:r>
            <a:r>
              <a:rPr sz="1500" b="0" i="0">
                <a:solidFill>
                  <a:srgbClr val="22304A"/>
                </a:solidFill>
                <a:latin typeface="Segoe UI"/>
              </a:rPr>
              <a:t>When both calls return, the whole range is already sorted.</a:t>
            </a:r>
          </a:p>
        </p:txBody>
      </p:sp>
      <p:sp>
        <p:nvSpPr>
          <p:cNvPr id="15" name="Rectangle 14"/>
          <p:cNvSpPr/>
          <p:nvPr/>
        </p:nvSpPr>
        <p:spPr>
          <a:xfrm>
            <a:off x="548640" y="4315968"/>
            <a:ext cx="5760720" cy="237744"/>
          </a:xfrm>
          <a:prstGeom prst="rect">
            <a:avLst/>
          </a:prstGeom>
          <a:noFill/>
          <a:ln>
            <a:noFill/>
          </a:ln>
        </p:spPr>
        <p:txBody>
          <a:bodyPr rtlCol="0" anchor="ctr" wrap="none" lIns="0" tIns="0" rIns="0" bIns="0">
            <a:noAutofit/>
          </a:bodyPr>
          <a:lstStyle/>
          <a:p>
            <a:pPr algn="l">
              <a:lnSpc>
                <a:spcPct val="100000"/>
              </a:lnSpc>
              <a:spcBef>
                <a:spcPts val="0"/>
              </a:spcBef>
              <a:spcAft>
                <a:spcPts val="0"/>
              </a:spcAft>
            </a:pPr>
            <a:r>
              <a:rPr sz="1100" b="1" i="0" spc="100">
                <a:solidFill>
                  <a:srgbClr val="4F8FCB"/>
                </a:solidFill>
                <a:latin typeface="Segoe UI"/>
              </a:rPr>
              <a:t>OUR EXAMPLE, CALL BY CALL  (coral = pivot)</a:t>
            </a:r>
          </a:p>
        </p:txBody>
      </p:sp>
      <p:sp>
        <p:nvSpPr>
          <p:cNvPr id="16" name="Rectangle 15"/>
          <p:cNvSpPr/>
          <p:nvPr/>
        </p:nvSpPr>
        <p:spPr>
          <a:xfrm>
            <a:off x="2048256" y="4663440"/>
            <a:ext cx="274320" cy="274320"/>
          </a:xfrm>
          <a:prstGeom prst="rect">
            <a:avLst/>
          </a:prstGeom>
          <a:solidFill>
            <a:srgbClr val="F3A08A"/>
          </a:solidFill>
          <a:ln w="22225">
            <a:solidFill>
              <a:srgbClr val="E07A5F"/>
            </a:solidFill>
          </a:ln>
        </p:spPr>
        <p:txBody>
          <a:bodyPr rtlCol="0" anchor="ctr" wrap="none" lIns="0" tIns="0" rIns="0" bIns="0">
            <a:noAutofit/>
          </a:bodyPr>
          <a:lstStyle/>
          <a:p>
            <a:pPr algn="ctr">
              <a:lnSpc>
                <a:spcPct val="100000"/>
              </a:lnSpc>
              <a:spcBef>
                <a:spcPts val="0"/>
              </a:spcBef>
              <a:spcAft>
                <a:spcPts val="0"/>
              </a:spcAft>
            </a:pPr>
            <a:r>
              <a:rPr sz="1100" b="1" i="0">
                <a:solidFill>
                  <a:srgbClr val="22304A"/>
                </a:solidFill>
                <a:latin typeface="Consolas"/>
              </a:rPr>
              <a:t>65</a:t>
            </a:r>
          </a:p>
        </p:txBody>
      </p:sp>
      <p:sp>
        <p:nvSpPr>
          <p:cNvPr id="17" name="Rectangle 16"/>
          <p:cNvSpPr/>
          <p:nvPr/>
        </p:nvSpPr>
        <p:spPr>
          <a:xfrm>
            <a:off x="2359152" y="4663440"/>
            <a:ext cx="274320" cy="274320"/>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100" b="0" i="0">
                <a:solidFill>
                  <a:srgbClr val="22304A"/>
                </a:solidFill>
                <a:latin typeface="Consolas"/>
              </a:rPr>
              <a:t>70</a:t>
            </a:r>
          </a:p>
        </p:txBody>
      </p:sp>
      <p:sp>
        <p:nvSpPr>
          <p:cNvPr id="18" name="Rectangle 17"/>
          <p:cNvSpPr/>
          <p:nvPr/>
        </p:nvSpPr>
        <p:spPr>
          <a:xfrm>
            <a:off x="2670048" y="4663440"/>
            <a:ext cx="274320" cy="274320"/>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100" b="0" i="0">
                <a:solidFill>
                  <a:srgbClr val="22304A"/>
                </a:solidFill>
                <a:latin typeface="Consolas"/>
              </a:rPr>
              <a:t>75</a:t>
            </a:r>
          </a:p>
        </p:txBody>
      </p:sp>
      <p:sp>
        <p:nvSpPr>
          <p:cNvPr id="19" name="Rectangle 18"/>
          <p:cNvSpPr/>
          <p:nvPr/>
        </p:nvSpPr>
        <p:spPr>
          <a:xfrm>
            <a:off x="2980944" y="4663440"/>
            <a:ext cx="274320" cy="274320"/>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100" b="0" i="0">
                <a:solidFill>
                  <a:srgbClr val="22304A"/>
                </a:solidFill>
                <a:latin typeface="Consolas"/>
              </a:rPr>
              <a:t>80</a:t>
            </a:r>
          </a:p>
        </p:txBody>
      </p:sp>
      <p:sp>
        <p:nvSpPr>
          <p:cNvPr id="20" name="Rectangle 19"/>
          <p:cNvSpPr/>
          <p:nvPr/>
        </p:nvSpPr>
        <p:spPr>
          <a:xfrm>
            <a:off x="3291840" y="4663440"/>
            <a:ext cx="274320" cy="274320"/>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100" b="0" i="0">
                <a:solidFill>
                  <a:srgbClr val="22304A"/>
                </a:solidFill>
                <a:latin typeface="Consolas"/>
              </a:rPr>
              <a:t>85</a:t>
            </a:r>
          </a:p>
        </p:txBody>
      </p:sp>
      <p:sp>
        <p:nvSpPr>
          <p:cNvPr id="21" name="Rectangle 20"/>
          <p:cNvSpPr/>
          <p:nvPr/>
        </p:nvSpPr>
        <p:spPr>
          <a:xfrm>
            <a:off x="3602736" y="4663440"/>
            <a:ext cx="274320" cy="274320"/>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100" b="0" i="0">
                <a:solidFill>
                  <a:srgbClr val="22304A"/>
                </a:solidFill>
                <a:latin typeface="Consolas"/>
              </a:rPr>
              <a:t>60</a:t>
            </a:r>
          </a:p>
        </p:txBody>
      </p:sp>
      <p:sp>
        <p:nvSpPr>
          <p:cNvPr id="22" name="Rectangle 21"/>
          <p:cNvSpPr/>
          <p:nvPr/>
        </p:nvSpPr>
        <p:spPr>
          <a:xfrm>
            <a:off x="3913632" y="4663440"/>
            <a:ext cx="274320" cy="274320"/>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100" b="0" i="0">
                <a:solidFill>
                  <a:srgbClr val="22304A"/>
                </a:solidFill>
                <a:latin typeface="Consolas"/>
              </a:rPr>
              <a:t>55</a:t>
            </a:r>
          </a:p>
        </p:txBody>
      </p:sp>
      <p:sp>
        <p:nvSpPr>
          <p:cNvPr id="23" name="Rectangle 22"/>
          <p:cNvSpPr/>
          <p:nvPr/>
        </p:nvSpPr>
        <p:spPr>
          <a:xfrm>
            <a:off x="4224528" y="4663440"/>
            <a:ext cx="274320" cy="274320"/>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100" b="0" i="0">
                <a:solidFill>
                  <a:srgbClr val="22304A"/>
                </a:solidFill>
                <a:latin typeface="Consolas"/>
              </a:rPr>
              <a:t>50</a:t>
            </a:r>
          </a:p>
        </p:txBody>
      </p:sp>
      <p:sp>
        <p:nvSpPr>
          <p:cNvPr id="24" name="Rectangle 23"/>
          <p:cNvSpPr/>
          <p:nvPr/>
        </p:nvSpPr>
        <p:spPr>
          <a:xfrm>
            <a:off x="4535424" y="4663440"/>
            <a:ext cx="274320" cy="274320"/>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100" b="0" i="0">
                <a:solidFill>
                  <a:srgbClr val="22304A"/>
                </a:solidFill>
                <a:latin typeface="Consolas"/>
              </a:rPr>
              <a:t>45</a:t>
            </a:r>
          </a:p>
        </p:txBody>
      </p:sp>
      <p:sp>
        <p:nvSpPr>
          <p:cNvPr id="25" name="Rectangle 24"/>
          <p:cNvSpPr/>
          <p:nvPr/>
        </p:nvSpPr>
        <p:spPr>
          <a:xfrm>
            <a:off x="1133855" y="5212080"/>
            <a:ext cx="274320" cy="274320"/>
          </a:xfrm>
          <a:prstGeom prst="rect">
            <a:avLst/>
          </a:prstGeom>
          <a:solidFill>
            <a:srgbClr val="F3A08A"/>
          </a:solidFill>
          <a:ln w="22225">
            <a:solidFill>
              <a:srgbClr val="E07A5F"/>
            </a:solidFill>
          </a:ln>
        </p:spPr>
        <p:txBody>
          <a:bodyPr rtlCol="0" anchor="ctr" wrap="none" lIns="0" tIns="0" rIns="0" bIns="0">
            <a:noAutofit/>
          </a:bodyPr>
          <a:lstStyle/>
          <a:p>
            <a:pPr algn="ctr">
              <a:lnSpc>
                <a:spcPct val="100000"/>
              </a:lnSpc>
              <a:spcBef>
                <a:spcPts val="0"/>
              </a:spcBef>
              <a:spcAft>
                <a:spcPts val="0"/>
              </a:spcAft>
            </a:pPr>
            <a:r>
              <a:rPr sz="1100" b="1" i="0">
                <a:solidFill>
                  <a:srgbClr val="22304A"/>
                </a:solidFill>
                <a:latin typeface="Consolas"/>
              </a:rPr>
              <a:t>60</a:t>
            </a:r>
          </a:p>
        </p:txBody>
      </p:sp>
      <p:sp>
        <p:nvSpPr>
          <p:cNvPr id="26" name="Rectangle 25"/>
          <p:cNvSpPr/>
          <p:nvPr/>
        </p:nvSpPr>
        <p:spPr>
          <a:xfrm>
            <a:off x="1444751" y="5212080"/>
            <a:ext cx="274320" cy="274320"/>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100" b="0" i="0">
                <a:solidFill>
                  <a:srgbClr val="22304A"/>
                </a:solidFill>
                <a:latin typeface="Consolas"/>
              </a:rPr>
              <a:t>45</a:t>
            </a:r>
          </a:p>
        </p:txBody>
      </p:sp>
      <p:sp>
        <p:nvSpPr>
          <p:cNvPr id="27" name="Rectangle 26"/>
          <p:cNvSpPr/>
          <p:nvPr/>
        </p:nvSpPr>
        <p:spPr>
          <a:xfrm>
            <a:off x="1755647" y="5212080"/>
            <a:ext cx="274320" cy="274320"/>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100" b="0" i="0">
                <a:solidFill>
                  <a:srgbClr val="22304A"/>
                </a:solidFill>
                <a:latin typeface="Consolas"/>
              </a:rPr>
              <a:t>50</a:t>
            </a:r>
          </a:p>
        </p:txBody>
      </p:sp>
      <p:sp>
        <p:nvSpPr>
          <p:cNvPr id="28" name="Rectangle 27"/>
          <p:cNvSpPr/>
          <p:nvPr/>
        </p:nvSpPr>
        <p:spPr>
          <a:xfrm>
            <a:off x="2066543" y="5212080"/>
            <a:ext cx="274320" cy="274320"/>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100" b="0" i="0">
                <a:solidFill>
                  <a:srgbClr val="22304A"/>
                </a:solidFill>
                <a:latin typeface="Consolas"/>
              </a:rPr>
              <a:t>55</a:t>
            </a:r>
          </a:p>
        </p:txBody>
      </p:sp>
      <p:sp>
        <p:nvSpPr>
          <p:cNvPr id="29" name="Rectangle 28"/>
          <p:cNvSpPr/>
          <p:nvPr/>
        </p:nvSpPr>
        <p:spPr>
          <a:xfrm>
            <a:off x="4517136" y="5212080"/>
            <a:ext cx="274320" cy="274320"/>
          </a:xfrm>
          <a:prstGeom prst="rect">
            <a:avLst/>
          </a:prstGeom>
          <a:solidFill>
            <a:srgbClr val="F3A08A"/>
          </a:solidFill>
          <a:ln w="22225">
            <a:solidFill>
              <a:srgbClr val="E07A5F"/>
            </a:solidFill>
          </a:ln>
        </p:spPr>
        <p:txBody>
          <a:bodyPr rtlCol="0" anchor="ctr" wrap="none" lIns="0" tIns="0" rIns="0" bIns="0">
            <a:noAutofit/>
          </a:bodyPr>
          <a:lstStyle/>
          <a:p>
            <a:pPr algn="ctr">
              <a:lnSpc>
                <a:spcPct val="100000"/>
              </a:lnSpc>
              <a:spcBef>
                <a:spcPts val="0"/>
              </a:spcBef>
              <a:spcAft>
                <a:spcPts val="0"/>
              </a:spcAft>
            </a:pPr>
            <a:r>
              <a:rPr sz="1100" b="1" i="0">
                <a:solidFill>
                  <a:srgbClr val="22304A"/>
                </a:solidFill>
                <a:latin typeface="Consolas"/>
              </a:rPr>
              <a:t>85</a:t>
            </a:r>
          </a:p>
        </p:txBody>
      </p:sp>
      <p:sp>
        <p:nvSpPr>
          <p:cNvPr id="30" name="Rectangle 29"/>
          <p:cNvSpPr/>
          <p:nvPr/>
        </p:nvSpPr>
        <p:spPr>
          <a:xfrm>
            <a:off x="4828031" y="5212080"/>
            <a:ext cx="274320" cy="274320"/>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100" b="0" i="0">
                <a:solidFill>
                  <a:srgbClr val="22304A"/>
                </a:solidFill>
                <a:latin typeface="Consolas"/>
              </a:rPr>
              <a:t>80</a:t>
            </a:r>
          </a:p>
        </p:txBody>
      </p:sp>
      <p:sp>
        <p:nvSpPr>
          <p:cNvPr id="31" name="Rectangle 30"/>
          <p:cNvSpPr/>
          <p:nvPr/>
        </p:nvSpPr>
        <p:spPr>
          <a:xfrm>
            <a:off x="5138927" y="5212080"/>
            <a:ext cx="274320" cy="274320"/>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100" b="0" i="0">
                <a:solidFill>
                  <a:srgbClr val="22304A"/>
                </a:solidFill>
                <a:latin typeface="Consolas"/>
              </a:rPr>
              <a:t>75</a:t>
            </a:r>
          </a:p>
        </p:txBody>
      </p:sp>
      <p:sp>
        <p:nvSpPr>
          <p:cNvPr id="32" name="Rectangle 31"/>
          <p:cNvSpPr/>
          <p:nvPr/>
        </p:nvSpPr>
        <p:spPr>
          <a:xfrm>
            <a:off x="5449823" y="5212080"/>
            <a:ext cx="274320" cy="274320"/>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100" b="0" i="0">
                <a:solidFill>
                  <a:srgbClr val="22304A"/>
                </a:solidFill>
                <a:latin typeface="Consolas"/>
              </a:rPr>
              <a:t>70</a:t>
            </a:r>
          </a:p>
        </p:txBody>
      </p:sp>
      <p:sp>
        <p:nvSpPr>
          <p:cNvPr id="33" name="Rectangle 32"/>
          <p:cNvSpPr/>
          <p:nvPr/>
        </p:nvSpPr>
        <p:spPr>
          <a:xfrm>
            <a:off x="694944" y="5760720"/>
            <a:ext cx="274320" cy="274320"/>
          </a:xfrm>
          <a:prstGeom prst="rect">
            <a:avLst/>
          </a:prstGeom>
          <a:solidFill>
            <a:srgbClr val="F3A08A"/>
          </a:solidFill>
          <a:ln w="22225">
            <a:solidFill>
              <a:srgbClr val="E07A5F"/>
            </a:solidFill>
          </a:ln>
        </p:spPr>
        <p:txBody>
          <a:bodyPr rtlCol="0" anchor="ctr" wrap="none" lIns="0" tIns="0" rIns="0" bIns="0">
            <a:noAutofit/>
          </a:bodyPr>
          <a:lstStyle/>
          <a:p>
            <a:pPr algn="ctr">
              <a:lnSpc>
                <a:spcPct val="100000"/>
              </a:lnSpc>
              <a:spcBef>
                <a:spcPts val="0"/>
              </a:spcBef>
              <a:spcAft>
                <a:spcPts val="0"/>
              </a:spcAft>
            </a:pPr>
            <a:r>
              <a:rPr sz="1100" b="1" i="0">
                <a:solidFill>
                  <a:srgbClr val="22304A"/>
                </a:solidFill>
                <a:latin typeface="Consolas"/>
              </a:rPr>
              <a:t>55</a:t>
            </a:r>
          </a:p>
        </p:txBody>
      </p:sp>
      <p:sp>
        <p:nvSpPr>
          <p:cNvPr id="34" name="Rectangle 33"/>
          <p:cNvSpPr/>
          <p:nvPr/>
        </p:nvSpPr>
        <p:spPr>
          <a:xfrm>
            <a:off x="1005840" y="5760720"/>
            <a:ext cx="274320" cy="274320"/>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100" b="0" i="0">
                <a:solidFill>
                  <a:srgbClr val="22304A"/>
                </a:solidFill>
                <a:latin typeface="Consolas"/>
              </a:rPr>
              <a:t>45</a:t>
            </a:r>
          </a:p>
        </p:txBody>
      </p:sp>
      <p:sp>
        <p:nvSpPr>
          <p:cNvPr id="35" name="Rectangle 34"/>
          <p:cNvSpPr/>
          <p:nvPr/>
        </p:nvSpPr>
        <p:spPr>
          <a:xfrm>
            <a:off x="1316736" y="5760720"/>
            <a:ext cx="274320" cy="274320"/>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100" b="0" i="0">
                <a:solidFill>
                  <a:srgbClr val="22304A"/>
                </a:solidFill>
                <a:latin typeface="Consolas"/>
              </a:rPr>
              <a:t>50</a:t>
            </a:r>
          </a:p>
        </p:txBody>
      </p:sp>
      <p:sp>
        <p:nvSpPr>
          <p:cNvPr id="36" name="Rectangle 35"/>
          <p:cNvSpPr/>
          <p:nvPr/>
        </p:nvSpPr>
        <p:spPr>
          <a:xfrm>
            <a:off x="4123944" y="5760720"/>
            <a:ext cx="274320" cy="274320"/>
          </a:xfrm>
          <a:prstGeom prst="rect">
            <a:avLst/>
          </a:prstGeom>
          <a:solidFill>
            <a:srgbClr val="F3A08A"/>
          </a:solidFill>
          <a:ln w="22225">
            <a:solidFill>
              <a:srgbClr val="E07A5F"/>
            </a:solidFill>
          </a:ln>
        </p:spPr>
        <p:txBody>
          <a:bodyPr rtlCol="0" anchor="ctr" wrap="none" lIns="0" tIns="0" rIns="0" bIns="0">
            <a:noAutofit/>
          </a:bodyPr>
          <a:lstStyle/>
          <a:p>
            <a:pPr algn="ctr">
              <a:lnSpc>
                <a:spcPct val="100000"/>
              </a:lnSpc>
              <a:spcBef>
                <a:spcPts val="0"/>
              </a:spcBef>
              <a:spcAft>
                <a:spcPts val="0"/>
              </a:spcAft>
            </a:pPr>
            <a:r>
              <a:rPr sz="1100" b="1" i="0">
                <a:solidFill>
                  <a:srgbClr val="22304A"/>
                </a:solidFill>
                <a:latin typeface="Consolas"/>
              </a:rPr>
              <a:t>70</a:t>
            </a:r>
          </a:p>
        </p:txBody>
      </p:sp>
      <p:sp>
        <p:nvSpPr>
          <p:cNvPr id="37" name="Rectangle 36"/>
          <p:cNvSpPr/>
          <p:nvPr/>
        </p:nvSpPr>
        <p:spPr>
          <a:xfrm>
            <a:off x="4434840" y="5760720"/>
            <a:ext cx="274320" cy="274320"/>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100" b="0" i="0">
                <a:solidFill>
                  <a:srgbClr val="22304A"/>
                </a:solidFill>
                <a:latin typeface="Consolas"/>
              </a:rPr>
              <a:t>80</a:t>
            </a:r>
          </a:p>
        </p:txBody>
      </p:sp>
      <p:sp>
        <p:nvSpPr>
          <p:cNvPr id="38" name="Rectangle 37"/>
          <p:cNvSpPr/>
          <p:nvPr/>
        </p:nvSpPr>
        <p:spPr>
          <a:xfrm>
            <a:off x="4745736" y="5760720"/>
            <a:ext cx="274320" cy="274320"/>
          </a:xfrm>
          <a:prstGeom prst="rect">
            <a:avLst/>
          </a:prstGeom>
          <a:solidFill>
            <a:srgbClr val="FFFFFF"/>
          </a:solidFill>
          <a:ln w="15875">
            <a:solidFill>
              <a:srgbClr val="4F8FCB"/>
            </a:solidFill>
          </a:ln>
        </p:spPr>
        <p:txBody>
          <a:bodyPr rtlCol="0" anchor="ctr" wrap="none" lIns="0" tIns="0" rIns="0" bIns="0">
            <a:noAutofit/>
          </a:bodyPr>
          <a:lstStyle/>
          <a:p>
            <a:pPr algn="ctr">
              <a:lnSpc>
                <a:spcPct val="100000"/>
              </a:lnSpc>
              <a:spcBef>
                <a:spcPts val="0"/>
              </a:spcBef>
              <a:spcAft>
                <a:spcPts val="0"/>
              </a:spcAft>
            </a:pPr>
            <a:r>
              <a:rPr sz="1100" b="0" i="0">
                <a:solidFill>
                  <a:srgbClr val="22304A"/>
                </a:solidFill>
                <a:latin typeface="Consolas"/>
              </a:rPr>
              <a:t>75</a:t>
            </a:r>
          </a:p>
        </p:txBody>
      </p:sp>
      <p:cxnSp>
        <p:nvCxnSpPr>
          <p:cNvPr id="39" name="Connector 38"/>
          <p:cNvCxnSpPr/>
          <p:nvPr/>
        </p:nvCxnSpPr>
        <p:spPr>
          <a:xfrm flipH="1">
            <a:off x="1737360" y="4937759"/>
            <a:ext cx="1691640" cy="274321"/>
          </a:xfrm>
          <a:prstGeom prst="line">
            <a:avLst/>
          </a:prstGeom>
          <a:ln w="19050">
            <a:solidFill>
              <a:srgbClr val="4F8FCB"/>
            </a:solidFill>
          </a:ln>
        </p:spPr>
      </p:cxnSp>
      <p:cxnSp>
        <p:nvCxnSpPr>
          <p:cNvPr id="40" name="Connector 39"/>
          <p:cNvCxnSpPr/>
          <p:nvPr/>
        </p:nvCxnSpPr>
        <p:spPr>
          <a:xfrm>
            <a:off x="3429000" y="4937759"/>
            <a:ext cx="1691640" cy="274321"/>
          </a:xfrm>
          <a:prstGeom prst="line">
            <a:avLst/>
          </a:prstGeom>
          <a:ln w="19050">
            <a:solidFill>
              <a:srgbClr val="4F8FCB"/>
            </a:solidFill>
          </a:ln>
        </p:spPr>
      </p:cxnSp>
      <p:cxnSp>
        <p:nvCxnSpPr>
          <p:cNvPr id="41" name="Connector 40"/>
          <p:cNvCxnSpPr/>
          <p:nvPr/>
        </p:nvCxnSpPr>
        <p:spPr>
          <a:xfrm flipH="1">
            <a:off x="1143000" y="5486400"/>
            <a:ext cx="594360" cy="274320"/>
          </a:xfrm>
          <a:prstGeom prst="line">
            <a:avLst/>
          </a:prstGeom>
          <a:ln w="19050">
            <a:solidFill>
              <a:srgbClr val="4F8FCB"/>
            </a:solidFill>
          </a:ln>
        </p:spPr>
      </p:cxnSp>
      <p:cxnSp>
        <p:nvCxnSpPr>
          <p:cNvPr id="42" name="Connector 41"/>
          <p:cNvCxnSpPr/>
          <p:nvPr/>
        </p:nvCxnSpPr>
        <p:spPr>
          <a:xfrm flipH="1">
            <a:off x="4572000" y="5486400"/>
            <a:ext cx="548640" cy="274320"/>
          </a:xfrm>
          <a:prstGeom prst="line">
            <a:avLst/>
          </a:prstGeom>
          <a:ln w="19050">
            <a:solidFill>
              <a:srgbClr val="4F8FCB"/>
            </a:solidFill>
          </a:ln>
        </p:spPr>
      </p:cxnSp>
      <p:sp>
        <p:nvSpPr>
          <p:cNvPr id="43" name="Rounded Rectangle 42"/>
          <p:cNvSpPr/>
          <p:nvPr/>
        </p:nvSpPr>
        <p:spPr>
          <a:xfrm>
            <a:off x="6675120" y="1645920"/>
            <a:ext cx="3108960" cy="457200"/>
          </a:xfrm>
          <a:prstGeom prst="roundRect">
            <a:avLst>
              <a:gd name="adj" fmla="val 50000"/>
            </a:avLst>
          </a:prstGeom>
          <a:solidFill>
            <a:srgbClr val="BCD8F1"/>
          </a:solidFill>
          <a:ln w="15875">
            <a:solidFill>
              <a:srgbClr val="4F8FCB"/>
            </a:solidFill>
          </a:ln>
        </p:spPr>
        <p:txBody>
          <a:bodyPr rtlCol="0" anchor="ctr" wrap="none" lIns="45720" tIns="0" rIns="45720" bIns="0">
            <a:noAutofit/>
          </a:bodyPr>
          <a:lstStyle/>
          <a:p>
            <a:pPr algn="ctr">
              <a:lnSpc>
                <a:spcPct val="100000"/>
              </a:lnSpc>
              <a:spcBef>
                <a:spcPts val="0"/>
              </a:spcBef>
              <a:spcAft>
                <a:spcPts val="0"/>
              </a:spcAft>
            </a:pPr>
            <a:r>
              <a:rPr sz="1400" b="1" i="0">
                <a:solidFill>
                  <a:srgbClr val="22304A"/>
                </a:solidFill>
                <a:latin typeface="Consolas"/>
              </a:rPr>
              <a:t>QuickSort(A, low, high)</a:t>
            </a:r>
          </a:p>
        </p:txBody>
      </p:sp>
      <p:cxnSp>
        <p:nvCxnSpPr>
          <p:cNvPr id="44" name="Connector 43"/>
          <p:cNvCxnSpPr/>
          <p:nvPr/>
        </p:nvCxnSpPr>
        <p:spPr>
          <a:xfrm>
            <a:off x="8229600" y="2103120"/>
            <a:ext cx="0" cy="228600"/>
          </a:xfrm>
          <a:prstGeom prst="line">
            <a:avLst/>
          </a:prstGeom>
          <a:ln w="19050">
            <a:solidFill>
              <a:srgbClr val="4F8FCB"/>
            </a:solidFill>
            <a:tailEnd type="triangle" w="med" len="med"/>
          </a:ln>
        </p:spPr>
      </p:cxnSp>
      <p:sp>
        <p:nvSpPr>
          <p:cNvPr id="45" name="Diamond 44"/>
          <p:cNvSpPr/>
          <p:nvPr/>
        </p:nvSpPr>
        <p:spPr>
          <a:xfrm>
            <a:off x="6675120" y="2331720"/>
            <a:ext cx="3108960" cy="868680"/>
          </a:xfrm>
          <a:prstGeom prst="diamond">
            <a:avLst/>
          </a:prstGeom>
          <a:solidFill>
            <a:srgbClr val="E8F2FB"/>
          </a:solidFill>
          <a:ln w="19050">
            <a:solidFill>
              <a:srgbClr val="4F8FCB"/>
            </a:solidFill>
          </a:ln>
        </p:spPr>
        <p:txBody>
          <a:bodyPr rtlCol="0" anchor="ctr" wrap="none" lIns="0" tIns="0" rIns="0" bIns="0">
            <a:noAutofit/>
          </a:bodyPr>
          <a:lstStyle/>
          <a:p>
            <a:pPr algn="ctr">
              <a:lnSpc>
                <a:spcPct val="100000"/>
              </a:lnSpc>
              <a:spcBef>
                <a:spcPts val="0"/>
              </a:spcBef>
              <a:spcAft>
                <a:spcPts val="0"/>
              </a:spcAft>
            </a:pPr>
            <a:r>
              <a:rPr sz="1400" b="1" i="0">
                <a:solidFill>
                  <a:srgbClr val="22304A"/>
                </a:solidFill>
                <a:latin typeface="Consolas"/>
              </a:rPr>
              <a:t>low &lt; high ?</a:t>
            </a:r>
          </a:p>
        </p:txBody>
      </p:sp>
      <p:cxnSp>
        <p:nvCxnSpPr>
          <p:cNvPr id="46" name="Connector 45"/>
          <p:cNvCxnSpPr/>
          <p:nvPr/>
        </p:nvCxnSpPr>
        <p:spPr>
          <a:xfrm>
            <a:off x="8229600" y="3200400"/>
            <a:ext cx="0" cy="274320"/>
          </a:xfrm>
          <a:prstGeom prst="line">
            <a:avLst/>
          </a:prstGeom>
          <a:ln w="19050">
            <a:solidFill>
              <a:srgbClr val="4F8FCB"/>
            </a:solidFill>
            <a:tailEnd type="triangle" w="med" len="med"/>
          </a:ln>
        </p:spPr>
      </p:cxnSp>
      <p:sp>
        <p:nvSpPr>
          <p:cNvPr id="47" name="Rectangle 46"/>
          <p:cNvSpPr/>
          <p:nvPr/>
        </p:nvSpPr>
        <p:spPr>
          <a:xfrm>
            <a:off x="8339327" y="3218688"/>
            <a:ext cx="548640" cy="237744"/>
          </a:xfrm>
          <a:prstGeom prst="rect">
            <a:avLst/>
          </a:prstGeom>
          <a:noFill/>
          <a:ln>
            <a:noFill/>
          </a:ln>
        </p:spPr>
        <p:txBody>
          <a:bodyPr rtlCol="0" anchor="ctr" wrap="none" lIns="0" tIns="0" rIns="0" bIns="0">
            <a:noAutofit/>
          </a:bodyPr>
          <a:lstStyle/>
          <a:p>
            <a:pPr algn="l">
              <a:lnSpc>
                <a:spcPct val="100000"/>
              </a:lnSpc>
              <a:spcBef>
                <a:spcPts val="0"/>
              </a:spcBef>
              <a:spcAft>
                <a:spcPts val="0"/>
              </a:spcAft>
            </a:pPr>
            <a:r>
              <a:rPr sz="1200" b="1" i="0">
                <a:solidFill>
                  <a:srgbClr val="66758C"/>
                </a:solidFill>
                <a:latin typeface="Segoe UI"/>
              </a:rPr>
              <a:t>Yes</a:t>
            </a:r>
          </a:p>
        </p:txBody>
      </p:sp>
      <p:sp>
        <p:nvSpPr>
          <p:cNvPr id="48" name="Rectangle 47"/>
          <p:cNvSpPr/>
          <p:nvPr/>
        </p:nvSpPr>
        <p:spPr>
          <a:xfrm>
            <a:off x="6675120" y="3474720"/>
            <a:ext cx="3108960" cy="457200"/>
          </a:xfrm>
          <a:prstGeom prst="rect">
            <a:avLst/>
          </a:prstGeom>
          <a:solidFill>
            <a:srgbClr val="FFFFFF"/>
          </a:solidFill>
          <a:ln w="19050">
            <a:solidFill>
              <a:srgbClr val="4F8FCB"/>
            </a:solidFill>
          </a:ln>
        </p:spPr>
        <p:txBody>
          <a:bodyPr rtlCol="0" anchor="ctr" wrap="none" lIns="45720" tIns="0" rIns="45720" bIns="0">
            <a:noAutofit/>
          </a:bodyPr>
          <a:lstStyle/>
          <a:p>
            <a:pPr algn="ctr">
              <a:lnSpc>
                <a:spcPct val="100000"/>
              </a:lnSpc>
              <a:spcBef>
                <a:spcPts val="0"/>
              </a:spcBef>
              <a:spcAft>
                <a:spcPts val="0"/>
              </a:spcAft>
            </a:pPr>
            <a:r>
              <a:rPr sz="1300" b="0" i="0">
                <a:solidFill>
                  <a:srgbClr val="22304A"/>
                </a:solidFill>
                <a:latin typeface="Consolas"/>
              </a:rPr>
              <a:t>j = Partition(A, low, high)</a:t>
            </a:r>
          </a:p>
        </p:txBody>
      </p:sp>
      <p:cxnSp>
        <p:nvCxnSpPr>
          <p:cNvPr id="49" name="Connector 48"/>
          <p:cNvCxnSpPr/>
          <p:nvPr/>
        </p:nvCxnSpPr>
        <p:spPr>
          <a:xfrm>
            <a:off x="8229600" y="3931920"/>
            <a:ext cx="0" cy="228600"/>
          </a:xfrm>
          <a:prstGeom prst="line">
            <a:avLst/>
          </a:prstGeom>
          <a:ln w="19050">
            <a:solidFill>
              <a:srgbClr val="4F8FCB"/>
            </a:solidFill>
            <a:tailEnd type="triangle" w="med" len="med"/>
          </a:ln>
        </p:spPr>
      </p:cxnSp>
      <p:sp>
        <p:nvSpPr>
          <p:cNvPr id="50" name="Rectangle 49"/>
          <p:cNvSpPr/>
          <p:nvPr/>
        </p:nvSpPr>
        <p:spPr>
          <a:xfrm>
            <a:off x="6675120" y="4160520"/>
            <a:ext cx="3108960" cy="457200"/>
          </a:xfrm>
          <a:prstGeom prst="rect">
            <a:avLst/>
          </a:prstGeom>
          <a:solidFill>
            <a:srgbClr val="FFFFFF"/>
          </a:solidFill>
          <a:ln w="19050">
            <a:solidFill>
              <a:srgbClr val="4F8FCB"/>
            </a:solidFill>
          </a:ln>
        </p:spPr>
        <p:txBody>
          <a:bodyPr rtlCol="0" anchor="ctr" wrap="none" lIns="45720" tIns="0" rIns="45720" bIns="0">
            <a:noAutofit/>
          </a:bodyPr>
          <a:lstStyle/>
          <a:p>
            <a:pPr algn="ctr">
              <a:lnSpc>
                <a:spcPct val="100000"/>
              </a:lnSpc>
              <a:spcBef>
                <a:spcPts val="0"/>
              </a:spcBef>
              <a:spcAft>
                <a:spcPts val="0"/>
              </a:spcAft>
            </a:pPr>
            <a:r>
              <a:rPr sz="1300" b="0" i="0">
                <a:solidFill>
                  <a:srgbClr val="22304A"/>
                </a:solidFill>
                <a:latin typeface="Consolas"/>
              </a:rPr>
              <a:t>QuickSort(A, low, j - 1)</a:t>
            </a:r>
          </a:p>
        </p:txBody>
      </p:sp>
      <p:cxnSp>
        <p:nvCxnSpPr>
          <p:cNvPr id="51" name="Connector 50"/>
          <p:cNvCxnSpPr/>
          <p:nvPr/>
        </p:nvCxnSpPr>
        <p:spPr>
          <a:xfrm>
            <a:off x="8229600" y="4617720"/>
            <a:ext cx="0" cy="228600"/>
          </a:xfrm>
          <a:prstGeom prst="line">
            <a:avLst/>
          </a:prstGeom>
          <a:ln w="19050">
            <a:solidFill>
              <a:srgbClr val="4F8FCB"/>
            </a:solidFill>
            <a:tailEnd type="triangle" w="med" len="med"/>
          </a:ln>
        </p:spPr>
      </p:cxnSp>
      <p:sp>
        <p:nvSpPr>
          <p:cNvPr id="52" name="Rectangle 51"/>
          <p:cNvSpPr/>
          <p:nvPr/>
        </p:nvSpPr>
        <p:spPr>
          <a:xfrm>
            <a:off x="6675120" y="4846320"/>
            <a:ext cx="3108960" cy="457200"/>
          </a:xfrm>
          <a:prstGeom prst="rect">
            <a:avLst/>
          </a:prstGeom>
          <a:solidFill>
            <a:srgbClr val="FFFFFF"/>
          </a:solidFill>
          <a:ln w="19050">
            <a:solidFill>
              <a:srgbClr val="4F8FCB"/>
            </a:solidFill>
          </a:ln>
        </p:spPr>
        <p:txBody>
          <a:bodyPr rtlCol="0" anchor="ctr" wrap="none" lIns="45720" tIns="0" rIns="45720" bIns="0">
            <a:noAutofit/>
          </a:bodyPr>
          <a:lstStyle/>
          <a:p>
            <a:pPr algn="ctr">
              <a:lnSpc>
                <a:spcPct val="100000"/>
              </a:lnSpc>
              <a:spcBef>
                <a:spcPts val="0"/>
              </a:spcBef>
              <a:spcAft>
                <a:spcPts val="0"/>
              </a:spcAft>
            </a:pPr>
            <a:r>
              <a:rPr sz="1300" b="0" i="0">
                <a:solidFill>
                  <a:srgbClr val="22304A"/>
                </a:solidFill>
                <a:latin typeface="Consolas"/>
              </a:rPr>
              <a:t>QuickSort(A, j + 1, high)</a:t>
            </a:r>
          </a:p>
        </p:txBody>
      </p:sp>
      <p:cxnSp>
        <p:nvCxnSpPr>
          <p:cNvPr id="53" name="Connector 52"/>
          <p:cNvCxnSpPr/>
          <p:nvPr/>
        </p:nvCxnSpPr>
        <p:spPr>
          <a:xfrm>
            <a:off x="8229600" y="5303520"/>
            <a:ext cx="0" cy="228600"/>
          </a:xfrm>
          <a:prstGeom prst="line">
            <a:avLst/>
          </a:prstGeom>
          <a:ln w="19050">
            <a:solidFill>
              <a:srgbClr val="4F8FCB"/>
            </a:solidFill>
            <a:tailEnd type="triangle" w="med" len="med"/>
          </a:ln>
        </p:spPr>
      </p:cxnSp>
      <p:sp>
        <p:nvSpPr>
          <p:cNvPr id="54" name="Rounded Rectangle 53"/>
          <p:cNvSpPr/>
          <p:nvPr/>
        </p:nvSpPr>
        <p:spPr>
          <a:xfrm>
            <a:off x="6675120" y="5532120"/>
            <a:ext cx="3108960" cy="457200"/>
          </a:xfrm>
          <a:prstGeom prst="roundRect">
            <a:avLst>
              <a:gd name="adj" fmla="val 50000"/>
            </a:avLst>
          </a:prstGeom>
          <a:solidFill>
            <a:srgbClr val="BCD8F1"/>
          </a:solidFill>
          <a:ln w="15875">
            <a:solidFill>
              <a:srgbClr val="4F8FCB"/>
            </a:solidFill>
          </a:ln>
        </p:spPr>
        <p:txBody>
          <a:bodyPr rtlCol="0" anchor="ctr" wrap="none" lIns="45720" tIns="0" rIns="45720" bIns="0">
            <a:noAutofit/>
          </a:bodyPr>
          <a:lstStyle/>
          <a:p>
            <a:pPr algn="ctr">
              <a:lnSpc>
                <a:spcPct val="100000"/>
              </a:lnSpc>
              <a:spcBef>
                <a:spcPts val="0"/>
              </a:spcBef>
              <a:spcAft>
                <a:spcPts val="0"/>
              </a:spcAft>
            </a:pPr>
            <a:r>
              <a:rPr sz="1400" b="1" i="0">
                <a:solidFill>
                  <a:srgbClr val="22304A"/>
                </a:solidFill>
                <a:latin typeface="Consolas"/>
              </a:rPr>
              <a:t>return</a:t>
            </a:r>
          </a:p>
        </p:txBody>
      </p:sp>
      <p:cxnSp>
        <p:nvCxnSpPr>
          <p:cNvPr id="55" name="Connector 54"/>
          <p:cNvCxnSpPr/>
          <p:nvPr/>
        </p:nvCxnSpPr>
        <p:spPr>
          <a:xfrm>
            <a:off x="9784080" y="2766060"/>
            <a:ext cx="1371600" cy="0"/>
          </a:xfrm>
          <a:prstGeom prst="line">
            <a:avLst/>
          </a:prstGeom>
          <a:ln w="19050">
            <a:solidFill>
              <a:srgbClr val="4F8FCB"/>
            </a:solidFill>
          </a:ln>
        </p:spPr>
      </p:cxnSp>
      <p:cxnSp>
        <p:nvCxnSpPr>
          <p:cNvPr id="56" name="Connector 55"/>
          <p:cNvCxnSpPr/>
          <p:nvPr/>
        </p:nvCxnSpPr>
        <p:spPr>
          <a:xfrm>
            <a:off x="11155680" y="2766060"/>
            <a:ext cx="0" cy="2994660"/>
          </a:xfrm>
          <a:prstGeom prst="line">
            <a:avLst/>
          </a:prstGeom>
          <a:ln w="19050">
            <a:solidFill>
              <a:srgbClr val="4F8FCB"/>
            </a:solidFill>
          </a:ln>
        </p:spPr>
      </p:cxnSp>
      <p:cxnSp>
        <p:nvCxnSpPr>
          <p:cNvPr id="57" name="Connector 56"/>
          <p:cNvCxnSpPr/>
          <p:nvPr/>
        </p:nvCxnSpPr>
        <p:spPr>
          <a:xfrm flipH="1">
            <a:off x="9784080" y="5760720"/>
            <a:ext cx="1371600" cy="0"/>
          </a:xfrm>
          <a:prstGeom prst="line">
            <a:avLst/>
          </a:prstGeom>
          <a:ln w="19050">
            <a:solidFill>
              <a:srgbClr val="4F8FCB"/>
            </a:solidFill>
            <a:tailEnd type="triangle" w="med" len="med"/>
          </a:ln>
        </p:spPr>
      </p:cxnSp>
      <p:sp>
        <p:nvSpPr>
          <p:cNvPr id="58" name="Rectangle 57"/>
          <p:cNvSpPr/>
          <p:nvPr/>
        </p:nvSpPr>
        <p:spPr>
          <a:xfrm>
            <a:off x="9893807" y="2487168"/>
            <a:ext cx="548640" cy="237744"/>
          </a:xfrm>
          <a:prstGeom prst="rect">
            <a:avLst/>
          </a:prstGeom>
          <a:noFill/>
          <a:ln>
            <a:noFill/>
          </a:ln>
        </p:spPr>
        <p:txBody>
          <a:bodyPr rtlCol="0" anchor="ctr" wrap="none" lIns="0" tIns="0" rIns="0" bIns="0">
            <a:noAutofit/>
          </a:bodyPr>
          <a:lstStyle/>
          <a:p>
            <a:pPr algn="l">
              <a:lnSpc>
                <a:spcPct val="100000"/>
              </a:lnSpc>
              <a:spcBef>
                <a:spcPts val="0"/>
              </a:spcBef>
              <a:spcAft>
                <a:spcPts val="0"/>
              </a:spcAft>
            </a:pPr>
            <a:r>
              <a:rPr sz="1200" b="1" i="0">
                <a:solidFill>
                  <a:srgbClr val="66758C"/>
                </a:solidFill>
                <a:latin typeface="Segoe UI"/>
              </a:rPr>
              <a:t>No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gradFill rotWithShape="1">
          <a:gsLst>
            <a:gs pos="0">
              <a:srgbClr val="DDEBFA"/>
            </a:gs>
            <a:gs pos="100000">
              <a:srgbClr val="FFEFE8"/>
            </a:gs>
          </a:gsLst>
          <a:lin scaled="0" ang="2700000"/>
        </a:gradFill>
        <a:effectLst/>
      </p:bgPr>
    </p:bg>
    <p:spTree>
      <p:nvGrpSpPr>
        <p:cNvPr id="1" name=""/>
        <p:cNvGrpSpPr/>
        <p:nvPr/>
      </p:nvGrpSpPr>
      <p:grpSpPr/>
      <p:sp>
        <p:nvSpPr>
          <p:cNvPr id="3" name="Rounded Rectangle 2"/>
          <p:cNvSpPr/>
          <p:nvPr/>
        </p:nvSpPr>
        <p:spPr>
          <a:xfrm>
            <a:off x="256032" y="182880"/>
            <a:ext cx="11679631" cy="6492240"/>
          </a:xfrm>
          <a:prstGeom prst="roundRect">
            <a:avLst>
              <a:gd name="adj" fmla="val 3943"/>
            </a:avLst>
          </a:prstGeom>
          <a:solidFill>
            <a:srgbClr val="FFFFFF"/>
          </a:solidFill>
          <a:ln w="9525">
            <a:solidFill>
              <a:srgbClr val="BCD8F1"/>
            </a:solidFill>
          </a:ln>
        </p:spPr>
        <p:txBody>
          <a:bodyPr rtlCol="0" anchor="ctr"/>
          <a:lstStyle/>
          <a:p>
            <a:pPr algn="ctr"/>
          </a:p>
        </p:txBody>
      </p:sp>
      <p:sp>
        <p:nvSpPr>
          <p:cNvPr id="2" name="Title 1"/>
          <p:cNvSpPr>
            <a:spLocks noGrp="1"/>
          </p:cNvSpPr>
          <p:nvPr>
            <p:ph type="title"/>
          </p:nvPr>
        </p:nvSpPr>
        <p:spPr>
          <a:xfrm>
            <a:off x="548640" y="566928"/>
            <a:ext cx="11094415" cy="658368"/>
          </a:xfrm>
        </p:spPr>
        <p:txBody>
          <a:bodyPr wrap="square" lIns="0" tIns="27432" rIns="0" bIns="27432" anchor="ctr">
            <a:noAutofit/>
          </a:bodyPr>
          <a:lstStyle/>
          <a:p>
            <a:pPr algn="l">
              <a:lnSpc>
                <a:spcPct val="100000"/>
              </a:lnSpc>
              <a:spcBef>
                <a:spcPts val="0"/>
              </a:spcBef>
              <a:spcAft>
                <a:spcPts val="0"/>
              </a:spcAft>
            </a:pPr>
            <a:r>
              <a:rPr sz="3000" b="1" i="0">
                <a:solidFill>
                  <a:srgbClr val="22304A"/>
                </a:solidFill>
                <a:latin typeface="Georgia"/>
              </a:rPr>
              <a:t>Everything depends on the pivot</a:t>
            </a:r>
          </a:p>
        </p:txBody>
      </p:sp>
      <p:sp>
        <p:nvSpPr>
          <p:cNvPr id="4" name="Rectangle 3"/>
          <p:cNvSpPr/>
          <p:nvPr/>
        </p:nvSpPr>
        <p:spPr>
          <a:xfrm>
            <a:off x="548640" y="310896"/>
            <a:ext cx="8229600" cy="246888"/>
          </a:xfrm>
          <a:prstGeom prst="rect">
            <a:avLst/>
          </a:prstGeom>
          <a:noFill/>
          <a:ln>
            <a:noFill/>
          </a:ln>
        </p:spPr>
        <p:txBody>
          <a:bodyPr rtlCol="0" anchor="ctr" wrap="none" lIns="0" tIns="0" rIns="0" bIns="0">
            <a:noAutofit/>
          </a:bodyPr>
          <a:lstStyle/>
          <a:p>
            <a:pPr algn="l">
              <a:lnSpc>
                <a:spcPct val="100000"/>
              </a:lnSpc>
              <a:spcBef>
                <a:spcPts val="0"/>
              </a:spcBef>
              <a:spcAft>
                <a:spcPts val="0"/>
              </a:spcAft>
            </a:pPr>
            <a:r>
              <a:rPr sz="1100" b="1" i="0" spc="150">
                <a:solidFill>
                  <a:srgbClr val="4F8FCB"/>
                </a:solidFill>
                <a:latin typeface="Segoe UI"/>
              </a:rPr>
              <a:t>CHAPTER 5 · THE CATCH</a:t>
            </a:r>
          </a:p>
        </p:txBody>
      </p:sp>
      <p:sp>
        <p:nvSpPr>
          <p:cNvPr id="5" name="Rectangle 4"/>
          <p:cNvSpPr/>
          <p:nvPr/>
        </p:nvSpPr>
        <p:spPr>
          <a:xfrm>
            <a:off x="548640" y="1280160"/>
            <a:ext cx="1097280" cy="54864"/>
          </a:xfrm>
          <a:prstGeom prst="rect">
            <a:avLst/>
          </a:prstGeom>
          <a:solidFill>
            <a:srgbClr val="F3A08A"/>
          </a:solidFill>
          <a:ln>
            <a:noFill/>
          </a:ln>
        </p:spPr>
        <p:txBody>
          <a:bodyPr rtlCol="0" anchor="ctr"/>
          <a:lstStyle/>
          <a:p>
            <a:pPr algn="ctr"/>
          </a:p>
        </p:txBody>
      </p:sp>
      <p:cxnSp>
        <p:nvCxnSpPr>
          <p:cNvPr id="6" name="Connector 5"/>
          <p:cNvCxnSpPr/>
          <p:nvPr/>
        </p:nvCxnSpPr>
        <p:spPr>
          <a:xfrm>
            <a:off x="548640" y="6309360"/>
            <a:ext cx="11094415" cy="0"/>
          </a:xfrm>
          <a:prstGeom prst="line">
            <a:avLst/>
          </a:prstGeom>
          <a:ln w="9525">
            <a:solidFill>
              <a:srgbClr val="BCD8F1"/>
            </a:solidFill>
          </a:ln>
        </p:spPr>
      </p:cxnSp>
      <p:sp>
        <p:nvSpPr>
          <p:cNvPr id="7" name="Rectangle 6"/>
          <p:cNvSpPr/>
          <p:nvPr/>
        </p:nvSpPr>
        <p:spPr>
          <a:xfrm>
            <a:off x="548640" y="6364224"/>
            <a:ext cx="5486400" cy="246888"/>
          </a:xfrm>
          <a:prstGeom prst="rect">
            <a:avLst/>
          </a:prstGeom>
          <a:noFill/>
          <a:ln>
            <a:noFill/>
          </a:ln>
        </p:spPr>
        <p:txBody>
          <a:bodyPr rtlCol="0" anchor="ctr" wrap="none" lIns="0" tIns="0" rIns="0" bIns="0">
            <a:noAutofit/>
          </a:bodyPr>
          <a:lstStyle/>
          <a:p>
            <a:pPr algn="l">
              <a:lnSpc>
                <a:spcPct val="100000"/>
              </a:lnSpc>
              <a:spcBef>
                <a:spcPts val="0"/>
              </a:spcBef>
              <a:spcAft>
                <a:spcPts val="0"/>
              </a:spcAft>
            </a:pPr>
            <a:r>
              <a:rPr sz="1100" b="0" i="0">
                <a:solidFill>
                  <a:srgbClr val="66758C"/>
                </a:solidFill>
                <a:latin typeface="Segoe UI"/>
              </a:rPr>
              <a:t>Quick Sort  ·  DAA Unit 2</a:t>
            </a:r>
          </a:p>
        </p:txBody>
      </p:sp>
      <p:sp>
        <p:nvSpPr>
          <p:cNvPr id="8" name="Rectangle 7"/>
          <p:cNvSpPr/>
          <p:nvPr/>
        </p:nvSpPr>
        <p:spPr>
          <a:xfrm>
            <a:off x="10271455" y="6364224"/>
            <a:ext cx="1371600" cy="246888"/>
          </a:xfrm>
          <a:prstGeom prst="rect">
            <a:avLst/>
          </a:prstGeom>
          <a:noFill/>
          <a:ln>
            <a:noFill/>
          </a:ln>
        </p:spPr>
        <p:txBody>
          <a:bodyPr rtlCol="0" anchor="ctr" wrap="none" lIns="0" tIns="0" rIns="0" bIns="0">
            <a:noAutofit/>
          </a:bodyPr>
          <a:lstStyle/>
          <a:p>
            <a:pPr algn="r">
              <a:lnSpc>
                <a:spcPct val="100000"/>
              </a:lnSpc>
              <a:spcBef>
                <a:spcPts val="0"/>
              </a:spcBef>
              <a:spcAft>
                <a:spcPts val="0"/>
              </a:spcAft>
            </a:pPr>
            <a:r>
              <a:rPr sz="1100" b="0" i="0">
                <a:solidFill>
                  <a:srgbClr val="66758C"/>
                </a:solidFill>
                <a:latin typeface="Segoe UI"/>
              </a:rPr>
              <a:t>6</a:t>
            </a:r>
          </a:p>
        </p:txBody>
      </p:sp>
      <p:sp>
        <p:nvSpPr>
          <p:cNvPr id="9" name="Rounded Rectangle 8"/>
          <p:cNvSpPr/>
          <p:nvPr/>
        </p:nvSpPr>
        <p:spPr>
          <a:xfrm>
            <a:off x="548640" y="1645920"/>
            <a:ext cx="3545738" cy="2606040"/>
          </a:xfrm>
          <a:prstGeom prst="roundRect">
            <a:avLst>
              <a:gd name="adj" fmla="val 5263"/>
            </a:avLst>
          </a:prstGeom>
          <a:solidFill>
            <a:srgbClr val="E8F2FB"/>
          </a:solidFill>
          <a:ln>
            <a:noFill/>
          </a:ln>
        </p:spPr>
        <p:txBody>
          <a:bodyPr rtlCol="0" anchor="ctr"/>
          <a:lstStyle/>
          <a:p>
            <a:pPr algn="ctr"/>
          </a:p>
        </p:txBody>
      </p:sp>
      <p:sp>
        <p:nvSpPr>
          <p:cNvPr id="10" name="Rectangle 9"/>
          <p:cNvSpPr/>
          <p:nvPr/>
        </p:nvSpPr>
        <p:spPr>
          <a:xfrm>
            <a:off x="822959" y="1755648"/>
            <a:ext cx="3088538" cy="256032"/>
          </a:xfrm>
          <a:prstGeom prst="rect">
            <a:avLst/>
          </a:prstGeom>
          <a:noFill/>
          <a:ln>
            <a:noFill/>
          </a:ln>
        </p:spPr>
        <p:txBody>
          <a:bodyPr rtlCol="0" anchor="ctr" wrap="none" lIns="0" tIns="0" rIns="0" bIns="0">
            <a:noAutofit/>
          </a:bodyPr>
          <a:lstStyle/>
          <a:p>
            <a:pPr algn="l">
              <a:lnSpc>
                <a:spcPct val="100000"/>
              </a:lnSpc>
              <a:spcBef>
                <a:spcPts val="0"/>
              </a:spcBef>
              <a:spcAft>
                <a:spcPts val="0"/>
              </a:spcAft>
            </a:pPr>
            <a:r>
              <a:rPr sz="1100" b="1" i="0" spc="150">
                <a:solidFill>
                  <a:srgbClr val="4F8FCB"/>
                </a:solidFill>
                <a:latin typeface="Segoe UI"/>
              </a:rPr>
              <a:t>BEST CASE</a:t>
            </a:r>
          </a:p>
        </p:txBody>
      </p:sp>
      <p:sp>
        <p:nvSpPr>
          <p:cNvPr id="11" name="Rectangle 10"/>
          <p:cNvSpPr/>
          <p:nvPr/>
        </p:nvSpPr>
        <p:spPr>
          <a:xfrm>
            <a:off x="822959" y="2029968"/>
            <a:ext cx="3088538" cy="365760"/>
          </a:xfrm>
          <a:prstGeom prst="rect">
            <a:avLst/>
          </a:prstGeom>
          <a:noFill/>
          <a:ln>
            <a:noFill/>
          </a:ln>
        </p:spPr>
        <p:txBody>
          <a:bodyPr rtlCol="0" anchor="ctr" wrap="square" lIns="0" tIns="0" rIns="0" bIns="0">
            <a:noAutofit/>
          </a:bodyPr>
          <a:lstStyle/>
          <a:p>
            <a:pPr algn="l">
              <a:lnSpc>
                <a:spcPct val="100000"/>
              </a:lnSpc>
              <a:spcBef>
                <a:spcPts val="0"/>
              </a:spcBef>
              <a:spcAft>
                <a:spcPts val="0"/>
              </a:spcAft>
            </a:pPr>
            <a:r>
              <a:rPr sz="1500" b="1" i="0">
                <a:solidFill>
                  <a:srgbClr val="22304A"/>
                </a:solidFill>
                <a:latin typeface="Georgia"/>
              </a:rPr>
              <a:t>T(n) = 2T(n/2) + n</a:t>
            </a:r>
          </a:p>
        </p:txBody>
      </p:sp>
      <p:sp>
        <p:nvSpPr>
          <p:cNvPr id="12" name="Rectangle 11"/>
          <p:cNvSpPr/>
          <p:nvPr/>
        </p:nvSpPr>
        <p:spPr>
          <a:xfrm>
            <a:off x="822959" y="2487168"/>
            <a:ext cx="2997098" cy="18288"/>
          </a:xfrm>
          <a:prstGeom prst="rect">
            <a:avLst/>
          </a:prstGeom>
          <a:solidFill>
            <a:srgbClr val="BCD8F1"/>
          </a:solidFill>
          <a:ln>
            <a:noFill/>
          </a:ln>
        </p:spPr>
        <p:txBody>
          <a:bodyPr rtlCol="0" anchor="ctr"/>
          <a:lstStyle/>
          <a:p>
            <a:pPr algn="ctr"/>
          </a:p>
        </p:txBody>
      </p:sp>
      <p:sp>
        <p:nvSpPr>
          <p:cNvPr id="13" name="Rectangle 12"/>
          <p:cNvSpPr/>
          <p:nvPr/>
        </p:nvSpPr>
        <p:spPr>
          <a:xfrm>
            <a:off x="822959" y="2560320"/>
            <a:ext cx="3088538" cy="685800"/>
          </a:xfrm>
          <a:prstGeom prst="rect">
            <a:avLst/>
          </a:prstGeom>
          <a:noFill/>
          <a:ln>
            <a:noFill/>
          </a:ln>
        </p:spPr>
        <p:txBody>
          <a:bodyPr rtlCol="0" anchor="ctr" wrap="square" lIns="0" tIns="0" rIns="0" bIns="0">
            <a:noAutofit/>
          </a:bodyPr>
          <a:lstStyle/>
          <a:p>
            <a:pPr algn="l">
              <a:lnSpc>
                <a:spcPct val="100000"/>
              </a:lnSpc>
              <a:spcBef>
                <a:spcPts val="0"/>
              </a:spcBef>
              <a:spcAft>
                <a:spcPts val="0"/>
              </a:spcAft>
            </a:pPr>
            <a:r>
              <a:rPr sz="3200" b="1" i="0">
                <a:solidFill>
                  <a:srgbClr val="22304A"/>
                </a:solidFill>
                <a:latin typeface="Georgia"/>
              </a:rPr>
              <a:t>Θ(n log n)</a:t>
            </a:r>
          </a:p>
        </p:txBody>
      </p:sp>
      <p:sp>
        <p:nvSpPr>
          <p:cNvPr id="14" name="Rectangle 13"/>
          <p:cNvSpPr/>
          <p:nvPr/>
        </p:nvSpPr>
        <p:spPr>
          <a:xfrm>
            <a:off x="822959" y="3291840"/>
            <a:ext cx="3088538" cy="896112"/>
          </a:xfrm>
          <a:prstGeom prst="rect">
            <a:avLst/>
          </a:prstGeom>
          <a:noFill/>
          <a:ln>
            <a:noFill/>
          </a:ln>
        </p:spPr>
        <p:txBody>
          <a:bodyPr rtlCol="0" anchor="t" wrap="square" lIns="0" tIns="18288" rIns="0" bIns="0">
            <a:noAutofit/>
          </a:bodyPr>
          <a:lstStyle/>
          <a:p>
            <a:pPr algn="l">
              <a:lnSpc>
                <a:spcPct val="100000"/>
              </a:lnSpc>
              <a:spcBef>
                <a:spcPts val="0"/>
              </a:spcBef>
              <a:spcAft>
                <a:spcPts val="0"/>
              </a:spcAft>
            </a:pPr>
            <a:r>
              <a:rPr sz="1400" b="0" i="0">
                <a:solidFill>
                  <a:srgbClr val="22304A"/>
                </a:solidFill>
                <a:latin typeface="Segoe UI"/>
              </a:rPr>
              <a:t>The pivot lands in the middle every time: log n levels, n work on each.</a:t>
            </a:r>
          </a:p>
        </p:txBody>
      </p:sp>
      <p:sp>
        <p:nvSpPr>
          <p:cNvPr id="15" name="Rounded Rectangle 14"/>
          <p:cNvSpPr/>
          <p:nvPr/>
        </p:nvSpPr>
        <p:spPr>
          <a:xfrm>
            <a:off x="4322978" y="1645920"/>
            <a:ext cx="3545738" cy="2606040"/>
          </a:xfrm>
          <a:prstGeom prst="roundRect">
            <a:avLst>
              <a:gd name="adj" fmla="val 5263"/>
            </a:avLst>
          </a:prstGeom>
          <a:solidFill>
            <a:srgbClr val="E8F2FB"/>
          </a:solidFill>
          <a:ln>
            <a:noFill/>
          </a:ln>
        </p:spPr>
        <p:txBody>
          <a:bodyPr rtlCol="0" anchor="ctr"/>
          <a:lstStyle/>
          <a:p>
            <a:pPr algn="ctr"/>
          </a:p>
        </p:txBody>
      </p:sp>
      <p:sp>
        <p:nvSpPr>
          <p:cNvPr id="16" name="Rectangle 15"/>
          <p:cNvSpPr/>
          <p:nvPr/>
        </p:nvSpPr>
        <p:spPr>
          <a:xfrm>
            <a:off x="4597298" y="1755648"/>
            <a:ext cx="3088538" cy="256032"/>
          </a:xfrm>
          <a:prstGeom prst="rect">
            <a:avLst/>
          </a:prstGeom>
          <a:noFill/>
          <a:ln>
            <a:noFill/>
          </a:ln>
        </p:spPr>
        <p:txBody>
          <a:bodyPr rtlCol="0" anchor="ctr" wrap="none" lIns="0" tIns="0" rIns="0" bIns="0">
            <a:noAutofit/>
          </a:bodyPr>
          <a:lstStyle/>
          <a:p>
            <a:pPr algn="l">
              <a:lnSpc>
                <a:spcPct val="100000"/>
              </a:lnSpc>
              <a:spcBef>
                <a:spcPts val="0"/>
              </a:spcBef>
              <a:spcAft>
                <a:spcPts val="0"/>
              </a:spcAft>
            </a:pPr>
            <a:r>
              <a:rPr sz="1100" b="1" i="0" spc="150">
                <a:solidFill>
                  <a:srgbClr val="4F8FCB"/>
                </a:solidFill>
                <a:latin typeface="Segoe UI"/>
              </a:rPr>
              <a:t>AVERAGE CASE</a:t>
            </a:r>
          </a:p>
        </p:txBody>
      </p:sp>
      <p:sp>
        <p:nvSpPr>
          <p:cNvPr id="17" name="Rectangle 16"/>
          <p:cNvSpPr/>
          <p:nvPr/>
        </p:nvSpPr>
        <p:spPr>
          <a:xfrm>
            <a:off x="4597298" y="2029968"/>
            <a:ext cx="3088538" cy="365760"/>
          </a:xfrm>
          <a:prstGeom prst="rect">
            <a:avLst/>
          </a:prstGeom>
          <a:noFill/>
          <a:ln>
            <a:noFill/>
          </a:ln>
        </p:spPr>
        <p:txBody>
          <a:bodyPr rtlCol="0" anchor="ctr" wrap="square" lIns="0" tIns="0" rIns="0" bIns="0">
            <a:noAutofit/>
          </a:bodyPr>
          <a:lstStyle/>
          <a:p>
            <a:pPr algn="l">
              <a:lnSpc>
                <a:spcPct val="100000"/>
              </a:lnSpc>
              <a:spcBef>
                <a:spcPts val="0"/>
              </a:spcBef>
              <a:spcAft>
                <a:spcPts val="0"/>
              </a:spcAft>
            </a:pPr>
            <a:r>
              <a:rPr sz="1500" b="0" i="0">
                <a:solidFill>
                  <a:srgbClr val="22304A"/>
                </a:solidFill>
                <a:latin typeface="Segoe UI"/>
              </a:rPr>
              <a:t>random pivot or random input</a:t>
            </a:r>
          </a:p>
        </p:txBody>
      </p:sp>
      <p:sp>
        <p:nvSpPr>
          <p:cNvPr id="18" name="Rectangle 17"/>
          <p:cNvSpPr/>
          <p:nvPr/>
        </p:nvSpPr>
        <p:spPr>
          <a:xfrm>
            <a:off x="4597298" y="2487168"/>
            <a:ext cx="2997098" cy="18288"/>
          </a:xfrm>
          <a:prstGeom prst="rect">
            <a:avLst/>
          </a:prstGeom>
          <a:solidFill>
            <a:srgbClr val="BCD8F1"/>
          </a:solidFill>
          <a:ln>
            <a:noFill/>
          </a:ln>
        </p:spPr>
        <p:txBody>
          <a:bodyPr rtlCol="0" anchor="ctr"/>
          <a:lstStyle/>
          <a:p>
            <a:pPr algn="ctr"/>
          </a:p>
        </p:txBody>
      </p:sp>
      <p:sp>
        <p:nvSpPr>
          <p:cNvPr id="19" name="Rectangle 18"/>
          <p:cNvSpPr/>
          <p:nvPr/>
        </p:nvSpPr>
        <p:spPr>
          <a:xfrm>
            <a:off x="4597298" y="2560320"/>
            <a:ext cx="3088538" cy="685800"/>
          </a:xfrm>
          <a:prstGeom prst="rect">
            <a:avLst/>
          </a:prstGeom>
          <a:noFill/>
          <a:ln>
            <a:noFill/>
          </a:ln>
        </p:spPr>
        <p:txBody>
          <a:bodyPr rtlCol="0" anchor="ctr" wrap="square" lIns="0" tIns="0" rIns="0" bIns="0">
            <a:noAutofit/>
          </a:bodyPr>
          <a:lstStyle/>
          <a:p>
            <a:pPr algn="l">
              <a:lnSpc>
                <a:spcPct val="100000"/>
              </a:lnSpc>
              <a:spcBef>
                <a:spcPts val="0"/>
              </a:spcBef>
              <a:spcAft>
                <a:spcPts val="0"/>
              </a:spcAft>
            </a:pPr>
            <a:r>
              <a:rPr sz="2600" b="1" i="0">
                <a:solidFill>
                  <a:srgbClr val="22304A"/>
                </a:solidFill>
                <a:latin typeface="Georgia"/>
              </a:rPr>
              <a:t>≈ 1.39 n log n</a:t>
            </a:r>
          </a:p>
        </p:txBody>
      </p:sp>
      <p:sp>
        <p:nvSpPr>
          <p:cNvPr id="20" name="Rectangle 19"/>
          <p:cNvSpPr/>
          <p:nvPr/>
        </p:nvSpPr>
        <p:spPr>
          <a:xfrm>
            <a:off x="4597298" y="3291840"/>
            <a:ext cx="3088538" cy="896112"/>
          </a:xfrm>
          <a:prstGeom prst="rect">
            <a:avLst/>
          </a:prstGeom>
          <a:noFill/>
          <a:ln>
            <a:noFill/>
          </a:ln>
        </p:spPr>
        <p:txBody>
          <a:bodyPr rtlCol="0" anchor="t" wrap="square" lIns="0" tIns="18288" rIns="0" bIns="0">
            <a:noAutofit/>
          </a:bodyPr>
          <a:lstStyle/>
          <a:p>
            <a:pPr algn="l">
              <a:lnSpc>
                <a:spcPct val="100000"/>
              </a:lnSpc>
              <a:spcBef>
                <a:spcPts val="0"/>
              </a:spcBef>
              <a:spcAft>
                <a:spcPts val="0"/>
              </a:spcAft>
            </a:pPr>
            <a:r>
              <a:rPr sz="1400" b="0" i="0">
                <a:solidFill>
                  <a:srgbClr val="22304A"/>
                </a:solidFill>
                <a:latin typeface="Segoe UI"/>
              </a:rPr>
              <a:t>About 39% above the minimum any comparison sort needs.</a:t>
            </a:r>
          </a:p>
        </p:txBody>
      </p:sp>
      <p:sp>
        <p:nvSpPr>
          <p:cNvPr id="21" name="Rounded Rectangle 20"/>
          <p:cNvSpPr/>
          <p:nvPr/>
        </p:nvSpPr>
        <p:spPr>
          <a:xfrm>
            <a:off x="8097316" y="1645920"/>
            <a:ext cx="3545738" cy="2606040"/>
          </a:xfrm>
          <a:prstGeom prst="roundRect">
            <a:avLst>
              <a:gd name="adj" fmla="val 5263"/>
            </a:avLst>
          </a:prstGeom>
          <a:solidFill>
            <a:srgbClr val="FBE3DB"/>
          </a:solidFill>
          <a:ln>
            <a:noFill/>
          </a:ln>
        </p:spPr>
        <p:txBody>
          <a:bodyPr rtlCol="0" anchor="ctr"/>
          <a:lstStyle/>
          <a:p>
            <a:pPr algn="ctr"/>
          </a:p>
        </p:txBody>
      </p:sp>
      <p:sp>
        <p:nvSpPr>
          <p:cNvPr id="22" name="Rectangle 21"/>
          <p:cNvSpPr/>
          <p:nvPr/>
        </p:nvSpPr>
        <p:spPr>
          <a:xfrm>
            <a:off x="8097316" y="1645920"/>
            <a:ext cx="82296" cy="2606040"/>
          </a:xfrm>
          <a:prstGeom prst="rect">
            <a:avLst/>
          </a:prstGeom>
          <a:solidFill>
            <a:srgbClr val="E07A5F"/>
          </a:solidFill>
          <a:ln>
            <a:noFill/>
          </a:ln>
        </p:spPr>
        <p:txBody>
          <a:bodyPr rtlCol="0" anchor="ctr"/>
          <a:lstStyle/>
          <a:p>
            <a:pPr algn="ctr"/>
          </a:p>
        </p:txBody>
      </p:sp>
      <p:sp>
        <p:nvSpPr>
          <p:cNvPr id="23" name="Rectangle 22"/>
          <p:cNvSpPr/>
          <p:nvPr/>
        </p:nvSpPr>
        <p:spPr>
          <a:xfrm>
            <a:off x="8371636" y="1755648"/>
            <a:ext cx="3088538" cy="256032"/>
          </a:xfrm>
          <a:prstGeom prst="rect">
            <a:avLst/>
          </a:prstGeom>
          <a:noFill/>
          <a:ln>
            <a:noFill/>
          </a:ln>
        </p:spPr>
        <p:txBody>
          <a:bodyPr rtlCol="0" anchor="ctr" wrap="none" lIns="0" tIns="0" rIns="0" bIns="0">
            <a:noAutofit/>
          </a:bodyPr>
          <a:lstStyle/>
          <a:p>
            <a:pPr algn="l">
              <a:lnSpc>
                <a:spcPct val="100000"/>
              </a:lnSpc>
              <a:spcBef>
                <a:spcPts val="0"/>
              </a:spcBef>
              <a:spcAft>
                <a:spcPts val="0"/>
              </a:spcAft>
            </a:pPr>
            <a:r>
              <a:rPr sz="1100" b="1" i="0" spc="150">
                <a:solidFill>
                  <a:srgbClr val="4F8FCB"/>
                </a:solidFill>
                <a:latin typeface="Segoe UI"/>
              </a:rPr>
              <a:t>WORST CASE</a:t>
            </a:r>
          </a:p>
        </p:txBody>
      </p:sp>
      <p:sp>
        <p:nvSpPr>
          <p:cNvPr id="24" name="Rectangle 23"/>
          <p:cNvSpPr/>
          <p:nvPr/>
        </p:nvSpPr>
        <p:spPr>
          <a:xfrm>
            <a:off x="8371636" y="2029968"/>
            <a:ext cx="3088538" cy="365760"/>
          </a:xfrm>
          <a:prstGeom prst="rect">
            <a:avLst/>
          </a:prstGeom>
          <a:noFill/>
          <a:ln>
            <a:noFill/>
          </a:ln>
        </p:spPr>
        <p:txBody>
          <a:bodyPr rtlCol="0" anchor="ctr" wrap="square" lIns="0" tIns="0" rIns="0" bIns="0">
            <a:noAutofit/>
          </a:bodyPr>
          <a:lstStyle/>
          <a:p>
            <a:pPr algn="l">
              <a:lnSpc>
                <a:spcPct val="100000"/>
              </a:lnSpc>
              <a:spcBef>
                <a:spcPts val="0"/>
              </a:spcBef>
              <a:spcAft>
                <a:spcPts val="0"/>
              </a:spcAft>
            </a:pPr>
            <a:r>
              <a:rPr sz="1500" b="1" i="0">
                <a:solidFill>
                  <a:srgbClr val="22304A"/>
                </a:solidFill>
                <a:latin typeface="Georgia"/>
              </a:rPr>
              <a:t>T(n) = T(n − 1) + n</a:t>
            </a:r>
          </a:p>
        </p:txBody>
      </p:sp>
      <p:sp>
        <p:nvSpPr>
          <p:cNvPr id="25" name="Rectangle 24"/>
          <p:cNvSpPr/>
          <p:nvPr/>
        </p:nvSpPr>
        <p:spPr>
          <a:xfrm>
            <a:off x="8371636" y="2487168"/>
            <a:ext cx="2997098" cy="18288"/>
          </a:xfrm>
          <a:prstGeom prst="rect">
            <a:avLst/>
          </a:prstGeom>
          <a:solidFill>
            <a:srgbClr val="F3A08A"/>
          </a:solidFill>
          <a:ln>
            <a:noFill/>
          </a:ln>
        </p:spPr>
        <p:txBody>
          <a:bodyPr rtlCol="0" anchor="ctr"/>
          <a:lstStyle/>
          <a:p>
            <a:pPr algn="ctr"/>
          </a:p>
        </p:txBody>
      </p:sp>
      <p:sp>
        <p:nvSpPr>
          <p:cNvPr id="26" name="Rectangle 25"/>
          <p:cNvSpPr/>
          <p:nvPr/>
        </p:nvSpPr>
        <p:spPr>
          <a:xfrm>
            <a:off x="8371636" y="2560320"/>
            <a:ext cx="3088538" cy="685800"/>
          </a:xfrm>
          <a:prstGeom prst="rect">
            <a:avLst/>
          </a:prstGeom>
          <a:noFill/>
          <a:ln>
            <a:noFill/>
          </a:ln>
        </p:spPr>
        <p:txBody>
          <a:bodyPr rtlCol="0" anchor="ctr" wrap="square" lIns="0" tIns="0" rIns="0" bIns="0">
            <a:noAutofit/>
          </a:bodyPr>
          <a:lstStyle/>
          <a:p>
            <a:pPr algn="l">
              <a:lnSpc>
                <a:spcPct val="100000"/>
              </a:lnSpc>
              <a:spcBef>
                <a:spcPts val="0"/>
              </a:spcBef>
              <a:spcAft>
                <a:spcPts val="0"/>
              </a:spcAft>
            </a:pPr>
            <a:r>
              <a:rPr sz="3200" b="1" i="0">
                <a:solidFill>
                  <a:srgbClr val="22304A"/>
                </a:solidFill>
                <a:latin typeface="Georgia"/>
              </a:rPr>
              <a:t>Θ(n²)</a:t>
            </a:r>
          </a:p>
        </p:txBody>
      </p:sp>
      <p:sp>
        <p:nvSpPr>
          <p:cNvPr id="27" name="Rectangle 26"/>
          <p:cNvSpPr/>
          <p:nvPr/>
        </p:nvSpPr>
        <p:spPr>
          <a:xfrm>
            <a:off x="8371636" y="3291840"/>
            <a:ext cx="3088538" cy="896112"/>
          </a:xfrm>
          <a:prstGeom prst="rect">
            <a:avLst/>
          </a:prstGeom>
          <a:noFill/>
          <a:ln>
            <a:noFill/>
          </a:ln>
        </p:spPr>
        <p:txBody>
          <a:bodyPr rtlCol="0" anchor="t" wrap="square" lIns="0" tIns="18288" rIns="0" bIns="0">
            <a:noAutofit/>
          </a:bodyPr>
          <a:lstStyle/>
          <a:p>
            <a:pPr algn="l">
              <a:lnSpc>
                <a:spcPct val="100000"/>
              </a:lnSpc>
              <a:spcBef>
                <a:spcPts val="0"/>
              </a:spcBef>
              <a:spcAft>
                <a:spcPts val="0"/>
              </a:spcAft>
            </a:pPr>
            <a:r>
              <a:rPr sz="1400" b="0" i="0">
                <a:solidFill>
                  <a:srgbClr val="22304A"/>
                </a:solidFill>
                <a:latin typeface="Segoe UI"/>
              </a:rPr>
              <a:t>Pivot always smallest or largest, e.g. sorted input: 12,497,500 comparisons for 5,000 values.</a:t>
            </a:r>
          </a:p>
        </p:txBody>
      </p:sp>
      <p:graphicFrame>
        <p:nvGraphicFramePr>
          <p:cNvPr id="28" name="Table 27"/>
          <p:cNvGraphicFramePr>
            <a:graphicFrameLocks noGrp="1"/>
          </p:cNvGraphicFramePr>
          <p:nvPr/>
        </p:nvGraphicFramePr>
        <p:xfrm>
          <a:off x="548640" y="4434840"/>
          <a:ext cx="11094415" cy="1600200"/>
        </p:xfrm>
        <a:graphic>
          <a:graphicData uri="http://schemas.openxmlformats.org/drawingml/2006/table">
            <a:tbl>
              <a:tblPr>
                <a:tableStyleId>{2D5ABB26-0587-4C30-8999-92F81FD0307C}</a:tableStyleId>
              </a:tblPr>
              <a:tblGrid>
                <a:gridCol w="2743200"/>
                <a:gridCol w="4023360"/>
                <a:gridCol w="4327855"/>
              </a:tblGrid>
              <a:tr h="365760">
                <a:tc>
                  <a:txBody>
                    <a:bodyPr wrap="square"/>
                    <a:lstStyle/>
                    <a:p>
                      <a:pPr algn="l">
                        <a:lnSpc>
                          <a:spcPct val="100000"/>
                        </a:lnSpc>
                      </a:pPr>
                      <a:r>
                        <a:rPr sz="1300" b="1">
                          <a:solidFill>
                            <a:srgbClr val="22304A"/>
                          </a:solidFill>
                          <a:latin typeface="Segoe UI"/>
                        </a:rPr>
                        <a:t>Pivot choice</a:t>
                      </a:r>
                    </a:p>
                  </a:txBody>
                  <a:tcPr marL="128016" marT="45720" marR="128016" marB="45720" anchor="ctr">
                    <a:lnL w="0">
                      <a:noFill/>
                    </a:lnL>
                    <a:lnR w="0">
                      <a:noFill/>
                    </a:lnR>
                    <a:lnT w="0">
                      <a:noFill/>
                    </a:lnT>
                    <a:lnB w="9525" cap="flat" cmpd="sng">
                      <a:solidFill>
                        <a:srgbClr val="BCD8F1"/>
                      </a:solidFill>
                      <a:prstDash val="solid"/>
                    </a:lnB>
                    <a:solidFill>
                      <a:srgbClr val="BCD8F1"/>
                    </a:solidFill>
                  </a:tcPr>
                </a:tc>
                <a:tc>
                  <a:txBody>
                    <a:bodyPr wrap="square"/>
                    <a:lstStyle/>
                    <a:p>
                      <a:pPr algn="l">
                        <a:lnSpc>
                          <a:spcPct val="100000"/>
                        </a:lnSpc>
                      </a:pPr>
                      <a:r>
                        <a:rPr sz="1300" b="1">
                          <a:solidFill>
                            <a:srgbClr val="22304A"/>
                          </a:solidFill>
                          <a:latin typeface="Segoe UI"/>
                        </a:rPr>
                        <a:t>Comparisons</a:t>
                      </a:r>
                    </a:p>
                  </a:txBody>
                  <a:tcPr marL="128016" marT="45720" marR="128016" marB="45720" anchor="ctr">
                    <a:lnL w="0">
                      <a:noFill/>
                    </a:lnL>
                    <a:lnR w="0">
                      <a:noFill/>
                    </a:lnR>
                    <a:lnT w="0">
                      <a:noFill/>
                    </a:lnT>
                    <a:lnB w="9525" cap="flat" cmpd="sng">
                      <a:solidFill>
                        <a:srgbClr val="BCD8F1"/>
                      </a:solidFill>
                      <a:prstDash val="solid"/>
                    </a:lnB>
                    <a:solidFill>
                      <a:srgbClr val="BCD8F1"/>
                    </a:solidFill>
                  </a:tcPr>
                </a:tc>
                <a:tc>
                  <a:txBody>
                    <a:bodyPr wrap="square"/>
                    <a:lstStyle/>
                    <a:p>
                      <a:pPr algn="l">
                        <a:lnSpc>
                          <a:spcPct val="100000"/>
                        </a:lnSpc>
                      </a:pPr>
                      <a:r>
                        <a:rPr sz="1300" b="1">
                          <a:solidFill>
                            <a:srgbClr val="22304A"/>
                          </a:solidFill>
                          <a:latin typeface="Segoe UI"/>
                        </a:rPr>
                        <a:t>Weakness</a:t>
                      </a:r>
                    </a:p>
                  </a:txBody>
                  <a:tcPr marL="128016" marT="45720" marR="128016" marB="45720" anchor="ctr">
                    <a:lnL w="0">
                      <a:noFill/>
                    </a:lnL>
                    <a:lnR w="0">
                      <a:noFill/>
                    </a:lnR>
                    <a:lnT w="0">
                      <a:noFill/>
                    </a:lnT>
                    <a:lnB w="9525" cap="flat" cmpd="sng">
                      <a:solidFill>
                        <a:srgbClr val="BCD8F1"/>
                      </a:solidFill>
                      <a:prstDash val="solid"/>
                    </a:lnB>
                    <a:solidFill>
                      <a:srgbClr val="BCD8F1"/>
                    </a:solidFill>
                  </a:tcPr>
                </a:tc>
              </a:tr>
              <a:tr h="411480">
                <a:tc>
                  <a:txBody>
                    <a:bodyPr wrap="square"/>
                    <a:lstStyle/>
                    <a:p>
                      <a:pPr algn="l">
                        <a:lnSpc>
                          <a:spcPct val="100000"/>
                        </a:lnSpc>
                      </a:pPr>
                      <a:r>
                        <a:rPr sz="1400" b="1">
                          <a:solidFill>
                            <a:srgbClr val="22304A"/>
                          </a:solidFill>
                          <a:latin typeface="Segoe UI"/>
                        </a:rPr>
                        <a:t>First element (our notes)</a:t>
                      </a:r>
                    </a:p>
                  </a:txBody>
                  <a:tcPr marL="128016" marT="45720" marR="128016" marB="45720" anchor="ctr">
                    <a:lnL w="0">
                      <a:noFill/>
                    </a:lnL>
                    <a:lnR w="0">
                      <a:noFill/>
                    </a:lnR>
                    <a:lnT w="0">
                      <a:noFill/>
                    </a:lnT>
                    <a:lnB w="9525" cap="flat" cmpd="sng">
                      <a:solidFill>
                        <a:srgbClr val="BCD8F1"/>
                      </a:solidFill>
                      <a:prstDash val="solid"/>
                    </a:lnB>
                    <a:solidFill>
                      <a:srgbClr val="FFFFFF"/>
                    </a:solidFill>
                  </a:tcPr>
                </a:tc>
                <a:tc>
                  <a:txBody>
                    <a:bodyPr wrap="square"/>
                    <a:lstStyle/>
                    <a:p>
                      <a:pPr algn="l">
                        <a:lnSpc>
                          <a:spcPct val="100000"/>
                        </a:lnSpc>
                      </a:pPr>
                      <a:r>
                        <a:rPr sz="1400" b="0">
                          <a:solidFill>
                            <a:srgbClr val="22304A"/>
                          </a:solidFill>
                          <a:latin typeface="Segoe UI"/>
                        </a:rPr>
                        <a:t>≈ 1.39 n log n on random data</a:t>
                      </a:r>
                    </a:p>
                  </a:txBody>
                  <a:tcPr marL="128016" marT="45720" marR="128016" marB="45720" anchor="ctr">
                    <a:lnL w="0">
                      <a:noFill/>
                    </a:lnL>
                    <a:lnR w="0">
                      <a:noFill/>
                    </a:lnR>
                    <a:lnT w="0">
                      <a:noFill/>
                    </a:lnT>
                    <a:lnB w="9525" cap="flat" cmpd="sng">
                      <a:solidFill>
                        <a:srgbClr val="BCD8F1"/>
                      </a:solidFill>
                      <a:prstDash val="solid"/>
                    </a:lnB>
                    <a:solidFill>
                      <a:srgbClr val="FFFFFF"/>
                    </a:solidFill>
                  </a:tcPr>
                </a:tc>
                <a:tc>
                  <a:txBody>
                    <a:bodyPr wrap="square"/>
                    <a:lstStyle/>
                    <a:p>
                      <a:pPr algn="l">
                        <a:lnSpc>
                          <a:spcPct val="100000"/>
                        </a:lnSpc>
                      </a:pPr>
                      <a:r>
                        <a:rPr sz="1400" b="1">
                          <a:solidFill>
                            <a:srgbClr val="22304A"/>
                          </a:solidFill>
                          <a:latin typeface="Segoe UI"/>
                        </a:rPr>
                        <a:t>Sorted input gives n²</a:t>
                      </a:r>
                    </a:p>
                  </a:txBody>
                  <a:tcPr marL="128016" marT="45720" marR="128016" marB="45720" anchor="ctr">
                    <a:lnL w="57150" cap="flat" cmpd="sng">
                      <a:solidFill>
                        <a:srgbClr val="E07A5F"/>
                      </a:solidFill>
                      <a:prstDash val="solid"/>
                    </a:lnL>
                    <a:lnR w="0">
                      <a:noFill/>
                    </a:lnR>
                    <a:lnT w="0">
                      <a:noFill/>
                    </a:lnT>
                    <a:lnB w="9525" cap="flat" cmpd="sng">
                      <a:solidFill>
                        <a:srgbClr val="BCD8F1"/>
                      </a:solidFill>
                      <a:prstDash val="solid"/>
                    </a:lnB>
                    <a:solidFill>
                      <a:srgbClr val="FBE3DB"/>
                    </a:solidFill>
                  </a:tcPr>
                </a:tc>
              </a:tr>
              <a:tr h="411480">
                <a:tc>
                  <a:txBody>
                    <a:bodyPr wrap="square"/>
                    <a:lstStyle/>
                    <a:p>
                      <a:pPr algn="l">
                        <a:lnSpc>
                          <a:spcPct val="100000"/>
                        </a:lnSpc>
                      </a:pPr>
                      <a:r>
                        <a:rPr sz="1400" b="1">
                          <a:solidFill>
                            <a:srgbClr val="22304A"/>
                          </a:solidFill>
                          <a:latin typeface="Segoe UI"/>
                        </a:rPr>
                        <a:t>Random element</a:t>
                      </a:r>
                    </a:p>
                  </a:txBody>
                  <a:tcPr marL="128016" marT="45720" marR="128016" marB="45720" anchor="ctr">
                    <a:lnL w="0">
                      <a:noFill/>
                    </a:lnL>
                    <a:lnR w="0">
                      <a:noFill/>
                    </a:lnR>
                    <a:lnT w="0">
                      <a:noFill/>
                    </a:lnT>
                    <a:lnB w="9525" cap="flat" cmpd="sng">
                      <a:solidFill>
                        <a:srgbClr val="BCD8F1"/>
                      </a:solidFill>
                      <a:prstDash val="solid"/>
                    </a:lnB>
                    <a:solidFill>
                      <a:srgbClr val="E8F2FB"/>
                    </a:solidFill>
                  </a:tcPr>
                </a:tc>
                <a:tc>
                  <a:txBody>
                    <a:bodyPr wrap="square"/>
                    <a:lstStyle/>
                    <a:p>
                      <a:pPr algn="l">
                        <a:lnSpc>
                          <a:spcPct val="100000"/>
                        </a:lnSpc>
                      </a:pPr>
                      <a:r>
                        <a:rPr sz="1400" b="0">
                          <a:solidFill>
                            <a:srgbClr val="22304A"/>
                          </a:solidFill>
                          <a:latin typeface="Segoe UI"/>
                        </a:rPr>
                        <a:t>≈ 1.39 n log n expected, any input</a:t>
                      </a:r>
                    </a:p>
                  </a:txBody>
                  <a:tcPr marL="128016" marT="45720" marR="128016" marB="45720" anchor="ctr">
                    <a:lnL w="0">
                      <a:noFill/>
                    </a:lnL>
                    <a:lnR w="0">
                      <a:noFill/>
                    </a:lnR>
                    <a:lnT w="0">
                      <a:noFill/>
                    </a:lnT>
                    <a:lnB w="9525" cap="flat" cmpd="sng">
                      <a:solidFill>
                        <a:srgbClr val="BCD8F1"/>
                      </a:solidFill>
                      <a:prstDash val="solid"/>
                    </a:lnB>
                    <a:solidFill>
                      <a:srgbClr val="E8F2FB"/>
                    </a:solidFill>
                  </a:tcPr>
                </a:tc>
                <a:tc>
                  <a:txBody>
                    <a:bodyPr wrap="square"/>
                    <a:lstStyle/>
                    <a:p>
                      <a:pPr algn="l">
                        <a:lnSpc>
                          <a:spcPct val="100000"/>
                        </a:lnSpc>
                      </a:pPr>
                      <a:r>
                        <a:rPr sz="1400" b="0">
                          <a:solidFill>
                            <a:srgbClr val="22304A"/>
                          </a:solidFill>
                          <a:latin typeface="Segoe UI"/>
                        </a:rPr>
                        <a:t>Needs random numbers</a:t>
                      </a:r>
                    </a:p>
                  </a:txBody>
                  <a:tcPr marL="128016" marT="45720" marR="128016" marB="45720" anchor="ctr">
                    <a:lnL w="0">
                      <a:noFill/>
                    </a:lnL>
                    <a:lnR w="0">
                      <a:noFill/>
                    </a:lnR>
                    <a:lnT w="0">
                      <a:noFill/>
                    </a:lnT>
                    <a:lnB w="9525" cap="flat" cmpd="sng">
                      <a:solidFill>
                        <a:srgbClr val="BCD8F1"/>
                      </a:solidFill>
                      <a:prstDash val="solid"/>
                    </a:lnB>
                    <a:solidFill>
                      <a:srgbClr val="E8F2FB"/>
                    </a:solidFill>
                  </a:tcPr>
                </a:tc>
              </a:tr>
              <a:tr h="411480">
                <a:tc>
                  <a:txBody>
                    <a:bodyPr wrap="square"/>
                    <a:lstStyle/>
                    <a:p>
                      <a:pPr algn="l">
                        <a:lnSpc>
                          <a:spcPct val="100000"/>
                        </a:lnSpc>
                      </a:pPr>
                      <a:r>
                        <a:rPr sz="1400" b="1">
                          <a:solidFill>
                            <a:srgbClr val="22304A"/>
                          </a:solidFill>
                          <a:latin typeface="Segoe UI"/>
                        </a:rPr>
                        <a:t>Median of three</a:t>
                      </a:r>
                    </a:p>
                  </a:txBody>
                  <a:tcPr marL="128016" marT="45720" marR="128016" marB="45720" anchor="ctr">
                    <a:lnL w="0">
                      <a:noFill/>
                    </a:lnL>
                    <a:lnR w="0">
                      <a:noFill/>
                    </a:lnR>
                    <a:lnT w="0">
                      <a:noFill/>
                    </a:lnT>
                    <a:lnB w="12700" cap="flat" cmpd="sng">
                      <a:solidFill>
                        <a:srgbClr val="4F8FCB"/>
                      </a:solidFill>
                      <a:prstDash val="solid"/>
                    </a:lnB>
                    <a:solidFill>
                      <a:srgbClr val="FFFFFF"/>
                    </a:solidFill>
                  </a:tcPr>
                </a:tc>
                <a:tc>
                  <a:txBody>
                    <a:bodyPr wrap="square"/>
                    <a:lstStyle/>
                    <a:p>
                      <a:pPr algn="l">
                        <a:lnSpc>
                          <a:spcPct val="100000"/>
                        </a:lnSpc>
                      </a:pPr>
                      <a:r>
                        <a:rPr sz="1400" b="0">
                          <a:solidFill>
                            <a:srgbClr val="22304A"/>
                          </a:solidFill>
                          <a:latin typeface="Segoe UI"/>
                        </a:rPr>
                        <a:t>≈ 1.19 n log n</a:t>
                      </a:r>
                    </a:p>
                  </a:txBody>
                  <a:tcPr marL="128016" marT="45720" marR="128016" marB="45720" anchor="ctr">
                    <a:lnL w="0">
                      <a:noFill/>
                    </a:lnL>
                    <a:lnR w="0">
                      <a:noFill/>
                    </a:lnR>
                    <a:lnT w="0">
                      <a:noFill/>
                    </a:lnT>
                    <a:lnB w="12700" cap="flat" cmpd="sng">
                      <a:solidFill>
                        <a:srgbClr val="4F8FCB"/>
                      </a:solidFill>
                      <a:prstDash val="solid"/>
                    </a:lnB>
                    <a:solidFill>
                      <a:srgbClr val="FFFFFF"/>
                    </a:solidFill>
                  </a:tcPr>
                </a:tc>
                <a:tc>
                  <a:txBody>
                    <a:bodyPr wrap="square"/>
                    <a:lstStyle/>
                    <a:p>
                      <a:pPr algn="l">
                        <a:lnSpc>
                          <a:spcPct val="100000"/>
                        </a:lnSpc>
                      </a:pPr>
                      <a:r>
                        <a:rPr sz="1400" b="0">
                          <a:solidFill>
                            <a:srgbClr val="22304A"/>
                          </a:solidFill>
                          <a:latin typeface="Segoe UI"/>
                        </a:rPr>
                        <a:t>Tricky inputs still exist</a:t>
                      </a:r>
                    </a:p>
                  </a:txBody>
                  <a:tcPr marL="128016" marT="45720" marR="128016" marB="45720" anchor="ctr">
                    <a:lnL w="0">
                      <a:noFill/>
                    </a:lnL>
                    <a:lnR w="0">
                      <a:noFill/>
                    </a:lnR>
                    <a:lnT w="0">
                      <a:noFill/>
                    </a:lnT>
                    <a:lnB w="12700" cap="flat" cmpd="sng">
                      <a:solidFill>
                        <a:srgbClr val="4F8FCB"/>
                      </a:solidFill>
                      <a:prstDash val="soli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gradFill rotWithShape="1">
          <a:gsLst>
            <a:gs pos="0">
              <a:srgbClr val="DDEBFA"/>
            </a:gs>
            <a:gs pos="100000">
              <a:srgbClr val="FFEFE8"/>
            </a:gs>
          </a:gsLst>
          <a:lin scaled="0" ang="2700000"/>
        </a:gradFill>
        <a:effectLst/>
      </p:bgPr>
    </p:bg>
    <p:spTree>
      <p:nvGrpSpPr>
        <p:cNvPr id="1" name=""/>
        <p:cNvGrpSpPr/>
        <p:nvPr/>
      </p:nvGrpSpPr>
      <p:grpSpPr/>
      <p:sp>
        <p:nvSpPr>
          <p:cNvPr id="3" name="Rounded Rectangle 2"/>
          <p:cNvSpPr/>
          <p:nvPr/>
        </p:nvSpPr>
        <p:spPr>
          <a:xfrm>
            <a:off x="256032" y="182880"/>
            <a:ext cx="11679631" cy="6492240"/>
          </a:xfrm>
          <a:prstGeom prst="roundRect">
            <a:avLst>
              <a:gd name="adj" fmla="val 3943"/>
            </a:avLst>
          </a:prstGeom>
          <a:solidFill>
            <a:srgbClr val="FFFFFF"/>
          </a:solidFill>
          <a:ln w="9525">
            <a:solidFill>
              <a:srgbClr val="BCD8F1"/>
            </a:solidFill>
          </a:ln>
        </p:spPr>
        <p:txBody>
          <a:bodyPr rtlCol="0" anchor="ctr"/>
          <a:lstStyle/>
          <a:p>
            <a:pPr algn="ctr"/>
          </a:p>
        </p:txBody>
      </p:sp>
      <p:sp>
        <p:nvSpPr>
          <p:cNvPr id="2" name="Title 1"/>
          <p:cNvSpPr>
            <a:spLocks noGrp="1"/>
          </p:cNvSpPr>
          <p:nvPr>
            <p:ph type="title"/>
          </p:nvPr>
        </p:nvSpPr>
        <p:spPr>
          <a:xfrm>
            <a:off x="548640" y="566928"/>
            <a:ext cx="11094415" cy="658368"/>
          </a:xfrm>
        </p:spPr>
        <p:txBody>
          <a:bodyPr wrap="square" lIns="0" tIns="27432" rIns="0" bIns="27432" anchor="ctr">
            <a:noAutofit/>
          </a:bodyPr>
          <a:lstStyle/>
          <a:p>
            <a:pPr algn="l">
              <a:lnSpc>
                <a:spcPct val="100000"/>
              </a:lnSpc>
              <a:spcBef>
                <a:spcPts val="0"/>
              </a:spcBef>
              <a:spcAft>
                <a:spcPts val="0"/>
              </a:spcAft>
            </a:pPr>
            <a:r>
              <a:rPr sz="3000" b="1" i="0">
                <a:solidFill>
                  <a:srgbClr val="22304A"/>
                </a:solidFill>
                <a:latin typeface="Georgia"/>
              </a:rPr>
              <a:t>Why the world still sorts this way</a:t>
            </a:r>
          </a:p>
        </p:txBody>
      </p:sp>
      <p:sp>
        <p:nvSpPr>
          <p:cNvPr id="4" name="Rectangle 3"/>
          <p:cNvSpPr/>
          <p:nvPr/>
        </p:nvSpPr>
        <p:spPr>
          <a:xfrm>
            <a:off x="548640" y="310896"/>
            <a:ext cx="8229600" cy="246888"/>
          </a:xfrm>
          <a:prstGeom prst="rect">
            <a:avLst/>
          </a:prstGeom>
          <a:noFill/>
          <a:ln>
            <a:noFill/>
          </a:ln>
        </p:spPr>
        <p:txBody>
          <a:bodyPr rtlCol="0" anchor="ctr" wrap="none" lIns="0" tIns="0" rIns="0" bIns="0">
            <a:noAutofit/>
          </a:bodyPr>
          <a:lstStyle/>
          <a:p>
            <a:pPr algn="l">
              <a:lnSpc>
                <a:spcPct val="100000"/>
              </a:lnSpc>
              <a:spcBef>
                <a:spcPts val="0"/>
              </a:spcBef>
              <a:spcAft>
                <a:spcPts val="0"/>
              </a:spcAft>
            </a:pPr>
            <a:r>
              <a:rPr sz="1100" b="1" i="0" spc="150">
                <a:solidFill>
                  <a:srgbClr val="4F8FCB"/>
                </a:solidFill>
                <a:latin typeface="Segoe UI"/>
              </a:rPr>
              <a:t>CHAPTER 6 · TODAY</a:t>
            </a:r>
          </a:p>
        </p:txBody>
      </p:sp>
      <p:sp>
        <p:nvSpPr>
          <p:cNvPr id="5" name="Rectangle 4"/>
          <p:cNvSpPr/>
          <p:nvPr/>
        </p:nvSpPr>
        <p:spPr>
          <a:xfrm>
            <a:off x="548640" y="1280160"/>
            <a:ext cx="1097280" cy="54864"/>
          </a:xfrm>
          <a:prstGeom prst="rect">
            <a:avLst/>
          </a:prstGeom>
          <a:solidFill>
            <a:srgbClr val="F3A08A"/>
          </a:solidFill>
          <a:ln>
            <a:noFill/>
          </a:ln>
        </p:spPr>
        <p:txBody>
          <a:bodyPr rtlCol="0" anchor="ctr"/>
          <a:lstStyle/>
          <a:p>
            <a:pPr algn="ctr"/>
          </a:p>
        </p:txBody>
      </p:sp>
      <p:cxnSp>
        <p:nvCxnSpPr>
          <p:cNvPr id="6" name="Connector 5"/>
          <p:cNvCxnSpPr/>
          <p:nvPr/>
        </p:nvCxnSpPr>
        <p:spPr>
          <a:xfrm>
            <a:off x="548640" y="6309360"/>
            <a:ext cx="11094415" cy="0"/>
          </a:xfrm>
          <a:prstGeom prst="line">
            <a:avLst/>
          </a:prstGeom>
          <a:ln w="9525">
            <a:solidFill>
              <a:srgbClr val="BCD8F1"/>
            </a:solidFill>
          </a:ln>
        </p:spPr>
      </p:cxnSp>
      <p:sp>
        <p:nvSpPr>
          <p:cNvPr id="7" name="Rectangle 6"/>
          <p:cNvSpPr/>
          <p:nvPr/>
        </p:nvSpPr>
        <p:spPr>
          <a:xfrm>
            <a:off x="548640" y="6364224"/>
            <a:ext cx="5486400" cy="246888"/>
          </a:xfrm>
          <a:prstGeom prst="rect">
            <a:avLst/>
          </a:prstGeom>
          <a:noFill/>
          <a:ln>
            <a:noFill/>
          </a:ln>
        </p:spPr>
        <p:txBody>
          <a:bodyPr rtlCol="0" anchor="ctr" wrap="none" lIns="0" tIns="0" rIns="0" bIns="0">
            <a:noAutofit/>
          </a:bodyPr>
          <a:lstStyle/>
          <a:p>
            <a:pPr algn="l">
              <a:lnSpc>
                <a:spcPct val="100000"/>
              </a:lnSpc>
              <a:spcBef>
                <a:spcPts val="0"/>
              </a:spcBef>
              <a:spcAft>
                <a:spcPts val="0"/>
              </a:spcAft>
            </a:pPr>
            <a:r>
              <a:rPr sz="1100" b="0" i="0">
                <a:solidFill>
                  <a:srgbClr val="66758C"/>
                </a:solidFill>
                <a:latin typeface="Segoe UI"/>
              </a:rPr>
              <a:t>Quick Sort  ·  DAA Unit 2</a:t>
            </a:r>
          </a:p>
        </p:txBody>
      </p:sp>
      <p:sp>
        <p:nvSpPr>
          <p:cNvPr id="8" name="Rectangle 7"/>
          <p:cNvSpPr/>
          <p:nvPr/>
        </p:nvSpPr>
        <p:spPr>
          <a:xfrm>
            <a:off x="10271455" y="6364224"/>
            <a:ext cx="1371600" cy="246888"/>
          </a:xfrm>
          <a:prstGeom prst="rect">
            <a:avLst/>
          </a:prstGeom>
          <a:noFill/>
          <a:ln>
            <a:noFill/>
          </a:ln>
        </p:spPr>
        <p:txBody>
          <a:bodyPr rtlCol="0" anchor="ctr" wrap="none" lIns="0" tIns="0" rIns="0" bIns="0">
            <a:noAutofit/>
          </a:bodyPr>
          <a:lstStyle/>
          <a:p>
            <a:pPr algn="r">
              <a:lnSpc>
                <a:spcPct val="100000"/>
              </a:lnSpc>
              <a:spcBef>
                <a:spcPts val="0"/>
              </a:spcBef>
              <a:spcAft>
                <a:spcPts val="0"/>
              </a:spcAft>
            </a:pPr>
            <a:r>
              <a:rPr sz="1100" b="0" i="0">
                <a:solidFill>
                  <a:srgbClr val="66758C"/>
                </a:solidFill>
                <a:latin typeface="Segoe UI"/>
              </a:rPr>
              <a:t>7</a:t>
            </a:r>
          </a:p>
        </p:txBody>
      </p:sp>
      <p:sp>
        <p:nvSpPr>
          <p:cNvPr id="9" name="Rounded Rectangle 8"/>
          <p:cNvSpPr/>
          <p:nvPr/>
        </p:nvSpPr>
        <p:spPr>
          <a:xfrm>
            <a:off x="548640" y="1645920"/>
            <a:ext cx="3545738" cy="1691640"/>
          </a:xfrm>
          <a:prstGeom prst="roundRect">
            <a:avLst>
              <a:gd name="adj" fmla="val 8108"/>
            </a:avLst>
          </a:prstGeom>
          <a:solidFill>
            <a:srgbClr val="E8F2FB"/>
          </a:solidFill>
          <a:ln>
            <a:noFill/>
          </a:ln>
        </p:spPr>
        <p:txBody>
          <a:bodyPr rtlCol="0" anchor="ctr"/>
          <a:lstStyle/>
          <a:p>
            <a:pPr algn="ctr"/>
          </a:p>
        </p:txBody>
      </p:sp>
      <p:sp>
        <p:nvSpPr>
          <p:cNvPr id="10" name="Rectangle 9"/>
          <p:cNvSpPr/>
          <p:nvPr/>
        </p:nvSpPr>
        <p:spPr>
          <a:xfrm>
            <a:off x="777240" y="1783080"/>
            <a:ext cx="457200" cy="54864"/>
          </a:xfrm>
          <a:prstGeom prst="rect">
            <a:avLst/>
          </a:prstGeom>
          <a:solidFill>
            <a:srgbClr val="F3A08A"/>
          </a:solidFill>
          <a:ln>
            <a:noFill/>
          </a:ln>
        </p:spPr>
        <p:txBody>
          <a:bodyPr rtlCol="0" anchor="ctr"/>
          <a:lstStyle/>
          <a:p>
            <a:pPr algn="ctr"/>
          </a:p>
        </p:txBody>
      </p:sp>
      <p:sp>
        <p:nvSpPr>
          <p:cNvPr id="11" name="Rectangle 10"/>
          <p:cNvSpPr/>
          <p:nvPr/>
        </p:nvSpPr>
        <p:spPr>
          <a:xfrm>
            <a:off x="731520" y="1847088"/>
            <a:ext cx="3179978" cy="411480"/>
          </a:xfrm>
          <a:prstGeom prst="rect">
            <a:avLst/>
          </a:prstGeom>
          <a:noFill/>
          <a:ln>
            <a:noFill/>
          </a:ln>
        </p:spPr>
        <p:txBody>
          <a:bodyPr rtlCol="0" anchor="ctr" wrap="square" lIns="45720" tIns="0" rIns="45720" bIns="0">
            <a:noAutofit/>
          </a:bodyPr>
          <a:lstStyle/>
          <a:p>
            <a:pPr algn="l">
              <a:lnSpc>
                <a:spcPct val="100000"/>
              </a:lnSpc>
              <a:spcBef>
                <a:spcPts val="0"/>
              </a:spcBef>
              <a:spcAft>
                <a:spcPts val="0"/>
              </a:spcAft>
            </a:pPr>
            <a:r>
              <a:rPr sz="2000" b="1" i="0">
                <a:solidFill>
                  <a:srgbClr val="22304A"/>
                </a:solidFill>
                <a:latin typeface="Georgia"/>
              </a:rPr>
              <a:t>Introsort</a:t>
            </a:r>
          </a:p>
        </p:txBody>
      </p:sp>
      <p:sp>
        <p:nvSpPr>
          <p:cNvPr id="12" name="Rectangle 11"/>
          <p:cNvSpPr/>
          <p:nvPr/>
        </p:nvSpPr>
        <p:spPr>
          <a:xfrm>
            <a:off x="731520" y="2258568"/>
            <a:ext cx="3179978" cy="274320"/>
          </a:xfrm>
          <a:prstGeom prst="rect">
            <a:avLst/>
          </a:prstGeom>
          <a:noFill/>
          <a:ln>
            <a:noFill/>
          </a:ln>
        </p:spPr>
        <p:txBody>
          <a:bodyPr rtlCol="0" anchor="ctr" wrap="square" lIns="45720" tIns="0" rIns="45720" bIns="0">
            <a:noAutofit/>
          </a:bodyPr>
          <a:lstStyle/>
          <a:p>
            <a:pPr algn="l">
              <a:lnSpc>
                <a:spcPct val="100000"/>
              </a:lnSpc>
              <a:spcBef>
                <a:spcPts val="0"/>
              </a:spcBef>
              <a:spcAft>
                <a:spcPts val="0"/>
              </a:spcAft>
            </a:pPr>
            <a:r>
              <a:rPr sz="1200" b="1" i="0">
                <a:solidFill>
                  <a:srgbClr val="4F8FCB"/>
                </a:solidFill>
                <a:latin typeface="Consolas"/>
              </a:rPr>
              <a:t>C++ std::sort</a:t>
            </a:r>
          </a:p>
        </p:txBody>
      </p:sp>
      <p:sp>
        <p:nvSpPr>
          <p:cNvPr id="13" name="Rectangle 12"/>
          <p:cNvSpPr/>
          <p:nvPr/>
        </p:nvSpPr>
        <p:spPr>
          <a:xfrm>
            <a:off x="731520" y="2578608"/>
            <a:ext cx="3179978" cy="731520"/>
          </a:xfrm>
          <a:prstGeom prst="rect">
            <a:avLst/>
          </a:prstGeom>
          <a:noFill/>
          <a:ln>
            <a:noFill/>
          </a:ln>
        </p:spPr>
        <p:txBody>
          <a:bodyPr rtlCol="0" anchor="t" wrap="square" lIns="45720" tIns="18288" rIns="45720" bIns="18288">
            <a:noAutofit/>
          </a:bodyPr>
          <a:lstStyle/>
          <a:p>
            <a:pPr algn="l">
              <a:lnSpc>
                <a:spcPct val="100000"/>
              </a:lnSpc>
              <a:spcBef>
                <a:spcPts val="0"/>
              </a:spcBef>
              <a:spcAft>
                <a:spcPts val="0"/>
              </a:spcAft>
            </a:pPr>
            <a:r>
              <a:rPr sz="1300" b="0" i="0">
                <a:solidFill>
                  <a:srgbClr val="22304A"/>
                </a:solidFill>
                <a:latin typeface="Segoe UI"/>
              </a:rPr>
              <a:t>Switches to heap sort if recursion gets too deep, and to insertion sort on tiny ranges.</a:t>
            </a:r>
          </a:p>
        </p:txBody>
      </p:sp>
      <p:sp>
        <p:nvSpPr>
          <p:cNvPr id="14" name="Rounded Rectangle 13"/>
          <p:cNvSpPr/>
          <p:nvPr/>
        </p:nvSpPr>
        <p:spPr>
          <a:xfrm>
            <a:off x="4322978" y="1645920"/>
            <a:ext cx="3545738" cy="1691640"/>
          </a:xfrm>
          <a:prstGeom prst="roundRect">
            <a:avLst>
              <a:gd name="adj" fmla="val 8108"/>
            </a:avLst>
          </a:prstGeom>
          <a:solidFill>
            <a:srgbClr val="E8F2FB"/>
          </a:solidFill>
          <a:ln>
            <a:noFill/>
          </a:ln>
        </p:spPr>
        <p:txBody>
          <a:bodyPr rtlCol="0" anchor="ctr"/>
          <a:lstStyle/>
          <a:p>
            <a:pPr algn="ctr"/>
          </a:p>
        </p:txBody>
      </p:sp>
      <p:sp>
        <p:nvSpPr>
          <p:cNvPr id="15" name="Rectangle 14"/>
          <p:cNvSpPr/>
          <p:nvPr/>
        </p:nvSpPr>
        <p:spPr>
          <a:xfrm>
            <a:off x="4551578" y="1783080"/>
            <a:ext cx="457200" cy="54864"/>
          </a:xfrm>
          <a:prstGeom prst="rect">
            <a:avLst/>
          </a:prstGeom>
          <a:solidFill>
            <a:srgbClr val="F3A08A"/>
          </a:solidFill>
          <a:ln>
            <a:noFill/>
          </a:ln>
        </p:spPr>
        <p:txBody>
          <a:bodyPr rtlCol="0" anchor="ctr"/>
          <a:lstStyle/>
          <a:p>
            <a:pPr algn="ctr"/>
          </a:p>
        </p:txBody>
      </p:sp>
      <p:sp>
        <p:nvSpPr>
          <p:cNvPr id="16" name="Rectangle 15"/>
          <p:cNvSpPr/>
          <p:nvPr/>
        </p:nvSpPr>
        <p:spPr>
          <a:xfrm>
            <a:off x="4505858" y="1847088"/>
            <a:ext cx="3179978" cy="411480"/>
          </a:xfrm>
          <a:prstGeom prst="rect">
            <a:avLst/>
          </a:prstGeom>
          <a:noFill/>
          <a:ln>
            <a:noFill/>
          </a:ln>
        </p:spPr>
        <p:txBody>
          <a:bodyPr rtlCol="0" anchor="ctr" wrap="square" lIns="45720" tIns="0" rIns="45720" bIns="0">
            <a:noAutofit/>
          </a:bodyPr>
          <a:lstStyle/>
          <a:p>
            <a:pPr algn="l">
              <a:lnSpc>
                <a:spcPct val="100000"/>
              </a:lnSpc>
              <a:spcBef>
                <a:spcPts val="0"/>
              </a:spcBef>
              <a:spcAft>
                <a:spcPts val="0"/>
              </a:spcAft>
            </a:pPr>
            <a:r>
              <a:rPr sz="2000" b="1" i="0">
                <a:solidFill>
                  <a:srgbClr val="22304A"/>
                </a:solidFill>
                <a:latin typeface="Georgia"/>
              </a:rPr>
              <a:t>pdqsort</a:t>
            </a:r>
          </a:p>
        </p:txBody>
      </p:sp>
      <p:sp>
        <p:nvSpPr>
          <p:cNvPr id="17" name="Rectangle 16"/>
          <p:cNvSpPr/>
          <p:nvPr/>
        </p:nvSpPr>
        <p:spPr>
          <a:xfrm>
            <a:off x="4505858" y="2258568"/>
            <a:ext cx="3179978" cy="274320"/>
          </a:xfrm>
          <a:prstGeom prst="rect">
            <a:avLst/>
          </a:prstGeom>
          <a:noFill/>
          <a:ln>
            <a:noFill/>
          </a:ln>
        </p:spPr>
        <p:txBody>
          <a:bodyPr rtlCol="0" anchor="ctr" wrap="square" lIns="45720" tIns="0" rIns="45720" bIns="0">
            <a:noAutofit/>
          </a:bodyPr>
          <a:lstStyle/>
          <a:p>
            <a:pPr algn="l">
              <a:lnSpc>
                <a:spcPct val="100000"/>
              </a:lnSpc>
              <a:spcBef>
                <a:spcPts val="0"/>
              </a:spcBef>
              <a:spcAft>
                <a:spcPts val="0"/>
              </a:spcAft>
            </a:pPr>
            <a:r>
              <a:rPr sz="1200" b="1" i="0">
                <a:solidFill>
                  <a:srgbClr val="4F8FCB"/>
                </a:solidFill>
                <a:latin typeface="Consolas"/>
              </a:rPr>
              <a:t>Go sort, Rust sort_unstable</a:t>
            </a:r>
          </a:p>
        </p:txBody>
      </p:sp>
      <p:sp>
        <p:nvSpPr>
          <p:cNvPr id="18" name="Rectangle 17"/>
          <p:cNvSpPr/>
          <p:nvPr/>
        </p:nvSpPr>
        <p:spPr>
          <a:xfrm>
            <a:off x="4505858" y="2578608"/>
            <a:ext cx="3179978" cy="731520"/>
          </a:xfrm>
          <a:prstGeom prst="rect">
            <a:avLst/>
          </a:prstGeom>
          <a:noFill/>
          <a:ln>
            <a:noFill/>
          </a:ln>
        </p:spPr>
        <p:txBody>
          <a:bodyPr rtlCol="0" anchor="t" wrap="square" lIns="45720" tIns="18288" rIns="45720" bIns="18288">
            <a:noAutofit/>
          </a:bodyPr>
          <a:lstStyle/>
          <a:p>
            <a:pPr algn="l">
              <a:lnSpc>
                <a:spcPct val="100000"/>
              </a:lnSpc>
              <a:spcBef>
                <a:spcPts val="0"/>
              </a:spcBef>
              <a:spcAft>
                <a:spcPts val="0"/>
              </a:spcAft>
            </a:pPr>
            <a:r>
              <a:rPr sz="1300" b="0" i="0">
                <a:solidFill>
                  <a:srgbClr val="22304A"/>
                </a:solidFill>
                <a:latin typeface="Segoe UI"/>
              </a:rPr>
              <a:t>Spots bad pivots and ordered patterns, then changes strategy, so the worst case is rare.</a:t>
            </a:r>
          </a:p>
        </p:txBody>
      </p:sp>
      <p:sp>
        <p:nvSpPr>
          <p:cNvPr id="19" name="Rounded Rectangle 18"/>
          <p:cNvSpPr/>
          <p:nvPr/>
        </p:nvSpPr>
        <p:spPr>
          <a:xfrm>
            <a:off x="8097316" y="1645920"/>
            <a:ext cx="3545738" cy="1691640"/>
          </a:xfrm>
          <a:prstGeom prst="roundRect">
            <a:avLst>
              <a:gd name="adj" fmla="val 8108"/>
            </a:avLst>
          </a:prstGeom>
          <a:solidFill>
            <a:srgbClr val="E8F2FB"/>
          </a:solidFill>
          <a:ln>
            <a:noFill/>
          </a:ln>
        </p:spPr>
        <p:txBody>
          <a:bodyPr rtlCol="0" anchor="ctr"/>
          <a:lstStyle/>
          <a:p>
            <a:pPr algn="ctr"/>
          </a:p>
        </p:txBody>
      </p:sp>
      <p:sp>
        <p:nvSpPr>
          <p:cNvPr id="20" name="Rectangle 19"/>
          <p:cNvSpPr/>
          <p:nvPr/>
        </p:nvSpPr>
        <p:spPr>
          <a:xfrm>
            <a:off x="8325916" y="1783080"/>
            <a:ext cx="457200" cy="54864"/>
          </a:xfrm>
          <a:prstGeom prst="rect">
            <a:avLst/>
          </a:prstGeom>
          <a:solidFill>
            <a:srgbClr val="F3A08A"/>
          </a:solidFill>
          <a:ln>
            <a:noFill/>
          </a:ln>
        </p:spPr>
        <p:txBody>
          <a:bodyPr rtlCol="0" anchor="ctr"/>
          <a:lstStyle/>
          <a:p>
            <a:pPr algn="ctr"/>
          </a:p>
        </p:txBody>
      </p:sp>
      <p:sp>
        <p:nvSpPr>
          <p:cNvPr id="21" name="Rectangle 20"/>
          <p:cNvSpPr/>
          <p:nvPr/>
        </p:nvSpPr>
        <p:spPr>
          <a:xfrm>
            <a:off x="8280196" y="1847088"/>
            <a:ext cx="3179978" cy="411480"/>
          </a:xfrm>
          <a:prstGeom prst="rect">
            <a:avLst/>
          </a:prstGeom>
          <a:noFill/>
          <a:ln>
            <a:noFill/>
          </a:ln>
        </p:spPr>
        <p:txBody>
          <a:bodyPr rtlCol="0" anchor="ctr" wrap="square" lIns="45720" tIns="0" rIns="45720" bIns="0">
            <a:noAutofit/>
          </a:bodyPr>
          <a:lstStyle/>
          <a:p>
            <a:pPr algn="l">
              <a:lnSpc>
                <a:spcPct val="100000"/>
              </a:lnSpc>
              <a:spcBef>
                <a:spcPts val="0"/>
              </a:spcBef>
              <a:spcAft>
                <a:spcPts val="0"/>
              </a:spcAft>
            </a:pPr>
            <a:r>
              <a:rPr sz="2000" b="1" i="0">
                <a:solidFill>
                  <a:srgbClr val="22304A"/>
                </a:solidFill>
                <a:latin typeface="Georgia"/>
              </a:rPr>
              <a:t>Dual-pivot</a:t>
            </a:r>
          </a:p>
        </p:txBody>
      </p:sp>
      <p:sp>
        <p:nvSpPr>
          <p:cNvPr id="22" name="Rectangle 21"/>
          <p:cNvSpPr/>
          <p:nvPr/>
        </p:nvSpPr>
        <p:spPr>
          <a:xfrm>
            <a:off x="8280196" y="2258568"/>
            <a:ext cx="3179978" cy="274320"/>
          </a:xfrm>
          <a:prstGeom prst="rect">
            <a:avLst/>
          </a:prstGeom>
          <a:noFill/>
          <a:ln>
            <a:noFill/>
          </a:ln>
        </p:spPr>
        <p:txBody>
          <a:bodyPr rtlCol="0" anchor="ctr" wrap="square" lIns="45720" tIns="0" rIns="45720" bIns="0">
            <a:noAutofit/>
          </a:bodyPr>
          <a:lstStyle/>
          <a:p>
            <a:pPr algn="l">
              <a:lnSpc>
                <a:spcPct val="100000"/>
              </a:lnSpc>
              <a:spcBef>
                <a:spcPts val="0"/>
              </a:spcBef>
              <a:spcAft>
                <a:spcPts val="0"/>
              </a:spcAft>
            </a:pPr>
            <a:r>
              <a:rPr sz="1200" b="1" i="0">
                <a:solidFill>
                  <a:srgbClr val="4F8FCB"/>
                </a:solidFill>
                <a:latin typeface="Consolas"/>
              </a:rPr>
              <a:t>Java Arrays.sort</a:t>
            </a:r>
          </a:p>
        </p:txBody>
      </p:sp>
      <p:sp>
        <p:nvSpPr>
          <p:cNvPr id="23" name="Rectangle 22"/>
          <p:cNvSpPr/>
          <p:nvPr/>
        </p:nvSpPr>
        <p:spPr>
          <a:xfrm>
            <a:off x="8280196" y="2578608"/>
            <a:ext cx="3179978" cy="731520"/>
          </a:xfrm>
          <a:prstGeom prst="rect">
            <a:avLst/>
          </a:prstGeom>
          <a:noFill/>
          <a:ln>
            <a:noFill/>
          </a:ln>
        </p:spPr>
        <p:txBody>
          <a:bodyPr rtlCol="0" anchor="t" wrap="square" lIns="45720" tIns="18288" rIns="45720" bIns="18288">
            <a:noAutofit/>
          </a:bodyPr>
          <a:lstStyle/>
          <a:p>
            <a:pPr algn="l">
              <a:lnSpc>
                <a:spcPct val="100000"/>
              </a:lnSpc>
              <a:spcBef>
                <a:spcPts val="0"/>
              </a:spcBef>
              <a:spcAft>
                <a:spcPts val="0"/>
              </a:spcAft>
            </a:pPr>
            <a:r>
              <a:rPr sz="1300" b="0" i="0">
                <a:solidFill>
                  <a:srgbClr val="22304A"/>
                </a:solidFill>
                <a:latin typeface="Segoe UI"/>
              </a:rPr>
              <a:t>Two pivots give three parts. Used for primitive arrays since Java 7.</a:t>
            </a:r>
          </a:p>
        </p:txBody>
      </p:sp>
      <p:graphicFrame>
        <p:nvGraphicFramePr>
          <p:cNvPr id="24" name="Table 23"/>
          <p:cNvGraphicFramePr>
            <a:graphicFrameLocks noGrp="1"/>
          </p:cNvGraphicFramePr>
          <p:nvPr/>
        </p:nvGraphicFramePr>
        <p:xfrm>
          <a:off x="548640" y="3456432"/>
          <a:ext cx="11094415" cy="1783080"/>
        </p:xfrm>
        <a:graphic>
          <a:graphicData uri="http://schemas.openxmlformats.org/drawingml/2006/table">
            <a:tbl>
              <a:tblPr>
                <a:tableStyleId>{2D5ABB26-0587-4C30-8999-92F81FD0307C}</a:tableStyleId>
              </a:tblPr>
              <a:tblGrid>
                <a:gridCol w="2011680"/>
                <a:gridCol w="1417320"/>
                <a:gridCol w="1508760"/>
                <a:gridCol w="1417320"/>
                <a:gridCol w="1737360"/>
                <a:gridCol w="1508760"/>
                <a:gridCol w="1493215"/>
              </a:tblGrid>
              <a:tr h="411480">
                <a:tc>
                  <a:txBody>
                    <a:bodyPr wrap="square"/>
                    <a:lstStyle/>
                    <a:p>
                      <a:pPr algn="l">
                        <a:lnSpc>
                          <a:spcPct val="100000"/>
                        </a:lnSpc>
                      </a:pPr>
                      <a:r>
                        <a:rPr sz="1300" b="1">
                          <a:solidFill>
                            <a:srgbClr val="22304A"/>
                          </a:solidFill>
                          <a:latin typeface="Segoe UI"/>
                        </a:rPr>
                        <a:t>Algorithm</a:t>
                      </a:r>
                    </a:p>
                  </a:txBody>
                  <a:tcPr marL="128016" marT="45720" marR="128016" marB="45720" anchor="ctr">
                    <a:lnL w="0">
                      <a:noFill/>
                    </a:lnL>
                    <a:lnR w="0">
                      <a:noFill/>
                    </a:lnR>
                    <a:lnT w="0">
                      <a:noFill/>
                    </a:lnT>
                    <a:lnB w="9525" cap="flat" cmpd="sng">
                      <a:solidFill>
                        <a:srgbClr val="BCD8F1"/>
                      </a:solidFill>
                      <a:prstDash val="solid"/>
                    </a:lnB>
                    <a:solidFill>
                      <a:srgbClr val="BCD8F1"/>
                    </a:solidFill>
                  </a:tcPr>
                </a:tc>
                <a:tc>
                  <a:txBody>
                    <a:bodyPr wrap="square"/>
                    <a:lstStyle/>
                    <a:p>
                      <a:pPr algn="ctr">
                        <a:lnSpc>
                          <a:spcPct val="100000"/>
                        </a:lnSpc>
                      </a:pPr>
                      <a:r>
                        <a:rPr sz="1300" b="1">
                          <a:solidFill>
                            <a:srgbClr val="22304A"/>
                          </a:solidFill>
                          <a:latin typeface="Segoe UI"/>
                        </a:rPr>
                        <a:t>Best</a:t>
                      </a:r>
                    </a:p>
                  </a:txBody>
                  <a:tcPr marL="128016" marT="45720" marR="128016" marB="45720" anchor="ctr">
                    <a:lnL w="0">
                      <a:noFill/>
                    </a:lnL>
                    <a:lnR w="0">
                      <a:noFill/>
                    </a:lnR>
                    <a:lnT w="0">
                      <a:noFill/>
                    </a:lnT>
                    <a:lnB w="9525" cap="flat" cmpd="sng">
                      <a:solidFill>
                        <a:srgbClr val="BCD8F1"/>
                      </a:solidFill>
                      <a:prstDash val="solid"/>
                    </a:lnB>
                    <a:solidFill>
                      <a:srgbClr val="BCD8F1"/>
                    </a:solidFill>
                  </a:tcPr>
                </a:tc>
                <a:tc>
                  <a:txBody>
                    <a:bodyPr wrap="square"/>
                    <a:lstStyle/>
                    <a:p>
                      <a:pPr algn="ctr">
                        <a:lnSpc>
                          <a:spcPct val="100000"/>
                        </a:lnSpc>
                      </a:pPr>
                      <a:r>
                        <a:rPr sz="1300" b="1">
                          <a:solidFill>
                            <a:srgbClr val="22304A"/>
                          </a:solidFill>
                          <a:latin typeface="Segoe UI"/>
                        </a:rPr>
                        <a:t>Average</a:t>
                      </a:r>
                    </a:p>
                  </a:txBody>
                  <a:tcPr marL="128016" marT="45720" marR="128016" marB="45720" anchor="ctr">
                    <a:lnL w="0">
                      <a:noFill/>
                    </a:lnL>
                    <a:lnR w="0">
                      <a:noFill/>
                    </a:lnR>
                    <a:lnT w="0">
                      <a:noFill/>
                    </a:lnT>
                    <a:lnB w="9525" cap="flat" cmpd="sng">
                      <a:solidFill>
                        <a:srgbClr val="BCD8F1"/>
                      </a:solidFill>
                      <a:prstDash val="solid"/>
                    </a:lnB>
                    <a:solidFill>
                      <a:srgbClr val="BCD8F1"/>
                    </a:solidFill>
                  </a:tcPr>
                </a:tc>
                <a:tc>
                  <a:txBody>
                    <a:bodyPr wrap="square"/>
                    <a:lstStyle/>
                    <a:p>
                      <a:pPr algn="ctr">
                        <a:lnSpc>
                          <a:spcPct val="100000"/>
                        </a:lnSpc>
                      </a:pPr>
                      <a:r>
                        <a:rPr sz="1300" b="1">
                          <a:solidFill>
                            <a:srgbClr val="22304A"/>
                          </a:solidFill>
                          <a:latin typeface="Segoe UI"/>
                        </a:rPr>
                        <a:t>Worst</a:t>
                      </a:r>
                    </a:p>
                  </a:txBody>
                  <a:tcPr marL="128016" marT="45720" marR="128016" marB="45720" anchor="ctr">
                    <a:lnL w="0">
                      <a:noFill/>
                    </a:lnL>
                    <a:lnR w="0">
                      <a:noFill/>
                    </a:lnR>
                    <a:lnT w="0">
                      <a:noFill/>
                    </a:lnT>
                    <a:lnB w="9525" cap="flat" cmpd="sng">
                      <a:solidFill>
                        <a:srgbClr val="BCD8F1"/>
                      </a:solidFill>
                      <a:prstDash val="solid"/>
                    </a:lnB>
                    <a:solidFill>
                      <a:srgbClr val="BCD8F1"/>
                    </a:solidFill>
                  </a:tcPr>
                </a:tc>
                <a:tc>
                  <a:txBody>
                    <a:bodyPr wrap="square"/>
                    <a:lstStyle/>
                    <a:p>
                      <a:pPr algn="ctr">
                        <a:lnSpc>
                          <a:spcPct val="100000"/>
                        </a:lnSpc>
                      </a:pPr>
                      <a:r>
                        <a:rPr sz="1300" b="1">
                          <a:solidFill>
                            <a:srgbClr val="22304A"/>
                          </a:solidFill>
                          <a:latin typeface="Segoe UI"/>
                        </a:rPr>
                        <a:t>Extra space</a:t>
                      </a:r>
                    </a:p>
                  </a:txBody>
                  <a:tcPr marL="128016" marT="45720" marR="128016" marB="45720" anchor="ctr">
                    <a:lnL w="0">
                      <a:noFill/>
                    </a:lnL>
                    <a:lnR w="0">
                      <a:noFill/>
                    </a:lnR>
                    <a:lnT w="0">
                      <a:noFill/>
                    </a:lnT>
                    <a:lnB w="9525" cap="flat" cmpd="sng">
                      <a:solidFill>
                        <a:srgbClr val="BCD8F1"/>
                      </a:solidFill>
                      <a:prstDash val="solid"/>
                    </a:lnB>
                    <a:solidFill>
                      <a:srgbClr val="BCD8F1"/>
                    </a:solidFill>
                  </a:tcPr>
                </a:tc>
                <a:tc>
                  <a:txBody>
                    <a:bodyPr wrap="square"/>
                    <a:lstStyle/>
                    <a:p>
                      <a:pPr algn="ctr">
                        <a:lnSpc>
                          <a:spcPct val="100000"/>
                        </a:lnSpc>
                      </a:pPr>
                      <a:r>
                        <a:rPr sz="1300" b="1">
                          <a:solidFill>
                            <a:srgbClr val="22304A"/>
                          </a:solidFill>
                          <a:latin typeface="Segoe UI"/>
                        </a:rPr>
                        <a:t>Stable</a:t>
                      </a:r>
                    </a:p>
                  </a:txBody>
                  <a:tcPr marL="128016" marT="45720" marR="128016" marB="45720" anchor="ctr">
                    <a:lnL w="0">
                      <a:noFill/>
                    </a:lnL>
                    <a:lnR w="0">
                      <a:noFill/>
                    </a:lnR>
                    <a:lnT w="0">
                      <a:noFill/>
                    </a:lnT>
                    <a:lnB w="9525" cap="flat" cmpd="sng">
                      <a:solidFill>
                        <a:srgbClr val="BCD8F1"/>
                      </a:solidFill>
                      <a:prstDash val="solid"/>
                    </a:lnB>
                    <a:solidFill>
                      <a:srgbClr val="BCD8F1"/>
                    </a:solidFill>
                  </a:tcPr>
                </a:tc>
                <a:tc>
                  <a:txBody>
                    <a:bodyPr wrap="square"/>
                    <a:lstStyle/>
                    <a:p>
                      <a:pPr algn="ctr">
                        <a:lnSpc>
                          <a:spcPct val="100000"/>
                        </a:lnSpc>
                      </a:pPr>
                      <a:r>
                        <a:rPr sz="1300" b="1">
                          <a:solidFill>
                            <a:srgbClr val="22304A"/>
                          </a:solidFill>
                          <a:latin typeface="Segoe UI"/>
                        </a:rPr>
                        <a:t>In place</a:t>
                      </a:r>
                    </a:p>
                  </a:txBody>
                  <a:tcPr marL="128016" marT="45720" marR="128016" marB="45720" anchor="ctr">
                    <a:lnL w="0">
                      <a:noFill/>
                    </a:lnL>
                    <a:lnR w="0">
                      <a:noFill/>
                    </a:lnR>
                    <a:lnT w="0">
                      <a:noFill/>
                    </a:lnT>
                    <a:lnB w="9525" cap="flat" cmpd="sng">
                      <a:solidFill>
                        <a:srgbClr val="BCD8F1"/>
                      </a:solidFill>
                      <a:prstDash val="solid"/>
                    </a:lnB>
                    <a:solidFill>
                      <a:srgbClr val="BCD8F1"/>
                    </a:solidFill>
                  </a:tcPr>
                </a:tc>
              </a:tr>
              <a:tr h="457200">
                <a:tc>
                  <a:txBody>
                    <a:bodyPr wrap="square"/>
                    <a:lstStyle/>
                    <a:p>
                      <a:pPr algn="l">
                        <a:lnSpc>
                          <a:spcPct val="100000"/>
                        </a:lnSpc>
                      </a:pPr>
                      <a:r>
                        <a:rPr sz="1500" b="1">
                          <a:solidFill>
                            <a:srgbClr val="22304A"/>
                          </a:solidFill>
                          <a:latin typeface="Segoe UI"/>
                        </a:rPr>
                        <a:t>Quick sort</a:t>
                      </a:r>
                    </a:p>
                  </a:txBody>
                  <a:tcPr marL="128016" marT="45720" marR="128016" marB="45720" anchor="ctr">
                    <a:lnL w="0">
                      <a:noFill/>
                    </a:lnL>
                    <a:lnR w="0">
                      <a:noFill/>
                    </a:lnR>
                    <a:lnT w="0">
                      <a:noFill/>
                    </a:lnT>
                    <a:lnB w="9525" cap="flat" cmpd="sng">
                      <a:solidFill>
                        <a:srgbClr val="BCD8F1"/>
                      </a:solidFill>
                      <a:prstDash val="solid"/>
                    </a:lnB>
                    <a:solidFill>
                      <a:srgbClr val="FFFFFF"/>
                    </a:solidFill>
                  </a:tcPr>
                </a:tc>
                <a:tc>
                  <a:txBody>
                    <a:bodyPr wrap="square"/>
                    <a:lstStyle/>
                    <a:p>
                      <a:pPr algn="ctr">
                        <a:lnSpc>
                          <a:spcPct val="100000"/>
                        </a:lnSpc>
                      </a:pPr>
                      <a:r>
                        <a:rPr sz="1500" b="0">
                          <a:solidFill>
                            <a:srgbClr val="22304A"/>
                          </a:solidFill>
                          <a:latin typeface="Segoe UI"/>
                        </a:rPr>
                        <a:t>n log n</a:t>
                      </a:r>
                    </a:p>
                  </a:txBody>
                  <a:tcPr marL="128016" marT="45720" marR="128016" marB="45720" anchor="ctr">
                    <a:lnL w="0">
                      <a:noFill/>
                    </a:lnL>
                    <a:lnR w="0">
                      <a:noFill/>
                    </a:lnR>
                    <a:lnT w="0">
                      <a:noFill/>
                    </a:lnT>
                    <a:lnB w="9525" cap="flat" cmpd="sng">
                      <a:solidFill>
                        <a:srgbClr val="BCD8F1"/>
                      </a:solidFill>
                      <a:prstDash val="solid"/>
                    </a:lnB>
                    <a:solidFill>
                      <a:srgbClr val="FFFFFF"/>
                    </a:solidFill>
                  </a:tcPr>
                </a:tc>
                <a:tc>
                  <a:txBody>
                    <a:bodyPr wrap="square"/>
                    <a:lstStyle/>
                    <a:p>
                      <a:pPr algn="ctr">
                        <a:lnSpc>
                          <a:spcPct val="100000"/>
                        </a:lnSpc>
                      </a:pPr>
                      <a:r>
                        <a:rPr sz="1500" b="0">
                          <a:solidFill>
                            <a:srgbClr val="22304A"/>
                          </a:solidFill>
                          <a:latin typeface="Segoe UI"/>
                        </a:rPr>
                        <a:t>n log n</a:t>
                      </a:r>
                    </a:p>
                  </a:txBody>
                  <a:tcPr marL="128016" marT="45720" marR="128016" marB="45720" anchor="ctr">
                    <a:lnL w="0">
                      <a:noFill/>
                    </a:lnL>
                    <a:lnR w="0">
                      <a:noFill/>
                    </a:lnR>
                    <a:lnT w="0">
                      <a:noFill/>
                    </a:lnT>
                    <a:lnB w="9525" cap="flat" cmpd="sng">
                      <a:solidFill>
                        <a:srgbClr val="BCD8F1"/>
                      </a:solidFill>
                      <a:prstDash val="solid"/>
                    </a:lnB>
                    <a:solidFill>
                      <a:srgbClr val="FFFFFF"/>
                    </a:solidFill>
                  </a:tcPr>
                </a:tc>
                <a:tc>
                  <a:txBody>
                    <a:bodyPr wrap="square"/>
                    <a:lstStyle/>
                    <a:p>
                      <a:pPr algn="ctr">
                        <a:lnSpc>
                          <a:spcPct val="100000"/>
                        </a:lnSpc>
                      </a:pPr>
                      <a:r>
                        <a:rPr sz="1500" b="1">
                          <a:solidFill>
                            <a:srgbClr val="22304A"/>
                          </a:solidFill>
                          <a:latin typeface="Segoe UI"/>
                        </a:rPr>
                        <a:t>n²</a:t>
                      </a:r>
                    </a:p>
                  </a:txBody>
                  <a:tcPr marL="128016" marT="45720" marR="128016" marB="45720" anchor="ctr">
                    <a:lnL w="57150" cap="flat" cmpd="sng">
                      <a:solidFill>
                        <a:srgbClr val="E07A5F"/>
                      </a:solidFill>
                      <a:prstDash val="solid"/>
                    </a:lnL>
                    <a:lnR w="0">
                      <a:noFill/>
                    </a:lnR>
                    <a:lnT w="0">
                      <a:noFill/>
                    </a:lnT>
                    <a:lnB w="9525" cap="flat" cmpd="sng">
                      <a:solidFill>
                        <a:srgbClr val="BCD8F1"/>
                      </a:solidFill>
                      <a:prstDash val="solid"/>
                    </a:lnB>
                    <a:solidFill>
                      <a:srgbClr val="FBE3DB"/>
                    </a:solidFill>
                  </a:tcPr>
                </a:tc>
                <a:tc>
                  <a:txBody>
                    <a:bodyPr wrap="square"/>
                    <a:lstStyle/>
                    <a:p>
                      <a:pPr algn="ctr">
                        <a:lnSpc>
                          <a:spcPct val="100000"/>
                        </a:lnSpc>
                      </a:pPr>
                      <a:r>
                        <a:rPr sz="1500" b="0">
                          <a:solidFill>
                            <a:srgbClr val="22304A"/>
                          </a:solidFill>
                          <a:latin typeface="Segoe UI"/>
                        </a:rPr>
                        <a:t>log n</a:t>
                      </a:r>
                    </a:p>
                  </a:txBody>
                  <a:tcPr marL="128016" marT="45720" marR="128016" marB="45720" anchor="ctr">
                    <a:lnL w="0">
                      <a:noFill/>
                    </a:lnL>
                    <a:lnR w="0">
                      <a:noFill/>
                    </a:lnR>
                    <a:lnT w="0">
                      <a:noFill/>
                    </a:lnT>
                    <a:lnB w="9525" cap="flat" cmpd="sng">
                      <a:solidFill>
                        <a:srgbClr val="BCD8F1"/>
                      </a:solidFill>
                      <a:prstDash val="solid"/>
                    </a:lnB>
                    <a:solidFill>
                      <a:srgbClr val="FFFFFF"/>
                    </a:solidFill>
                  </a:tcPr>
                </a:tc>
                <a:tc>
                  <a:txBody>
                    <a:bodyPr wrap="square"/>
                    <a:lstStyle/>
                    <a:p>
                      <a:pPr algn="ctr">
                        <a:lnSpc>
                          <a:spcPct val="100000"/>
                        </a:lnSpc>
                      </a:pPr>
                      <a:r>
                        <a:rPr sz="1500" b="1">
                          <a:solidFill>
                            <a:srgbClr val="22304A"/>
                          </a:solidFill>
                          <a:latin typeface="Segoe UI"/>
                        </a:rPr>
                        <a:t>No</a:t>
                      </a:r>
                    </a:p>
                  </a:txBody>
                  <a:tcPr marL="128016" marT="45720" marR="128016" marB="45720" anchor="ctr">
                    <a:lnL w="57150" cap="flat" cmpd="sng">
                      <a:solidFill>
                        <a:srgbClr val="E07A5F"/>
                      </a:solidFill>
                      <a:prstDash val="solid"/>
                    </a:lnL>
                    <a:lnR w="0">
                      <a:noFill/>
                    </a:lnR>
                    <a:lnT w="0">
                      <a:noFill/>
                    </a:lnT>
                    <a:lnB w="9525" cap="flat" cmpd="sng">
                      <a:solidFill>
                        <a:srgbClr val="BCD8F1"/>
                      </a:solidFill>
                      <a:prstDash val="solid"/>
                    </a:lnB>
                    <a:solidFill>
                      <a:srgbClr val="FBE3DB"/>
                    </a:solidFill>
                  </a:tcPr>
                </a:tc>
                <a:tc>
                  <a:txBody>
                    <a:bodyPr wrap="square"/>
                    <a:lstStyle/>
                    <a:p>
                      <a:pPr algn="ctr">
                        <a:lnSpc>
                          <a:spcPct val="100000"/>
                        </a:lnSpc>
                      </a:pPr>
                      <a:r>
                        <a:rPr sz="1500" b="0">
                          <a:solidFill>
                            <a:srgbClr val="22304A"/>
                          </a:solidFill>
                          <a:latin typeface="Segoe UI"/>
                        </a:rPr>
                        <a:t>Yes</a:t>
                      </a:r>
                    </a:p>
                  </a:txBody>
                  <a:tcPr marL="128016" marT="45720" marR="128016" marB="45720" anchor="ctr">
                    <a:lnL w="0">
                      <a:noFill/>
                    </a:lnL>
                    <a:lnR w="0">
                      <a:noFill/>
                    </a:lnR>
                    <a:lnT w="0">
                      <a:noFill/>
                    </a:lnT>
                    <a:lnB w="9525" cap="flat" cmpd="sng">
                      <a:solidFill>
                        <a:srgbClr val="BCD8F1"/>
                      </a:solidFill>
                      <a:prstDash val="solid"/>
                    </a:lnB>
                    <a:solidFill>
                      <a:srgbClr val="FFFFFF"/>
                    </a:solidFill>
                  </a:tcPr>
                </a:tc>
              </a:tr>
              <a:tr h="457200">
                <a:tc>
                  <a:txBody>
                    <a:bodyPr wrap="square"/>
                    <a:lstStyle/>
                    <a:p>
                      <a:pPr algn="l">
                        <a:lnSpc>
                          <a:spcPct val="100000"/>
                        </a:lnSpc>
                      </a:pPr>
                      <a:r>
                        <a:rPr sz="1500" b="1">
                          <a:solidFill>
                            <a:srgbClr val="22304A"/>
                          </a:solidFill>
                          <a:latin typeface="Segoe UI"/>
                        </a:rPr>
                        <a:t>Merge sort</a:t>
                      </a:r>
                    </a:p>
                  </a:txBody>
                  <a:tcPr marL="128016" marT="45720" marR="128016" marB="45720" anchor="ctr">
                    <a:lnL w="0">
                      <a:noFill/>
                    </a:lnL>
                    <a:lnR w="0">
                      <a:noFill/>
                    </a:lnR>
                    <a:lnT w="0">
                      <a:noFill/>
                    </a:lnT>
                    <a:lnB w="9525" cap="flat" cmpd="sng">
                      <a:solidFill>
                        <a:srgbClr val="BCD8F1"/>
                      </a:solidFill>
                      <a:prstDash val="solid"/>
                    </a:lnB>
                    <a:solidFill>
                      <a:srgbClr val="E8F2FB"/>
                    </a:solidFill>
                  </a:tcPr>
                </a:tc>
                <a:tc>
                  <a:txBody>
                    <a:bodyPr wrap="square"/>
                    <a:lstStyle/>
                    <a:p>
                      <a:pPr algn="ctr">
                        <a:lnSpc>
                          <a:spcPct val="100000"/>
                        </a:lnSpc>
                      </a:pPr>
                      <a:r>
                        <a:rPr sz="1500" b="0">
                          <a:solidFill>
                            <a:srgbClr val="22304A"/>
                          </a:solidFill>
                          <a:latin typeface="Segoe UI"/>
                        </a:rPr>
                        <a:t>n log n</a:t>
                      </a:r>
                    </a:p>
                  </a:txBody>
                  <a:tcPr marL="128016" marT="45720" marR="128016" marB="45720" anchor="ctr">
                    <a:lnL w="0">
                      <a:noFill/>
                    </a:lnL>
                    <a:lnR w="0">
                      <a:noFill/>
                    </a:lnR>
                    <a:lnT w="0">
                      <a:noFill/>
                    </a:lnT>
                    <a:lnB w="9525" cap="flat" cmpd="sng">
                      <a:solidFill>
                        <a:srgbClr val="BCD8F1"/>
                      </a:solidFill>
                      <a:prstDash val="solid"/>
                    </a:lnB>
                    <a:solidFill>
                      <a:srgbClr val="E8F2FB"/>
                    </a:solidFill>
                  </a:tcPr>
                </a:tc>
                <a:tc>
                  <a:txBody>
                    <a:bodyPr wrap="square"/>
                    <a:lstStyle/>
                    <a:p>
                      <a:pPr algn="ctr">
                        <a:lnSpc>
                          <a:spcPct val="100000"/>
                        </a:lnSpc>
                      </a:pPr>
                      <a:r>
                        <a:rPr sz="1500" b="0">
                          <a:solidFill>
                            <a:srgbClr val="22304A"/>
                          </a:solidFill>
                          <a:latin typeface="Segoe UI"/>
                        </a:rPr>
                        <a:t>n log n</a:t>
                      </a:r>
                    </a:p>
                  </a:txBody>
                  <a:tcPr marL="128016" marT="45720" marR="128016" marB="45720" anchor="ctr">
                    <a:lnL w="0">
                      <a:noFill/>
                    </a:lnL>
                    <a:lnR w="0">
                      <a:noFill/>
                    </a:lnR>
                    <a:lnT w="0">
                      <a:noFill/>
                    </a:lnT>
                    <a:lnB w="9525" cap="flat" cmpd="sng">
                      <a:solidFill>
                        <a:srgbClr val="BCD8F1"/>
                      </a:solidFill>
                      <a:prstDash val="solid"/>
                    </a:lnB>
                    <a:solidFill>
                      <a:srgbClr val="E8F2FB"/>
                    </a:solidFill>
                  </a:tcPr>
                </a:tc>
                <a:tc>
                  <a:txBody>
                    <a:bodyPr wrap="square"/>
                    <a:lstStyle/>
                    <a:p>
                      <a:pPr algn="ctr">
                        <a:lnSpc>
                          <a:spcPct val="100000"/>
                        </a:lnSpc>
                      </a:pPr>
                      <a:r>
                        <a:rPr sz="1500" b="0">
                          <a:solidFill>
                            <a:srgbClr val="22304A"/>
                          </a:solidFill>
                          <a:latin typeface="Segoe UI"/>
                        </a:rPr>
                        <a:t>n log n</a:t>
                      </a:r>
                    </a:p>
                  </a:txBody>
                  <a:tcPr marL="128016" marT="45720" marR="128016" marB="45720" anchor="ctr">
                    <a:lnL w="0">
                      <a:noFill/>
                    </a:lnL>
                    <a:lnR w="0">
                      <a:noFill/>
                    </a:lnR>
                    <a:lnT w="0">
                      <a:noFill/>
                    </a:lnT>
                    <a:lnB w="9525" cap="flat" cmpd="sng">
                      <a:solidFill>
                        <a:srgbClr val="BCD8F1"/>
                      </a:solidFill>
                      <a:prstDash val="solid"/>
                    </a:lnB>
                    <a:solidFill>
                      <a:srgbClr val="E8F2FB"/>
                    </a:solidFill>
                  </a:tcPr>
                </a:tc>
                <a:tc>
                  <a:txBody>
                    <a:bodyPr wrap="square"/>
                    <a:lstStyle/>
                    <a:p>
                      <a:pPr algn="ctr">
                        <a:lnSpc>
                          <a:spcPct val="100000"/>
                        </a:lnSpc>
                      </a:pPr>
                      <a:r>
                        <a:rPr sz="1500" b="0">
                          <a:solidFill>
                            <a:srgbClr val="22304A"/>
                          </a:solidFill>
                          <a:latin typeface="Segoe UI"/>
                        </a:rPr>
                        <a:t>n</a:t>
                      </a:r>
                    </a:p>
                  </a:txBody>
                  <a:tcPr marL="128016" marT="45720" marR="128016" marB="45720" anchor="ctr">
                    <a:lnL w="0">
                      <a:noFill/>
                    </a:lnL>
                    <a:lnR w="0">
                      <a:noFill/>
                    </a:lnR>
                    <a:lnT w="0">
                      <a:noFill/>
                    </a:lnT>
                    <a:lnB w="9525" cap="flat" cmpd="sng">
                      <a:solidFill>
                        <a:srgbClr val="BCD8F1"/>
                      </a:solidFill>
                      <a:prstDash val="solid"/>
                    </a:lnB>
                    <a:solidFill>
                      <a:srgbClr val="E8F2FB"/>
                    </a:solidFill>
                  </a:tcPr>
                </a:tc>
                <a:tc>
                  <a:txBody>
                    <a:bodyPr wrap="square"/>
                    <a:lstStyle/>
                    <a:p>
                      <a:pPr algn="ctr">
                        <a:lnSpc>
                          <a:spcPct val="100000"/>
                        </a:lnSpc>
                      </a:pPr>
                      <a:r>
                        <a:rPr sz="1500" b="0">
                          <a:solidFill>
                            <a:srgbClr val="22304A"/>
                          </a:solidFill>
                          <a:latin typeface="Segoe UI"/>
                        </a:rPr>
                        <a:t>Yes</a:t>
                      </a:r>
                    </a:p>
                  </a:txBody>
                  <a:tcPr marL="128016" marT="45720" marR="128016" marB="45720" anchor="ctr">
                    <a:lnL w="0">
                      <a:noFill/>
                    </a:lnL>
                    <a:lnR w="0">
                      <a:noFill/>
                    </a:lnR>
                    <a:lnT w="0">
                      <a:noFill/>
                    </a:lnT>
                    <a:lnB w="9525" cap="flat" cmpd="sng">
                      <a:solidFill>
                        <a:srgbClr val="BCD8F1"/>
                      </a:solidFill>
                      <a:prstDash val="solid"/>
                    </a:lnB>
                    <a:solidFill>
                      <a:srgbClr val="E8F2FB"/>
                    </a:solidFill>
                  </a:tcPr>
                </a:tc>
                <a:tc>
                  <a:txBody>
                    <a:bodyPr wrap="square"/>
                    <a:lstStyle/>
                    <a:p>
                      <a:pPr algn="ctr">
                        <a:lnSpc>
                          <a:spcPct val="100000"/>
                        </a:lnSpc>
                      </a:pPr>
                      <a:r>
                        <a:rPr sz="1500" b="0">
                          <a:solidFill>
                            <a:srgbClr val="22304A"/>
                          </a:solidFill>
                          <a:latin typeface="Segoe UI"/>
                        </a:rPr>
                        <a:t>No</a:t>
                      </a:r>
                    </a:p>
                  </a:txBody>
                  <a:tcPr marL="128016" marT="45720" marR="128016" marB="45720" anchor="ctr">
                    <a:lnL w="0">
                      <a:noFill/>
                    </a:lnL>
                    <a:lnR w="0">
                      <a:noFill/>
                    </a:lnR>
                    <a:lnT w="0">
                      <a:noFill/>
                    </a:lnT>
                    <a:lnB w="9525" cap="flat" cmpd="sng">
                      <a:solidFill>
                        <a:srgbClr val="BCD8F1"/>
                      </a:solidFill>
                      <a:prstDash val="solid"/>
                    </a:lnB>
                    <a:solidFill>
                      <a:srgbClr val="E8F2FB"/>
                    </a:solidFill>
                  </a:tcPr>
                </a:tc>
              </a:tr>
              <a:tr h="457200">
                <a:tc>
                  <a:txBody>
                    <a:bodyPr wrap="square"/>
                    <a:lstStyle/>
                    <a:p>
                      <a:pPr algn="l">
                        <a:lnSpc>
                          <a:spcPct val="100000"/>
                        </a:lnSpc>
                      </a:pPr>
                      <a:r>
                        <a:rPr sz="1500" b="1">
                          <a:solidFill>
                            <a:srgbClr val="22304A"/>
                          </a:solidFill>
                          <a:latin typeface="Segoe UI"/>
                        </a:rPr>
                        <a:t>Heap sort</a:t>
                      </a:r>
                    </a:p>
                  </a:txBody>
                  <a:tcPr marL="128016" marT="45720" marR="128016" marB="45720" anchor="ctr">
                    <a:lnL w="0">
                      <a:noFill/>
                    </a:lnL>
                    <a:lnR w="0">
                      <a:noFill/>
                    </a:lnR>
                    <a:lnT w="0">
                      <a:noFill/>
                    </a:lnT>
                    <a:lnB w="12700" cap="flat" cmpd="sng">
                      <a:solidFill>
                        <a:srgbClr val="4F8FCB"/>
                      </a:solidFill>
                      <a:prstDash val="solid"/>
                    </a:lnB>
                    <a:solidFill>
                      <a:srgbClr val="FFFFFF"/>
                    </a:solidFill>
                  </a:tcPr>
                </a:tc>
                <a:tc>
                  <a:txBody>
                    <a:bodyPr wrap="square"/>
                    <a:lstStyle/>
                    <a:p>
                      <a:pPr algn="ctr">
                        <a:lnSpc>
                          <a:spcPct val="100000"/>
                        </a:lnSpc>
                      </a:pPr>
                      <a:r>
                        <a:rPr sz="1500" b="0">
                          <a:solidFill>
                            <a:srgbClr val="22304A"/>
                          </a:solidFill>
                          <a:latin typeface="Segoe UI"/>
                        </a:rPr>
                        <a:t>n log n</a:t>
                      </a:r>
                    </a:p>
                  </a:txBody>
                  <a:tcPr marL="128016" marT="45720" marR="128016" marB="45720" anchor="ctr">
                    <a:lnL w="0">
                      <a:noFill/>
                    </a:lnL>
                    <a:lnR w="0">
                      <a:noFill/>
                    </a:lnR>
                    <a:lnT w="0">
                      <a:noFill/>
                    </a:lnT>
                    <a:lnB w="12700" cap="flat" cmpd="sng">
                      <a:solidFill>
                        <a:srgbClr val="4F8FCB"/>
                      </a:solidFill>
                      <a:prstDash val="solid"/>
                    </a:lnB>
                    <a:solidFill>
                      <a:srgbClr val="FFFFFF"/>
                    </a:solidFill>
                  </a:tcPr>
                </a:tc>
                <a:tc>
                  <a:txBody>
                    <a:bodyPr wrap="square"/>
                    <a:lstStyle/>
                    <a:p>
                      <a:pPr algn="ctr">
                        <a:lnSpc>
                          <a:spcPct val="100000"/>
                        </a:lnSpc>
                      </a:pPr>
                      <a:r>
                        <a:rPr sz="1500" b="0">
                          <a:solidFill>
                            <a:srgbClr val="22304A"/>
                          </a:solidFill>
                          <a:latin typeface="Segoe UI"/>
                        </a:rPr>
                        <a:t>n log n</a:t>
                      </a:r>
                    </a:p>
                  </a:txBody>
                  <a:tcPr marL="128016" marT="45720" marR="128016" marB="45720" anchor="ctr">
                    <a:lnL w="0">
                      <a:noFill/>
                    </a:lnL>
                    <a:lnR w="0">
                      <a:noFill/>
                    </a:lnR>
                    <a:lnT w="0">
                      <a:noFill/>
                    </a:lnT>
                    <a:lnB w="12700" cap="flat" cmpd="sng">
                      <a:solidFill>
                        <a:srgbClr val="4F8FCB"/>
                      </a:solidFill>
                      <a:prstDash val="solid"/>
                    </a:lnB>
                    <a:solidFill>
                      <a:srgbClr val="FFFFFF"/>
                    </a:solidFill>
                  </a:tcPr>
                </a:tc>
                <a:tc>
                  <a:txBody>
                    <a:bodyPr wrap="square"/>
                    <a:lstStyle/>
                    <a:p>
                      <a:pPr algn="ctr">
                        <a:lnSpc>
                          <a:spcPct val="100000"/>
                        </a:lnSpc>
                      </a:pPr>
                      <a:r>
                        <a:rPr sz="1500" b="0">
                          <a:solidFill>
                            <a:srgbClr val="22304A"/>
                          </a:solidFill>
                          <a:latin typeface="Segoe UI"/>
                        </a:rPr>
                        <a:t>n log n</a:t>
                      </a:r>
                    </a:p>
                  </a:txBody>
                  <a:tcPr marL="128016" marT="45720" marR="128016" marB="45720" anchor="ctr">
                    <a:lnL w="0">
                      <a:noFill/>
                    </a:lnL>
                    <a:lnR w="0">
                      <a:noFill/>
                    </a:lnR>
                    <a:lnT w="0">
                      <a:noFill/>
                    </a:lnT>
                    <a:lnB w="12700" cap="flat" cmpd="sng">
                      <a:solidFill>
                        <a:srgbClr val="4F8FCB"/>
                      </a:solidFill>
                      <a:prstDash val="solid"/>
                    </a:lnB>
                    <a:solidFill>
                      <a:srgbClr val="FFFFFF"/>
                    </a:solidFill>
                  </a:tcPr>
                </a:tc>
                <a:tc>
                  <a:txBody>
                    <a:bodyPr wrap="square"/>
                    <a:lstStyle/>
                    <a:p>
                      <a:pPr algn="ctr">
                        <a:lnSpc>
                          <a:spcPct val="100000"/>
                        </a:lnSpc>
                      </a:pPr>
                      <a:r>
                        <a:rPr sz="1500" b="0">
                          <a:solidFill>
                            <a:srgbClr val="22304A"/>
                          </a:solidFill>
                          <a:latin typeface="Segoe UI"/>
                        </a:rPr>
                        <a:t>1</a:t>
                      </a:r>
                    </a:p>
                  </a:txBody>
                  <a:tcPr marL="128016" marT="45720" marR="128016" marB="45720" anchor="ctr">
                    <a:lnL w="0">
                      <a:noFill/>
                    </a:lnL>
                    <a:lnR w="0">
                      <a:noFill/>
                    </a:lnR>
                    <a:lnT w="0">
                      <a:noFill/>
                    </a:lnT>
                    <a:lnB w="12700" cap="flat" cmpd="sng">
                      <a:solidFill>
                        <a:srgbClr val="4F8FCB"/>
                      </a:solidFill>
                      <a:prstDash val="solid"/>
                    </a:lnB>
                    <a:solidFill>
                      <a:srgbClr val="FFFFFF"/>
                    </a:solidFill>
                  </a:tcPr>
                </a:tc>
                <a:tc>
                  <a:txBody>
                    <a:bodyPr wrap="square"/>
                    <a:lstStyle/>
                    <a:p>
                      <a:pPr algn="ctr">
                        <a:lnSpc>
                          <a:spcPct val="100000"/>
                        </a:lnSpc>
                      </a:pPr>
                      <a:r>
                        <a:rPr sz="1500" b="0">
                          <a:solidFill>
                            <a:srgbClr val="22304A"/>
                          </a:solidFill>
                          <a:latin typeface="Segoe UI"/>
                        </a:rPr>
                        <a:t>No</a:t>
                      </a:r>
                    </a:p>
                  </a:txBody>
                  <a:tcPr marL="128016" marT="45720" marR="128016" marB="45720" anchor="ctr">
                    <a:lnL w="0">
                      <a:noFill/>
                    </a:lnL>
                    <a:lnR w="0">
                      <a:noFill/>
                    </a:lnR>
                    <a:lnT w="0">
                      <a:noFill/>
                    </a:lnT>
                    <a:lnB w="12700" cap="flat" cmpd="sng">
                      <a:solidFill>
                        <a:srgbClr val="4F8FCB"/>
                      </a:solidFill>
                      <a:prstDash val="solid"/>
                    </a:lnB>
                    <a:solidFill>
                      <a:srgbClr val="FFFFFF"/>
                    </a:solidFill>
                  </a:tcPr>
                </a:tc>
                <a:tc>
                  <a:txBody>
                    <a:bodyPr wrap="square"/>
                    <a:lstStyle/>
                    <a:p>
                      <a:pPr algn="ctr">
                        <a:lnSpc>
                          <a:spcPct val="100000"/>
                        </a:lnSpc>
                      </a:pPr>
                      <a:r>
                        <a:rPr sz="1500" b="0">
                          <a:solidFill>
                            <a:srgbClr val="22304A"/>
                          </a:solidFill>
                          <a:latin typeface="Segoe UI"/>
                        </a:rPr>
                        <a:t>Yes</a:t>
                      </a:r>
                    </a:p>
                  </a:txBody>
                  <a:tcPr marL="128016" marT="45720" marR="128016" marB="45720" anchor="ctr">
                    <a:lnL w="0">
                      <a:noFill/>
                    </a:lnL>
                    <a:lnR w="0">
                      <a:noFill/>
                    </a:lnR>
                    <a:lnT w="0">
                      <a:noFill/>
                    </a:lnT>
                    <a:lnB w="12700" cap="flat" cmpd="sng">
                      <a:solidFill>
                        <a:srgbClr val="4F8FCB"/>
                      </a:solidFill>
                      <a:prstDash val="solid"/>
                    </a:lnB>
                    <a:solidFill>
                      <a:srgbClr val="FFFFFF"/>
                    </a:solidFill>
                  </a:tcPr>
                </a:tc>
              </a:tr>
            </a:tbl>
          </a:graphicData>
        </a:graphic>
      </p:graphicFrame>
      <p:sp>
        <p:nvSpPr>
          <p:cNvPr id="25" name="Rounded Rectangle 24"/>
          <p:cNvSpPr/>
          <p:nvPr/>
        </p:nvSpPr>
        <p:spPr>
          <a:xfrm>
            <a:off x="548640" y="5440680"/>
            <a:ext cx="11094415" cy="731520"/>
          </a:xfrm>
          <a:prstGeom prst="roundRect">
            <a:avLst>
              <a:gd name="adj" fmla="val 18749"/>
            </a:avLst>
          </a:prstGeom>
          <a:solidFill>
            <a:srgbClr val="BCD8F1"/>
          </a:solidFill>
          <a:ln>
            <a:noFill/>
          </a:ln>
        </p:spPr>
        <p:txBody>
          <a:bodyPr rtlCol="0" anchor="ctr"/>
          <a:lstStyle/>
          <a:p>
            <a:pPr algn="ctr"/>
          </a:p>
        </p:txBody>
      </p:sp>
      <p:sp>
        <p:nvSpPr>
          <p:cNvPr id="26" name="Rectangle 25"/>
          <p:cNvSpPr/>
          <p:nvPr/>
        </p:nvSpPr>
        <p:spPr>
          <a:xfrm>
            <a:off x="548640" y="5440680"/>
            <a:ext cx="128016" cy="731520"/>
          </a:xfrm>
          <a:prstGeom prst="rect">
            <a:avLst/>
          </a:prstGeom>
          <a:solidFill>
            <a:srgbClr val="E07A5F"/>
          </a:solidFill>
          <a:ln>
            <a:noFill/>
          </a:ln>
        </p:spPr>
        <p:txBody>
          <a:bodyPr rtlCol="0" anchor="ctr"/>
          <a:lstStyle/>
          <a:p>
            <a:pPr algn="ctr"/>
          </a:p>
        </p:txBody>
      </p:sp>
      <p:sp>
        <p:nvSpPr>
          <p:cNvPr id="27" name="Rectangle 26"/>
          <p:cNvSpPr/>
          <p:nvPr/>
        </p:nvSpPr>
        <p:spPr>
          <a:xfrm>
            <a:off x="914400" y="5458968"/>
            <a:ext cx="2286000" cy="713232"/>
          </a:xfrm>
          <a:prstGeom prst="rect">
            <a:avLst/>
          </a:prstGeom>
          <a:noFill/>
          <a:ln>
            <a:noFill/>
          </a:ln>
        </p:spPr>
        <p:txBody>
          <a:bodyPr rtlCol="0" anchor="ctr" wrap="square" lIns="0" tIns="0" rIns="0" bIns="0">
            <a:noAutofit/>
          </a:bodyPr>
          <a:lstStyle/>
          <a:p>
            <a:pPr algn="l">
              <a:lnSpc>
                <a:spcPct val="100000"/>
              </a:lnSpc>
              <a:spcBef>
                <a:spcPts val="0"/>
              </a:spcBef>
              <a:spcAft>
                <a:spcPts val="0"/>
              </a:spcAft>
            </a:pPr>
            <a:r>
              <a:rPr sz="2000" b="1" i="0">
                <a:solidFill>
                  <a:srgbClr val="22304A"/>
                </a:solidFill>
                <a:latin typeface="Georgia"/>
              </a:rPr>
              <a:t>Why it wins</a:t>
            </a:r>
          </a:p>
        </p:txBody>
      </p:sp>
      <p:sp>
        <p:nvSpPr>
          <p:cNvPr id="28" name="Rectangle 27"/>
          <p:cNvSpPr/>
          <p:nvPr/>
        </p:nvSpPr>
        <p:spPr>
          <a:xfrm>
            <a:off x="3291840" y="5458968"/>
            <a:ext cx="8076895" cy="713232"/>
          </a:xfrm>
          <a:prstGeom prst="rect">
            <a:avLst/>
          </a:prstGeom>
          <a:noFill/>
          <a:ln>
            <a:noFill/>
          </a:ln>
        </p:spPr>
        <p:txBody>
          <a:bodyPr rtlCol="0" anchor="ctr" wrap="square" lIns="0" tIns="0" rIns="0" bIns="0">
            <a:noAutofit/>
          </a:bodyPr>
          <a:lstStyle/>
          <a:p>
            <a:pPr algn="l">
              <a:lnSpc>
                <a:spcPct val="100000"/>
              </a:lnSpc>
              <a:spcBef>
                <a:spcPts val="0"/>
              </a:spcBef>
              <a:spcAft>
                <a:spcPts val="0"/>
              </a:spcAft>
            </a:pPr>
            <a:r>
              <a:rPr sz="1400" b="0" i="0">
                <a:solidFill>
                  <a:srgbClr val="22304A"/>
                </a:solidFill>
                <a:latin typeface="Segoe UI"/>
              </a:rPr>
              <a:t>In place, cache friendly, small constant factor, worst case engineered away. The price: not stable, so use merge sort when equal keys must keep their order.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gradFill rotWithShape="1">
          <a:gsLst>
            <a:gs pos="0">
              <a:srgbClr val="DDEBFA"/>
            </a:gs>
            <a:gs pos="100000">
              <a:srgbClr val="FFEFE8"/>
            </a:gs>
          </a:gsLst>
          <a:lin scaled="0" ang="2700000"/>
        </a:gradFill>
        <a:effectLst/>
      </p:bgPr>
    </p:bg>
    <p:spTree>
      <p:nvGrpSpPr>
        <p:cNvPr id="1" name=""/>
        <p:cNvGrpSpPr/>
        <p:nvPr/>
      </p:nvGrpSpPr>
      <p:grpSpPr/>
      <p:sp>
        <p:nvSpPr>
          <p:cNvPr id="2" name="Title 1"/>
          <p:cNvSpPr>
            <a:spLocks noGrp="1"/>
          </p:cNvSpPr>
          <p:nvPr>
            <p:ph type="title"/>
          </p:nvPr>
        </p:nvSpPr>
        <p:spPr>
          <a:xfrm>
            <a:off x="2011680" y="1737360"/>
            <a:ext cx="8138160" cy="1280160"/>
          </a:xfrm>
        </p:spPr>
        <p:txBody>
          <a:bodyPr wrap="square" lIns="0" tIns="0" rIns="0" bIns="0" anchor="ctr">
            <a:noAutofit/>
          </a:bodyPr>
          <a:lstStyle/>
          <a:p>
            <a:pPr algn="ctr">
              <a:lnSpc>
                <a:spcPct val="100000"/>
              </a:lnSpc>
              <a:spcBef>
                <a:spcPts val="0"/>
              </a:spcBef>
              <a:spcAft>
                <a:spcPts val="0"/>
              </a:spcAft>
            </a:pPr>
            <a:r>
              <a:rPr sz="6600" b="1" i="0">
                <a:solidFill>
                  <a:srgbClr val="22304A"/>
                </a:solidFill>
                <a:latin typeface="Georgia"/>
              </a:rPr>
              <a:t>Thank you</a:t>
            </a:r>
          </a:p>
        </p:txBody>
      </p:sp>
      <p:sp>
        <p:nvSpPr>
          <p:cNvPr id="3" name="Freeform 2"/>
          <p:cNvSpPr/>
          <p:nvPr/>
        </p:nvSpPr>
        <p:spPr>
          <a:xfrm>
            <a:off x="0" y="0"/>
            <a:ext cx="1554480" cy="1554480"/>
          </a:xfrm>
          <a:custGeom>
            <a:avLst/>
            <a:gdLst/>
            <a:ahLst/>
            <a:cxnLst/>
            <a:rect l="l" t="t" r="r" b="b"/>
            <a:pathLst>
              <a:path w="1554480" h="1554480">
                <a:moveTo>
                  <a:pt x="1554480" y="0"/>
                </a:moveTo>
                <a:lnTo>
                  <a:pt x="1554110" y="33910"/>
                </a:lnTo>
                <a:lnTo>
                  <a:pt x="1553000" y="67805"/>
                </a:lnTo>
                <a:lnTo>
                  <a:pt x="1551151" y="101667"/>
                </a:lnTo>
                <a:lnTo>
                  <a:pt x="1548564" y="135481"/>
                </a:lnTo>
                <a:lnTo>
                  <a:pt x="1545240" y="169231"/>
                </a:lnTo>
                <a:lnTo>
                  <a:pt x="1541181" y="202900"/>
                </a:lnTo>
                <a:lnTo>
                  <a:pt x="1536388" y="236472"/>
                </a:lnTo>
                <a:lnTo>
                  <a:pt x="1530863" y="269932"/>
                </a:lnTo>
                <a:lnTo>
                  <a:pt x="1524611" y="303264"/>
                </a:lnTo>
                <a:lnTo>
                  <a:pt x="1517632" y="336451"/>
                </a:lnTo>
                <a:lnTo>
                  <a:pt x="1509931" y="369477"/>
                </a:lnTo>
                <a:lnTo>
                  <a:pt x="1501512" y="402329"/>
                </a:lnTo>
                <a:lnTo>
                  <a:pt x="1492378" y="434988"/>
                </a:lnTo>
                <a:lnTo>
                  <a:pt x="1482533" y="467441"/>
                </a:lnTo>
                <a:lnTo>
                  <a:pt x="1471983" y="499671"/>
                </a:lnTo>
                <a:lnTo>
                  <a:pt x="1460733" y="531663"/>
                </a:lnTo>
                <a:lnTo>
                  <a:pt x="1448787" y="563402"/>
                </a:lnTo>
                <a:lnTo>
                  <a:pt x="1436152" y="594873"/>
                </a:lnTo>
                <a:lnTo>
                  <a:pt x="1422833" y="626061"/>
                </a:lnTo>
                <a:lnTo>
                  <a:pt x="1408837" y="656951"/>
                </a:lnTo>
                <a:lnTo>
                  <a:pt x="1394170" y="687528"/>
                </a:lnTo>
                <a:lnTo>
                  <a:pt x="1378840" y="717778"/>
                </a:lnTo>
                <a:lnTo>
                  <a:pt x="1362854" y="747687"/>
                </a:lnTo>
                <a:lnTo>
                  <a:pt x="1346219" y="777239"/>
                </a:lnTo>
                <a:lnTo>
                  <a:pt x="1328943" y="806422"/>
                </a:lnTo>
                <a:lnTo>
                  <a:pt x="1311035" y="835221"/>
                </a:lnTo>
                <a:lnTo>
                  <a:pt x="1292502" y="863622"/>
                </a:lnTo>
                <a:lnTo>
                  <a:pt x="1273355" y="891613"/>
                </a:lnTo>
                <a:lnTo>
                  <a:pt x="1253602" y="919179"/>
                </a:lnTo>
                <a:lnTo>
                  <a:pt x="1233251" y="946307"/>
                </a:lnTo>
                <a:lnTo>
                  <a:pt x="1212314" y="972985"/>
                </a:lnTo>
                <a:lnTo>
                  <a:pt x="1190800" y="999200"/>
                </a:lnTo>
                <a:lnTo>
                  <a:pt x="1168719" y="1024939"/>
                </a:lnTo>
                <a:lnTo>
                  <a:pt x="1146082" y="1050191"/>
                </a:lnTo>
                <a:lnTo>
                  <a:pt x="1122900" y="1074943"/>
                </a:lnTo>
                <a:lnTo>
                  <a:pt x="1099183" y="1099183"/>
                </a:lnTo>
                <a:lnTo>
                  <a:pt x="1074943" y="1122900"/>
                </a:lnTo>
                <a:lnTo>
                  <a:pt x="1050191" y="1146082"/>
                </a:lnTo>
                <a:lnTo>
                  <a:pt x="1024939" y="1168719"/>
                </a:lnTo>
                <a:lnTo>
                  <a:pt x="999200" y="1190800"/>
                </a:lnTo>
                <a:lnTo>
                  <a:pt x="972985" y="1212314"/>
                </a:lnTo>
                <a:lnTo>
                  <a:pt x="946307" y="1233251"/>
                </a:lnTo>
                <a:lnTo>
                  <a:pt x="919179" y="1253602"/>
                </a:lnTo>
                <a:lnTo>
                  <a:pt x="891613" y="1273355"/>
                </a:lnTo>
                <a:lnTo>
                  <a:pt x="863622" y="1292502"/>
                </a:lnTo>
                <a:lnTo>
                  <a:pt x="835221" y="1311035"/>
                </a:lnTo>
                <a:lnTo>
                  <a:pt x="806422" y="1328943"/>
                </a:lnTo>
                <a:lnTo>
                  <a:pt x="777240" y="1346219"/>
                </a:lnTo>
                <a:lnTo>
                  <a:pt x="747687" y="1362854"/>
                </a:lnTo>
                <a:lnTo>
                  <a:pt x="717778" y="1378840"/>
                </a:lnTo>
                <a:lnTo>
                  <a:pt x="687528" y="1394170"/>
                </a:lnTo>
                <a:lnTo>
                  <a:pt x="656951" y="1408837"/>
                </a:lnTo>
                <a:lnTo>
                  <a:pt x="626061" y="1422833"/>
                </a:lnTo>
                <a:lnTo>
                  <a:pt x="594873" y="1436152"/>
                </a:lnTo>
                <a:lnTo>
                  <a:pt x="563402" y="1448787"/>
                </a:lnTo>
                <a:lnTo>
                  <a:pt x="531663" y="1460733"/>
                </a:lnTo>
                <a:lnTo>
                  <a:pt x="499671" y="1471983"/>
                </a:lnTo>
                <a:lnTo>
                  <a:pt x="467441" y="1482533"/>
                </a:lnTo>
                <a:lnTo>
                  <a:pt x="434988" y="1492378"/>
                </a:lnTo>
                <a:lnTo>
                  <a:pt x="402329" y="1501512"/>
                </a:lnTo>
                <a:lnTo>
                  <a:pt x="369477" y="1509931"/>
                </a:lnTo>
                <a:lnTo>
                  <a:pt x="336451" y="1517632"/>
                </a:lnTo>
                <a:lnTo>
                  <a:pt x="303264" y="1524611"/>
                </a:lnTo>
                <a:lnTo>
                  <a:pt x="269932" y="1530863"/>
                </a:lnTo>
                <a:lnTo>
                  <a:pt x="236472" y="1536388"/>
                </a:lnTo>
                <a:lnTo>
                  <a:pt x="202900" y="1541181"/>
                </a:lnTo>
                <a:lnTo>
                  <a:pt x="169231" y="1545240"/>
                </a:lnTo>
                <a:lnTo>
                  <a:pt x="135481" y="1548564"/>
                </a:lnTo>
                <a:lnTo>
                  <a:pt x="101667" y="1551151"/>
                </a:lnTo>
                <a:lnTo>
                  <a:pt x="67805" y="1553000"/>
                </a:lnTo>
                <a:lnTo>
                  <a:pt x="33910" y="1554110"/>
                </a:lnTo>
                <a:lnTo>
                  <a:pt x="0" y="1554480"/>
                </a:lnTo>
                <a:lnTo>
                  <a:pt x="0" y="0"/>
                </a:lnTo>
                <a:close/>
              </a:path>
            </a:pathLst>
          </a:custGeom>
          <a:solidFill>
            <a:srgbClr val="FBE3DB"/>
          </a:solidFill>
          <a:ln>
            <a:noFill/>
          </a:ln>
        </p:spPr>
        <p:txBody>
          <a:bodyPr rtlCol="0" anchor="ctr"/>
          <a:lstStyle/>
          <a:p>
            <a:pPr algn="ctr"/>
          </a:p>
        </p:txBody>
      </p:sp>
      <p:sp>
        <p:nvSpPr>
          <p:cNvPr id="4" name="Freeform 3"/>
          <p:cNvSpPr/>
          <p:nvPr/>
        </p:nvSpPr>
        <p:spPr>
          <a:xfrm>
            <a:off x="0" y="0"/>
            <a:ext cx="914400" cy="914400"/>
          </a:xfrm>
          <a:custGeom>
            <a:avLst/>
            <a:gdLst/>
            <a:ahLst/>
            <a:cxnLst/>
            <a:rect l="l" t="t" r="r" b="b"/>
            <a:pathLst>
              <a:path w="914400" h="914400">
                <a:moveTo>
                  <a:pt x="914400" y="0"/>
                </a:moveTo>
                <a:lnTo>
                  <a:pt x="914182" y="19947"/>
                </a:lnTo>
                <a:lnTo>
                  <a:pt x="913529" y="39885"/>
                </a:lnTo>
                <a:lnTo>
                  <a:pt x="912442" y="59804"/>
                </a:lnTo>
                <a:lnTo>
                  <a:pt x="910920" y="79695"/>
                </a:lnTo>
                <a:lnTo>
                  <a:pt x="908965" y="99547"/>
                </a:lnTo>
                <a:lnTo>
                  <a:pt x="906577" y="119353"/>
                </a:lnTo>
                <a:lnTo>
                  <a:pt x="903757" y="139101"/>
                </a:lnTo>
                <a:lnTo>
                  <a:pt x="900508" y="158783"/>
                </a:lnTo>
                <a:lnTo>
                  <a:pt x="896830" y="178390"/>
                </a:lnTo>
                <a:lnTo>
                  <a:pt x="892725" y="197912"/>
                </a:lnTo>
                <a:lnTo>
                  <a:pt x="888195" y="217339"/>
                </a:lnTo>
                <a:lnTo>
                  <a:pt x="883242" y="236664"/>
                </a:lnTo>
                <a:lnTo>
                  <a:pt x="877869" y="255875"/>
                </a:lnTo>
                <a:lnTo>
                  <a:pt x="872078" y="274965"/>
                </a:lnTo>
                <a:lnTo>
                  <a:pt x="865872" y="293924"/>
                </a:lnTo>
                <a:lnTo>
                  <a:pt x="859254" y="312743"/>
                </a:lnTo>
                <a:lnTo>
                  <a:pt x="852227" y="331413"/>
                </a:lnTo>
                <a:lnTo>
                  <a:pt x="844795" y="349925"/>
                </a:lnTo>
                <a:lnTo>
                  <a:pt x="836960" y="368271"/>
                </a:lnTo>
                <a:lnTo>
                  <a:pt x="828727" y="386442"/>
                </a:lnTo>
                <a:lnTo>
                  <a:pt x="820100" y="404428"/>
                </a:lnTo>
                <a:lnTo>
                  <a:pt x="811082" y="422222"/>
                </a:lnTo>
                <a:lnTo>
                  <a:pt x="801678" y="439816"/>
                </a:lnTo>
                <a:lnTo>
                  <a:pt x="791893" y="457199"/>
                </a:lnTo>
                <a:lnTo>
                  <a:pt x="781731" y="474366"/>
                </a:lnTo>
                <a:lnTo>
                  <a:pt x="771197" y="491306"/>
                </a:lnTo>
                <a:lnTo>
                  <a:pt x="760295" y="508013"/>
                </a:lnTo>
                <a:lnTo>
                  <a:pt x="749032" y="524478"/>
                </a:lnTo>
                <a:lnTo>
                  <a:pt x="737412" y="540693"/>
                </a:lnTo>
                <a:lnTo>
                  <a:pt x="725442" y="556651"/>
                </a:lnTo>
                <a:lnTo>
                  <a:pt x="713126" y="572344"/>
                </a:lnTo>
                <a:lnTo>
                  <a:pt x="700471" y="587764"/>
                </a:lnTo>
                <a:lnTo>
                  <a:pt x="687482" y="602905"/>
                </a:lnTo>
                <a:lnTo>
                  <a:pt x="674166" y="617759"/>
                </a:lnTo>
                <a:lnTo>
                  <a:pt x="660529" y="632319"/>
                </a:lnTo>
                <a:lnTo>
                  <a:pt x="646578" y="646578"/>
                </a:lnTo>
                <a:lnTo>
                  <a:pt x="632319" y="660529"/>
                </a:lnTo>
                <a:lnTo>
                  <a:pt x="617759" y="674166"/>
                </a:lnTo>
                <a:lnTo>
                  <a:pt x="602905" y="687482"/>
                </a:lnTo>
                <a:lnTo>
                  <a:pt x="587764" y="700471"/>
                </a:lnTo>
                <a:lnTo>
                  <a:pt x="572344" y="713126"/>
                </a:lnTo>
                <a:lnTo>
                  <a:pt x="556651" y="725442"/>
                </a:lnTo>
                <a:lnTo>
                  <a:pt x="540693" y="737412"/>
                </a:lnTo>
                <a:lnTo>
                  <a:pt x="524478" y="749032"/>
                </a:lnTo>
                <a:lnTo>
                  <a:pt x="508013" y="760295"/>
                </a:lnTo>
                <a:lnTo>
                  <a:pt x="491306" y="771197"/>
                </a:lnTo>
                <a:lnTo>
                  <a:pt x="474366" y="781731"/>
                </a:lnTo>
                <a:lnTo>
                  <a:pt x="457200" y="791893"/>
                </a:lnTo>
                <a:lnTo>
                  <a:pt x="439816" y="801678"/>
                </a:lnTo>
                <a:lnTo>
                  <a:pt x="422222" y="811082"/>
                </a:lnTo>
                <a:lnTo>
                  <a:pt x="404428" y="820100"/>
                </a:lnTo>
                <a:lnTo>
                  <a:pt x="386442" y="828727"/>
                </a:lnTo>
                <a:lnTo>
                  <a:pt x="368271" y="836960"/>
                </a:lnTo>
                <a:lnTo>
                  <a:pt x="349925" y="844795"/>
                </a:lnTo>
                <a:lnTo>
                  <a:pt x="331413" y="852227"/>
                </a:lnTo>
                <a:lnTo>
                  <a:pt x="312743" y="859254"/>
                </a:lnTo>
                <a:lnTo>
                  <a:pt x="293924" y="865872"/>
                </a:lnTo>
                <a:lnTo>
                  <a:pt x="274965" y="872078"/>
                </a:lnTo>
                <a:lnTo>
                  <a:pt x="255875" y="877869"/>
                </a:lnTo>
                <a:lnTo>
                  <a:pt x="236664" y="883242"/>
                </a:lnTo>
                <a:lnTo>
                  <a:pt x="217339" y="888195"/>
                </a:lnTo>
                <a:lnTo>
                  <a:pt x="197912" y="892725"/>
                </a:lnTo>
                <a:lnTo>
                  <a:pt x="178390" y="896830"/>
                </a:lnTo>
                <a:lnTo>
                  <a:pt x="158783" y="900508"/>
                </a:lnTo>
                <a:lnTo>
                  <a:pt x="139101" y="903757"/>
                </a:lnTo>
                <a:lnTo>
                  <a:pt x="119353" y="906577"/>
                </a:lnTo>
                <a:lnTo>
                  <a:pt x="99547" y="908965"/>
                </a:lnTo>
                <a:lnTo>
                  <a:pt x="79695" y="910920"/>
                </a:lnTo>
                <a:lnTo>
                  <a:pt x="59804" y="912442"/>
                </a:lnTo>
                <a:lnTo>
                  <a:pt x="39885" y="913529"/>
                </a:lnTo>
                <a:lnTo>
                  <a:pt x="19947" y="914182"/>
                </a:lnTo>
                <a:lnTo>
                  <a:pt x="0" y="914400"/>
                </a:lnTo>
                <a:lnTo>
                  <a:pt x="0" y="0"/>
                </a:lnTo>
                <a:close/>
              </a:path>
            </a:pathLst>
          </a:custGeom>
          <a:solidFill>
            <a:srgbClr val="F3A08A"/>
          </a:solidFill>
          <a:ln>
            <a:noFill/>
          </a:ln>
        </p:spPr>
        <p:txBody>
          <a:bodyPr rtlCol="0" anchor="ctr"/>
          <a:lstStyle/>
          <a:p>
            <a:pPr algn="ctr"/>
          </a:p>
        </p:txBody>
      </p:sp>
      <p:sp>
        <p:nvSpPr>
          <p:cNvPr id="5" name="Freeform 4"/>
          <p:cNvSpPr/>
          <p:nvPr/>
        </p:nvSpPr>
        <p:spPr>
          <a:xfrm>
            <a:off x="8991295" y="3657600"/>
            <a:ext cx="3200400" cy="3200400"/>
          </a:xfrm>
          <a:custGeom>
            <a:avLst/>
            <a:gdLst/>
            <a:ahLst/>
            <a:cxnLst/>
            <a:rect l="l" t="t" r="r" b="b"/>
            <a:pathLst>
              <a:path w="3200400" h="3200400">
                <a:moveTo>
                  <a:pt x="0" y="3200400"/>
                </a:moveTo>
                <a:lnTo>
                  <a:pt x="761" y="3130583"/>
                </a:lnTo>
                <a:lnTo>
                  <a:pt x="3046" y="3060800"/>
                </a:lnTo>
                <a:lnTo>
                  <a:pt x="6852" y="2991083"/>
                </a:lnTo>
                <a:lnTo>
                  <a:pt x="12178" y="2921466"/>
                </a:lnTo>
                <a:lnTo>
                  <a:pt x="19022" y="2851982"/>
                </a:lnTo>
                <a:lnTo>
                  <a:pt x="27380" y="2782663"/>
                </a:lnTo>
                <a:lnTo>
                  <a:pt x="37248" y="2713544"/>
                </a:lnTo>
                <a:lnTo>
                  <a:pt x="48621" y="2644656"/>
                </a:lnTo>
                <a:lnTo>
                  <a:pt x="61494" y="2576032"/>
                </a:lnTo>
                <a:lnTo>
                  <a:pt x="75862" y="2507706"/>
                </a:lnTo>
                <a:lnTo>
                  <a:pt x="91717" y="2439710"/>
                </a:lnTo>
                <a:lnTo>
                  <a:pt x="109051" y="2372075"/>
                </a:lnTo>
                <a:lnTo>
                  <a:pt x="127856" y="2304835"/>
                </a:lnTo>
                <a:lnTo>
                  <a:pt x="148124" y="2238021"/>
                </a:lnTo>
                <a:lnTo>
                  <a:pt x="169845" y="2171665"/>
                </a:lnTo>
                <a:lnTo>
                  <a:pt x="193007" y="2105798"/>
                </a:lnTo>
                <a:lnTo>
                  <a:pt x="217602" y="2040453"/>
                </a:lnTo>
                <a:lnTo>
                  <a:pt x="243616" y="1975659"/>
                </a:lnTo>
                <a:lnTo>
                  <a:pt x="271037" y="1911449"/>
                </a:lnTo>
                <a:lnTo>
                  <a:pt x="299852" y="1847852"/>
                </a:lnTo>
                <a:lnTo>
                  <a:pt x="330048" y="1784899"/>
                </a:lnTo>
                <a:lnTo>
                  <a:pt x="361610" y="1722619"/>
                </a:lnTo>
                <a:lnTo>
                  <a:pt x="394523" y="1661043"/>
                </a:lnTo>
                <a:lnTo>
                  <a:pt x="428772" y="1600200"/>
                </a:lnTo>
                <a:lnTo>
                  <a:pt x="464340" y="1540118"/>
                </a:lnTo>
                <a:lnTo>
                  <a:pt x="501210" y="1480826"/>
                </a:lnTo>
                <a:lnTo>
                  <a:pt x="539364" y="1422353"/>
                </a:lnTo>
                <a:lnTo>
                  <a:pt x="578785" y="1364725"/>
                </a:lnTo>
                <a:lnTo>
                  <a:pt x="619454" y="1307972"/>
                </a:lnTo>
                <a:lnTo>
                  <a:pt x="661352" y="1252119"/>
                </a:lnTo>
                <a:lnTo>
                  <a:pt x="704457" y="1197194"/>
                </a:lnTo>
                <a:lnTo>
                  <a:pt x="748751" y="1143222"/>
                </a:lnTo>
                <a:lnTo>
                  <a:pt x="794212" y="1090229"/>
                </a:lnTo>
                <a:lnTo>
                  <a:pt x="840817" y="1038241"/>
                </a:lnTo>
                <a:lnTo>
                  <a:pt x="888546" y="987281"/>
                </a:lnTo>
                <a:lnTo>
                  <a:pt x="937375" y="937375"/>
                </a:lnTo>
                <a:lnTo>
                  <a:pt x="987281" y="888546"/>
                </a:lnTo>
                <a:lnTo>
                  <a:pt x="1038241" y="840817"/>
                </a:lnTo>
                <a:lnTo>
                  <a:pt x="1090229" y="794211"/>
                </a:lnTo>
                <a:lnTo>
                  <a:pt x="1143222" y="748751"/>
                </a:lnTo>
                <a:lnTo>
                  <a:pt x="1197194" y="704457"/>
                </a:lnTo>
                <a:lnTo>
                  <a:pt x="1252120" y="661351"/>
                </a:lnTo>
                <a:lnTo>
                  <a:pt x="1307972" y="619454"/>
                </a:lnTo>
                <a:lnTo>
                  <a:pt x="1364726" y="578785"/>
                </a:lnTo>
                <a:lnTo>
                  <a:pt x="1422353" y="539364"/>
                </a:lnTo>
                <a:lnTo>
                  <a:pt x="1480826" y="501210"/>
                </a:lnTo>
                <a:lnTo>
                  <a:pt x="1540118" y="464340"/>
                </a:lnTo>
                <a:lnTo>
                  <a:pt x="1600200" y="428772"/>
                </a:lnTo>
                <a:lnTo>
                  <a:pt x="1661043" y="394523"/>
                </a:lnTo>
                <a:lnTo>
                  <a:pt x="1722619" y="361610"/>
                </a:lnTo>
                <a:lnTo>
                  <a:pt x="1784899" y="330048"/>
                </a:lnTo>
                <a:lnTo>
                  <a:pt x="1847852" y="299852"/>
                </a:lnTo>
                <a:lnTo>
                  <a:pt x="1911449" y="271037"/>
                </a:lnTo>
                <a:lnTo>
                  <a:pt x="1975660" y="243615"/>
                </a:lnTo>
                <a:lnTo>
                  <a:pt x="2040453" y="217602"/>
                </a:lnTo>
                <a:lnTo>
                  <a:pt x="2105798" y="193007"/>
                </a:lnTo>
                <a:lnTo>
                  <a:pt x="2171665" y="169844"/>
                </a:lnTo>
                <a:lnTo>
                  <a:pt x="2238021" y="148124"/>
                </a:lnTo>
                <a:lnTo>
                  <a:pt x="2304835" y="127856"/>
                </a:lnTo>
                <a:lnTo>
                  <a:pt x="2372075" y="109050"/>
                </a:lnTo>
                <a:lnTo>
                  <a:pt x="2439710" y="91716"/>
                </a:lnTo>
                <a:lnTo>
                  <a:pt x="2507706" y="75862"/>
                </a:lnTo>
                <a:lnTo>
                  <a:pt x="2576033" y="61494"/>
                </a:lnTo>
                <a:lnTo>
                  <a:pt x="2644656" y="48621"/>
                </a:lnTo>
                <a:lnTo>
                  <a:pt x="2713544" y="37247"/>
                </a:lnTo>
                <a:lnTo>
                  <a:pt x="2782664" y="27379"/>
                </a:lnTo>
                <a:lnTo>
                  <a:pt x="2851982" y="19022"/>
                </a:lnTo>
                <a:lnTo>
                  <a:pt x="2921466" y="12178"/>
                </a:lnTo>
                <a:lnTo>
                  <a:pt x="2991084" y="6852"/>
                </a:lnTo>
                <a:lnTo>
                  <a:pt x="3060800" y="3046"/>
                </a:lnTo>
                <a:lnTo>
                  <a:pt x="3130583" y="761"/>
                </a:lnTo>
                <a:lnTo>
                  <a:pt x="3200400" y="0"/>
                </a:lnTo>
                <a:lnTo>
                  <a:pt x="3200400" y="3200400"/>
                </a:lnTo>
                <a:close/>
              </a:path>
            </a:pathLst>
          </a:custGeom>
          <a:solidFill>
            <a:srgbClr val="BCD8F1"/>
          </a:solidFill>
          <a:ln>
            <a:noFill/>
          </a:ln>
        </p:spPr>
        <p:txBody>
          <a:bodyPr rtlCol="0" anchor="ctr"/>
          <a:lstStyle/>
          <a:p>
            <a:pPr algn="ctr"/>
          </a:p>
        </p:txBody>
      </p:sp>
      <p:sp>
        <p:nvSpPr>
          <p:cNvPr id="6" name="Freeform 5"/>
          <p:cNvSpPr/>
          <p:nvPr/>
        </p:nvSpPr>
        <p:spPr>
          <a:xfrm>
            <a:off x="10088575" y="4754880"/>
            <a:ext cx="2103120" cy="2103120"/>
          </a:xfrm>
          <a:custGeom>
            <a:avLst/>
            <a:gdLst/>
            <a:ahLst/>
            <a:cxnLst/>
            <a:rect l="l" t="t" r="r" b="b"/>
            <a:pathLst>
              <a:path w="2103120" h="2103120">
                <a:moveTo>
                  <a:pt x="0" y="2103120"/>
                </a:moveTo>
                <a:lnTo>
                  <a:pt x="500" y="2057240"/>
                </a:lnTo>
                <a:lnTo>
                  <a:pt x="2001" y="2011383"/>
                </a:lnTo>
                <a:lnTo>
                  <a:pt x="4503" y="1965569"/>
                </a:lnTo>
                <a:lnTo>
                  <a:pt x="8003" y="1919821"/>
                </a:lnTo>
                <a:lnTo>
                  <a:pt x="12500" y="1874159"/>
                </a:lnTo>
                <a:lnTo>
                  <a:pt x="17992" y="1828607"/>
                </a:lnTo>
                <a:lnTo>
                  <a:pt x="24477" y="1783186"/>
                </a:lnTo>
                <a:lnTo>
                  <a:pt x="31951" y="1737917"/>
                </a:lnTo>
                <a:lnTo>
                  <a:pt x="40411" y="1692821"/>
                </a:lnTo>
                <a:lnTo>
                  <a:pt x="49852" y="1647921"/>
                </a:lnTo>
                <a:lnTo>
                  <a:pt x="60271" y="1603238"/>
                </a:lnTo>
                <a:lnTo>
                  <a:pt x="71662" y="1558792"/>
                </a:lnTo>
                <a:lnTo>
                  <a:pt x="84020" y="1514606"/>
                </a:lnTo>
                <a:lnTo>
                  <a:pt x="97339" y="1470699"/>
                </a:lnTo>
                <a:lnTo>
                  <a:pt x="111612" y="1427094"/>
                </a:lnTo>
                <a:lnTo>
                  <a:pt x="126833" y="1383810"/>
                </a:lnTo>
                <a:lnTo>
                  <a:pt x="142995" y="1340869"/>
                </a:lnTo>
                <a:lnTo>
                  <a:pt x="160090" y="1298290"/>
                </a:lnTo>
                <a:lnTo>
                  <a:pt x="178110" y="1256095"/>
                </a:lnTo>
                <a:lnTo>
                  <a:pt x="197046" y="1214303"/>
                </a:lnTo>
                <a:lnTo>
                  <a:pt x="216889" y="1172933"/>
                </a:lnTo>
                <a:lnTo>
                  <a:pt x="237629" y="1132007"/>
                </a:lnTo>
                <a:lnTo>
                  <a:pt x="259258" y="1091542"/>
                </a:lnTo>
                <a:lnTo>
                  <a:pt x="281764" y="1051560"/>
                </a:lnTo>
                <a:lnTo>
                  <a:pt x="305137" y="1012077"/>
                </a:lnTo>
                <a:lnTo>
                  <a:pt x="329366" y="973114"/>
                </a:lnTo>
                <a:lnTo>
                  <a:pt x="354439" y="934689"/>
                </a:lnTo>
                <a:lnTo>
                  <a:pt x="380345" y="896819"/>
                </a:lnTo>
                <a:lnTo>
                  <a:pt x="407070" y="859524"/>
                </a:lnTo>
                <a:lnTo>
                  <a:pt x="434602" y="822821"/>
                </a:lnTo>
                <a:lnTo>
                  <a:pt x="462929" y="786727"/>
                </a:lnTo>
                <a:lnTo>
                  <a:pt x="492036" y="751260"/>
                </a:lnTo>
                <a:lnTo>
                  <a:pt x="521910" y="716436"/>
                </a:lnTo>
                <a:lnTo>
                  <a:pt x="552537" y="682272"/>
                </a:lnTo>
                <a:lnTo>
                  <a:pt x="583902" y="648785"/>
                </a:lnTo>
                <a:lnTo>
                  <a:pt x="615989" y="615989"/>
                </a:lnTo>
                <a:lnTo>
                  <a:pt x="648785" y="583901"/>
                </a:lnTo>
                <a:lnTo>
                  <a:pt x="682272" y="552537"/>
                </a:lnTo>
                <a:lnTo>
                  <a:pt x="716436" y="521910"/>
                </a:lnTo>
                <a:lnTo>
                  <a:pt x="751260" y="492036"/>
                </a:lnTo>
                <a:lnTo>
                  <a:pt x="786728" y="462929"/>
                </a:lnTo>
                <a:lnTo>
                  <a:pt x="822821" y="434602"/>
                </a:lnTo>
                <a:lnTo>
                  <a:pt x="859525" y="407070"/>
                </a:lnTo>
                <a:lnTo>
                  <a:pt x="896820" y="380344"/>
                </a:lnTo>
                <a:lnTo>
                  <a:pt x="934689" y="354439"/>
                </a:lnTo>
                <a:lnTo>
                  <a:pt x="973114" y="329366"/>
                </a:lnTo>
                <a:lnTo>
                  <a:pt x="1012077" y="305137"/>
                </a:lnTo>
                <a:lnTo>
                  <a:pt x="1051560" y="281764"/>
                </a:lnTo>
                <a:lnTo>
                  <a:pt x="1091543" y="259258"/>
                </a:lnTo>
                <a:lnTo>
                  <a:pt x="1132007" y="237629"/>
                </a:lnTo>
                <a:lnTo>
                  <a:pt x="1172934" y="216888"/>
                </a:lnTo>
                <a:lnTo>
                  <a:pt x="1214303" y="197045"/>
                </a:lnTo>
                <a:lnTo>
                  <a:pt x="1256095" y="178110"/>
                </a:lnTo>
                <a:lnTo>
                  <a:pt x="1298291" y="160090"/>
                </a:lnTo>
                <a:lnTo>
                  <a:pt x="1340869" y="142995"/>
                </a:lnTo>
                <a:lnTo>
                  <a:pt x="1383810" y="126833"/>
                </a:lnTo>
                <a:lnTo>
                  <a:pt x="1427094" y="111612"/>
                </a:lnTo>
                <a:lnTo>
                  <a:pt x="1470699" y="97338"/>
                </a:lnTo>
                <a:lnTo>
                  <a:pt x="1514606" y="84019"/>
                </a:lnTo>
                <a:lnTo>
                  <a:pt x="1558792" y="71662"/>
                </a:lnTo>
                <a:lnTo>
                  <a:pt x="1603238" y="60271"/>
                </a:lnTo>
                <a:lnTo>
                  <a:pt x="1647921" y="49852"/>
                </a:lnTo>
                <a:lnTo>
                  <a:pt x="1692821" y="40410"/>
                </a:lnTo>
                <a:lnTo>
                  <a:pt x="1737917" y="31951"/>
                </a:lnTo>
                <a:lnTo>
                  <a:pt x="1783186" y="24477"/>
                </a:lnTo>
                <a:lnTo>
                  <a:pt x="1828607" y="17992"/>
                </a:lnTo>
                <a:lnTo>
                  <a:pt x="1874160" y="12500"/>
                </a:lnTo>
                <a:lnTo>
                  <a:pt x="1919821" y="8003"/>
                </a:lnTo>
                <a:lnTo>
                  <a:pt x="1965569" y="4502"/>
                </a:lnTo>
                <a:lnTo>
                  <a:pt x="2011383" y="2001"/>
                </a:lnTo>
                <a:lnTo>
                  <a:pt x="2057240" y="500"/>
                </a:lnTo>
                <a:lnTo>
                  <a:pt x="2103120" y="0"/>
                </a:lnTo>
                <a:lnTo>
                  <a:pt x="2103120" y="2103120"/>
                </a:lnTo>
                <a:close/>
              </a:path>
            </a:pathLst>
          </a:custGeom>
          <a:solidFill>
            <a:srgbClr val="4F8FCB"/>
          </a:solidFill>
          <a:ln>
            <a:noFill/>
          </a:ln>
        </p:spPr>
        <p:txBody>
          <a:bodyPr rtlCol="0" anchor="ctr"/>
          <a:lstStyle/>
          <a:p>
            <a:pPr algn="ctr"/>
          </a:p>
        </p:txBody>
      </p:sp>
      <p:sp>
        <p:nvSpPr>
          <p:cNvPr id="7" name="Freeform 6"/>
          <p:cNvSpPr/>
          <p:nvPr/>
        </p:nvSpPr>
        <p:spPr>
          <a:xfrm>
            <a:off x="11277295" y="5943600"/>
            <a:ext cx="914400" cy="914400"/>
          </a:xfrm>
          <a:custGeom>
            <a:avLst/>
            <a:gdLst/>
            <a:ahLst/>
            <a:cxnLst/>
            <a:rect l="l" t="t" r="r" b="b"/>
            <a:pathLst>
              <a:path w="914400" h="914400">
                <a:moveTo>
                  <a:pt x="0" y="914400"/>
                </a:moveTo>
                <a:lnTo>
                  <a:pt x="217" y="894452"/>
                </a:lnTo>
                <a:lnTo>
                  <a:pt x="870" y="874514"/>
                </a:lnTo>
                <a:lnTo>
                  <a:pt x="1958" y="854595"/>
                </a:lnTo>
                <a:lnTo>
                  <a:pt x="3479" y="834704"/>
                </a:lnTo>
                <a:lnTo>
                  <a:pt x="5435" y="814852"/>
                </a:lnTo>
                <a:lnTo>
                  <a:pt x="7823" y="795046"/>
                </a:lnTo>
                <a:lnTo>
                  <a:pt x="10642" y="775298"/>
                </a:lnTo>
                <a:lnTo>
                  <a:pt x="13891" y="755616"/>
                </a:lnTo>
                <a:lnTo>
                  <a:pt x="17570" y="736009"/>
                </a:lnTo>
                <a:lnTo>
                  <a:pt x="21675" y="716487"/>
                </a:lnTo>
                <a:lnTo>
                  <a:pt x="26205" y="697060"/>
                </a:lnTo>
                <a:lnTo>
                  <a:pt x="31157" y="677735"/>
                </a:lnTo>
                <a:lnTo>
                  <a:pt x="36530" y="658524"/>
                </a:lnTo>
                <a:lnTo>
                  <a:pt x="42321" y="639434"/>
                </a:lnTo>
                <a:lnTo>
                  <a:pt x="48527" y="620475"/>
                </a:lnTo>
                <a:lnTo>
                  <a:pt x="55145" y="601656"/>
                </a:lnTo>
                <a:lnTo>
                  <a:pt x="62172" y="582986"/>
                </a:lnTo>
                <a:lnTo>
                  <a:pt x="69604" y="564474"/>
                </a:lnTo>
                <a:lnTo>
                  <a:pt x="77439" y="546128"/>
                </a:lnTo>
                <a:lnTo>
                  <a:pt x="85672" y="527957"/>
                </a:lnTo>
                <a:lnTo>
                  <a:pt x="94299" y="509971"/>
                </a:lnTo>
                <a:lnTo>
                  <a:pt x="103317" y="492177"/>
                </a:lnTo>
                <a:lnTo>
                  <a:pt x="112721" y="474583"/>
                </a:lnTo>
                <a:lnTo>
                  <a:pt x="122506" y="457200"/>
                </a:lnTo>
                <a:lnTo>
                  <a:pt x="132668" y="440033"/>
                </a:lnTo>
                <a:lnTo>
                  <a:pt x="143203" y="423093"/>
                </a:lnTo>
                <a:lnTo>
                  <a:pt x="154104" y="406386"/>
                </a:lnTo>
                <a:lnTo>
                  <a:pt x="165367" y="389921"/>
                </a:lnTo>
                <a:lnTo>
                  <a:pt x="176987" y="373706"/>
                </a:lnTo>
                <a:lnTo>
                  <a:pt x="188957" y="357748"/>
                </a:lnTo>
                <a:lnTo>
                  <a:pt x="201273" y="342055"/>
                </a:lnTo>
                <a:lnTo>
                  <a:pt x="213929" y="326635"/>
                </a:lnTo>
                <a:lnTo>
                  <a:pt x="226917" y="311494"/>
                </a:lnTo>
                <a:lnTo>
                  <a:pt x="240233" y="296640"/>
                </a:lnTo>
                <a:lnTo>
                  <a:pt x="253870" y="282080"/>
                </a:lnTo>
                <a:lnTo>
                  <a:pt x="267821" y="267821"/>
                </a:lnTo>
                <a:lnTo>
                  <a:pt x="282080" y="253870"/>
                </a:lnTo>
                <a:lnTo>
                  <a:pt x="296640" y="240233"/>
                </a:lnTo>
                <a:lnTo>
                  <a:pt x="311494" y="226917"/>
                </a:lnTo>
                <a:lnTo>
                  <a:pt x="326635" y="213928"/>
                </a:lnTo>
                <a:lnTo>
                  <a:pt x="342055" y="201273"/>
                </a:lnTo>
                <a:lnTo>
                  <a:pt x="357748" y="188957"/>
                </a:lnTo>
                <a:lnTo>
                  <a:pt x="373706" y="176987"/>
                </a:lnTo>
                <a:lnTo>
                  <a:pt x="389921" y="165367"/>
                </a:lnTo>
                <a:lnTo>
                  <a:pt x="406386" y="154104"/>
                </a:lnTo>
                <a:lnTo>
                  <a:pt x="423093" y="143202"/>
                </a:lnTo>
                <a:lnTo>
                  <a:pt x="440033" y="132668"/>
                </a:lnTo>
                <a:lnTo>
                  <a:pt x="457200" y="122506"/>
                </a:lnTo>
                <a:lnTo>
                  <a:pt x="474584" y="112721"/>
                </a:lnTo>
                <a:lnTo>
                  <a:pt x="492177" y="103317"/>
                </a:lnTo>
                <a:lnTo>
                  <a:pt x="509971" y="94299"/>
                </a:lnTo>
                <a:lnTo>
                  <a:pt x="527958" y="85672"/>
                </a:lnTo>
                <a:lnTo>
                  <a:pt x="546128" y="77439"/>
                </a:lnTo>
                <a:lnTo>
                  <a:pt x="564474" y="69604"/>
                </a:lnTo>
                <a:lnTo>
                  <a:pt x="582986" y="62172"/>
                </a:lnTo>
                <a:lnTo>
                  <a:pt x="601656" y="55145"/>
                </a:lnTo>
                <a:lnTo>
                  <a:pt x="620475" y="48527"/>
                </a:lnTo>
                <a:lnTo>
                  <a:pt x="639434" y="42321"/>
                </a:lnTo>
                <a:lnTo>
                  <a:pt x="658524" y="36530"/>
                </a:lnTo>
                <a:lnTo>
                  <a:pt x="677736" y="31157"/>
                </a:lnTo>
                <a:lnTo>
                  <a:pt x="697060" y="26204"/>
                </a:lnTo>
                <a:lnTo>
                  <a:pt x="716487" y="21674"/>
                </a:lnTo>
                <a:lnTo>
                  <a:pt x="736009" y="17569"/>
                </a:lnTo>
                <a:lnTo>
                  <a:pt x="755616" y="13891"/>
                </a:lnTo>
                <a:lnTo>
                  <a:pt x="775298" y="10642"/>
                </a:lnTo>
                <a:lnTo>
                  <a:pt x="795047" y="7822"/>
                </a:lnTo>
                <a:lnTo>
                  <a:pt x="814852" y="5434"/>
                </a:lnTo>
                <a:lnTo>
                  <a:pt x="834704" y="3479"/>
                </a:lnTo>
                <a:lnTo>
                  <a:pt x="854595" y="1957"/>
                </a:lnTo>
                <a:lnTo>
                  <a:pt x="874514" y="870"/>
                </a:lnTo>
                <a:lnTo>
                  <a:pt x="894452" y="217"/>
                </a:lnTo>
                <a:lnTo>
                  <a:pt x="914400" y="0"/>
                </a:lnTo>
                <a:lnTo>
                  <a:pt x="914400" y="914400"/>
                </a:lnTo>
                <a:close/>
              </a:path>
            </a:pathLst>
          </a:custGeom>
          <a:solidFill>
            <a:srgbClr val="F3A08A"/>
          </a:solidFill>
          <a:ln>
            <a:noFill/>
          </a:ln>
        </p:spPr>
        <p:txBody>
          <a:bodyPr rtlCol="0" anchor="ctr"/>
          <a:lstStyle/>
          <a:p>
            <a:pPr algn="ctr"/>
          </a:p>
        </p:txBody>
      </p:sp>
      <p:sp>
        <p:nvSpPr>
          <p:cNvPr id="8" name="Rectangle 7"/>
          <p:cNvSpPr/>
          <p:nvPr/>
        </p:nvSpPr>
        <p:spPr>
          <a:xfrm>
            <a:off x="5276088" y="3154680"/>
            <a:ext cx="1645920" cy="64008"/>
          </a:xfrm>
          <a:prstGeom prst="rect">
            <a:avLst/>
          </a:prstGeom>
          <a:solidFill>
            <a:srgbClr val="F3A08A"/>
          </a:solidFill>
          <a:ln>
            <a:noFill/>
          </a:ln>
        </p:spPr>
        <p:txBody>
          <a:bodyPr rtlCol="0" anchor="ctr"/>
          <a:lstStyle/>
          <a:p>
            <a:pPr algn="ctr"/>
          </a:p>
        </p:txBody>
      </p:sp>
      <p:sp>
        <p:nvSpPr>
          <p:cNvPr id="9" name="Rectangle 8"/>
          <p:cNvSpPr/>
          <p:nvPr/>
        </p:nvSpPr>
        <p:spPr>
          <a:xfrm>
            <a:off x="2011680" y="3383280"/>
            <a:ext cx="8138160" cy="548640"/>
          </a:xfrm>
          <a:prstGeom prst="rect">
            <a:avLst/>
          </a:prstGeom>
          <a:noFill/>
          <a:ln>
            <a:noFill/>
          </a:ln>
        </p:spPr>
        <p:txBody>
          <a:bodyPr rtlCol="0" anchor="ctr" wrap="square" lIns="0" tIns="0" rIns="0" bIns="0">
            <a:noAutofit/>
          </a:bodyPr>
          <a:lstStyle/>
          <a:p>
            <a:pPr algn="ctr">
              <a:lnSpc>
                <a:spcPct val="100000"/>
              </a:lnSpc>
              <a:spcBef>
                <a:spcPts val="0"/>
              </a:spcBef>
              <a:spcAft>
                <a:spcPts val="0"/>
              </a:spcAft>
            </a:pPr>
            <a:r>
              <a:rPr sz="2800" b="0" i="0">
                <a:solidFill>
                  <a:srgbClr val="22304A"/>
                </a:solidFill>
                <a:latin typeface="Segoe UI"/>
              </a:rPr>
              <a:t>Questions?</a:t>
            </a:r>
          </a:p>
        </p:txBody>
      </p:sp>
      <p:sp>
        <p:nvSpPr>
          <p:cNvPr id="10" name="Rectangle 9"/>
          <p:cNvSpPr/>
          <p:nvPr/>
        </p:nvSpPr>
        <p:spPr>
          <a:xfrm>
            <a:off x="1554480" y="4069080"/>
            <a:ext cx="9052560" cy="457200"/>
          </a:xfrm>
          <a:prstGeom prst="rect">
            <a:avLst/>
          </a:prstGeom>
          <a:noFill/>
          <a:ln>
            <a:noFill/>
          </a:ln>
        </p:spPr>
        <p:txBody>
          <a:bodyPr rtlCol="0" anchor="ctr" wrap="square" lIns="0" tIns="0" rIns="0" bIns="0">
            <a:noAutofit/>
          </a:bodyPr>
          <a:lstStyle/>
          <a:p>
            <a:pPr algn="ctr">
              <a:lnSpc>
                <a:spcPct val="100000"/>
              </a:lnSpc>
              <a:spcBef>
                <a:spcPts val="0"/>
              </a:spcBef>
              <a:spcAft>
                <a:spcPts val="0"/>
              </a:spcAft>
            </a:pPr>
            <a:r>
              <a:rPr sz="1800" b="0" i="0">
                <a:solidFill>
                  <a:srgbClr val="66758C"/>
                </a:solidFill>
                <a:latin typeface="Segoe UI"/>
              </a:rPr>
              <a:t>Partition does the work. The pivot lands home. Then repeat.</a:t>
            </a:r>
          </a:p>
        </p:txBody>
      </p:sp>
      <p:sp>
        <p:nvSpPr>
          <p:cNvPr id="11" name="Rectangle 10"/>
          <p:cNvSpPr/>
          <p:nvPr/>
        </p:nvSpPr>
        <p:spPr>
          <a:xfrm>
            <a:off x="2011680" y="4846320"/>
            <a:ext cx="3840480" cy="365760"/>
          </a:xfrm>
          <a:prstGeom prst="rect">
            <a:avLst/>
          </a:prstGeom>
          <a:noFill/>
          <a:ln>
            <a:noFill/>
          </a:ln>
        </p:spPr>
        <p:txBody>
          <a:bodyPr rtlCol="0" anchor="ctr" wrap="none" lIns="0" tIns="0" rIns="0" bIns="0">
            <a:noAutofit/>
          </a:bodyPr>
          <a:lstStyle/>
          <a:p>
            <a:pPr algn="r">
              <a:lnSpc>
                <a:spcPct val="100000"/>
              </a:lnSpc>
              <a:spcBef>
                <a:spcPts val="0"/>
              </a:spcBef>
              <a:spcAft>
                <a:spcPts val="0"/>
              </a:spcAft>
            </a:pPr>
            <a:r>
              <a:rPr sz="1600" b="0" i="0">
                <a:solidFill>
                  <a:srgbClr val="22304A"/>
                </a:solidFill>
                <a:latin typeface="Segoe UI"/>
              </a:rPr>
              <a:t>Ammey Kuraaday  ·  B107</a:t>
            </a:r>
          </a:p>
        </p:txBody>
      </p:sp>
      <p:sp>
        <p:nvSpPr>
          <p:cNvPr id="12" name="Rectangle 11"/>
          <p:cNvSpPr/>
          <p:nvPr/>
        </p:nvSpPr>
        <p:spPr>
          <a:xfrm>
            <a:off x="6309360" y="4846320"/>
            <a:ext cx="3840480" cy="365760"/>
          </a:xfrm>
          <a:prstGeom prst="rect">
            <a:avLst/>
          </a:prstGeom>
          <a:noFill/>
          <a:ln>
            <a:noFill/>
          </a:ln>
        </p:spPr>
        <p:txBody>
          <a:bodyPr rtlCol="0" anchor="ctr" wrap="none" lIns="0" tIns="0" rIns="0" bIns="0">
            <a:noAutofit/>
          </a:bodyPr>
          <a:lstStyle/>
          <a:p>
            <a:pPr algn="l">
              <a:lnSpc>
                <a:spcPct val="100000"/>
              </a:lnSpc>
              <a:spcBef>
                <a:spcPts val="0"/>
              </a:spcBef>
              <a:spcAft>
                <a:spcPts val="0"/>
              </a:spcAft>
            </a:pPr>
            <a:r>
              <a:rPr sz="1600" b="0" i="0">
                <a:solidFill>
                  <a:srgbClr val="22304A"/>
                </a:solidFill>
                <a:latin typeface="Segoe UI"/>
              </a:rPr>
              <a:t>Shreyash Javale  ·  B34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